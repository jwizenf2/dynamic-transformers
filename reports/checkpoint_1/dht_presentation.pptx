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picture on the right: that grid is one real routing decision from my run. Rows are the 12 layers of BERT, columns are the 12 attention heads. Red = actually computed. Grey = never computed. This sample used 6 of 12 layers, and inside layers 3-5 it dropped heads 2 and 7. The next sample gets a different grid. That is the whole paper in one image. I reproduced the core algorithm from scratch - no author code exists publicly, and none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general: a Transformer of any size runs L layers and H heads per layer on every input. The cost is decided once, at the architecture level. But difficulty varies per sample, at inference time. The grid is just an example - BERT-base happens to be 12 by 12, which is why the paper uses it - the argument does not depend on those numbers. The two headlines make it concrete: both start with the word Apple. The iPhone launch is Sci/Tech from its first two words; the tax ruling could be Business, World or Sci/Tech and needs the whole sentence - and both get the identical budget. That mismatch is the entire motivation. Note the framing: this is not about making a smaller model. It is about spending a variable amount on a fixed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four rows quickly - thirty seconds total. The key contrast is row 3 versus the gap box: FastBERT is the closest prior work because it is genuinely per-sample, but it only decides when to stop. It never decides which heads to keep. DHT decides depth AND head identity, and it does it with a bandit rather than a learned controller network. That is the specific claim I am reproducing.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talk is built around: three bandits, arranged as a hierarchy - that is the word 'hierarchical' in the paper's title. Stage 1. The sample goes through the first three layers with no gradients. That gives a context vector. Bandit one, UCB_L, reads it and commits to a depth: 3, 6, 9 or 12. Stage 2. The sample goes through the same three layers again, this time with gradients so they can learn. Now we build the rest of the network one group of three layers at a time. For each group: bandit two, UCB_H, looks at the current hidden state and decides how many heads to keep - 8, 10 or 12. Then bandit three, TSB, decides which specific heads. Those three layers run with exactly those heads. Repeat until we reach the depth UCB_L chose, then classify. So UCB_H and TSB are called once per group, and they see the hidden state as it is at that point - a deeper group sees a more processed representation. The table is the thing to have people write down: who decides what, and what information it uses. Notice the contexts are not one-hot IDs; the arm features are averaged activations collected in a calibration pass, so 'depth 9' is described by what depth-9 outputs actually look like. Integrated mode is the paper's second variant: fuse UCB_L and UCB_H into one bandit that picks the pair. TSB is unchanged. I ran tree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vocabulary, because 'arm' and 'context' are the two words everything else hangs on. An arm is an option on a menu. The context is a feature vector describing the sample we are looking at, joined to a feature vector describing the option. The same algorithm is used twice with two different menus: UCB_L chooses among depths, once per sample; UCB_H chooses among head counts, once per group of three layers, and its context includes which group it is deciding for. Each arm has its own little linear model. Score is prediction plus a bonus. The bonus is the whole point of UCB: it is large for arms we have rarely tried on inputs like this one, so we keep testing our uncertain options, and it fades as we learn. In the code: theta comes from solving A theta = b - that is ridge regression. The bonus is the square root of w-transpose A-inverse w. Point at update: only the arm that actually ran changes. We never find out what the other depths would have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contrast it with UCB in one sentence: UCB explores with an explicit bonus; Thompson sampling explores by being random in a principled way. The idea: for every head keep a belief - a Gaussian - about how useful it is. Draw one guess from each belief, act on the guesses, keep the K best heads. Because the draw is random, an uncertain head sometimes wins. That is the exploration, and there is no knob to tune. Code: sample_parameters is the draw, select is the sigmoid-and-top-K. Point at the last line: we return the ORIGINAL head positions. Head 7 must keep using head 7's slice of the weights. If you renumbered the survivors you would silently rewire the pretrained model. Bottom-left card ties it to the hierarchy: UCB_H has just chosen H; TSB now picks which H. Why not UCB here? Because 8-of-12 is 495 subsets. Give each head its own arm instead - a semi-bandit. Update: the subset produces one loss, so one shared yes/no label goes to every selected head. Unselected heads learn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drives every reward: did this decision get its accuracy cheaply? Step one: price the outcome. Loss times compute. Small is good. Step two: compare with the previous batch. Reward is their average divided by ours, so above one means we did better than recently. Dividing by the recent past is what keeps the number meaningful as losses fall over training. Step three: hand it to whichever bandit made that decision - UCB_L uses layers as the compute, UCB_H uses heads, and TSB gets a yes/no version of UCB_H's number. Now the example, slowly. Previous batch averaged 2.4. Sample A used 3 layers and got loss 0.6: delta 1.8, reward 1.33 - better than before. Sample B used all 12 layers and got a lower loss, 0.5. But delta is 6.0 and reward is 0.4 - worse. It paid four times the compute for a small gain. That is the whole design in one contrast: the reward is not about being accurate, it is about being accurate per unit of compute. If asked about alpha: it is a constant scale factor in the paper; it is 1 in my runs, so I left it off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functions, and that is the algorithm. Left: route. No gradients, dropout off, run the first three layers, build the context, ask UCB_L for a depth. It returns the depth and a copy of the context it decided on. Why keep the copy? The sample waits for others of the same depth before it trains. By the time the reward comes back the model has changed, so we update UCB_L with the numbers it actually saw, not fresh ones. Right: execute. Run the same three layers again, this time learning. Then loop over groups of three layers. Each group: ask UCB_H how many heads, ask TSB which heads, run the three layers with exactly those heads. Stop when we reach the chosen depth, then classify. The loss from classify does two jobs: it trains the model, and it becomes the reward that scores all three bandits. If someone asks why per-sample: samples in one batch can keep different heads, so they run one at a time. Correct first; fast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work that is mine rather than the paper's, so give it a full minute. The paper describes head selection as a zero-one mask on each head's output. That is the right definition, but a mask by itself does not save compute: every head is still computed and some are then multiplied by zero. So I slice the projection weight rows for the selected heads before the matmul, and slice the matching output-projection columns. Emphasise the word ORIGINAL in the comment: head 7 must keep writing into head 7's output columns. The numbers on the right are from a real operator profiler on real tokens, not an analytic estimate: twenty-two point three billion for the full model, sixteen point eight if you mask, fifteen point five if you actually slice. And the trace at the bottom is a real routing decision - you can see the prefix run twice, and layers six through eleven never appear. Honesty caveat if asked: the FFNs, the dense AdamW state and the routing pass are all still full cost. This is not a total training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talk builds to, so slow down. Everything here is now test against test. First the baseline: point nine four nine against their point nine four four. That says the data pipeline, the pretrained weights and the training loop are right. If the baseline were off, nothing else here would mean anything. Now T-DHT. Test F1 point nine four zero: nine thousandths below our own full model - under one percentage point - and five thousandths below the paper's T-DHT number. Close, but I do not reproduce their claim that T-DHT slightly beats the full model. Compute: on the training path I measure point four zero of the full model's matmul FLOPs; the paper reports point four two. That agreement is the strongest evidence that I built their mechanism and not something that merely resembles it. Right-hand box. The policy exits early a lot: sixty-three percent of test samples stop at three layers. That is why my inference ratio is point three nine when the paper reports point eight one. AG News is an easy dataset, so this is plausible, but it is a real difference in behaviour. It has not collapsed: every depth and every head count still gets used. Last line is the honest engineering caveat: fewer FLOPs did not make it faster on a stopwatch. Two and a half times slower at inference and 1.6 times longer to train, because each sample runs on its own with an extra routing pass. That is where the next phase of the project starts - then take questions. If asked about the gap size: say it as nine thousandths, or point nine of a percentage point - not 'point nine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18120" y="1417320"/>
            <a:ext cx="237744" cy="237744"/>
          </a:xfrm>
          <a:prstGeom prst="rect">
            <a:avLst/>
          </a:prstGeom>
          <a:solidFill>
            <a:srgbClr val="9A3B3B"/>
          </a:solidFill>
          <a:ln w="12700">
            <a:solidFill>
              <a:srgbClr val="333333"/>
            </a:solidFill>
            <a:prstDash val="solid"/>
          </a:ln>
        </p:spPr>
      </p:sp>
      <p:sp>
        <p:nvSpPr>
          <p:cNvPr id="3" name="Shape 1"/>
          <p:cNvSpPr/>
          <p:nvPr/>
        </p:nvSpPr>
        <p:spPr>
          <a:xfrm>
            <a:off x="8124444" y="1417320"/>
            <a:ext cx="237744" cy="237744"/>
          </a:xfrm>
          <a:prstGeom prst="rect">
            <a:avLst/>
          </a:prstGeom>
          <a:solidFill>
            <a:srgbClr val="9A3B3B"/>
          </a:solidFill>
          <a:ln w="12700">
            <a:solidFill>
              <a:srgbClr val="333333"/>
            </a:solidFill>
            <a:prstDash val="solid"/>
          </a:ln>
        </p:spPr>
      </p:sp>
      <p:sp>
        <p:nvSpPr>
          <p:cNvPr id="4" name="Shape 2"/>
          <p:cNvSpPr/>
          <p:nvPr/>
        </p:nvSpPr>
        <p:spPr>
          <a:xfrm>
            <a:off x="8430768" y="1417320"/>
            <a:ext cx="237744" cy="237744"/>
          </a:xfrm>
          <a:prstGeom prst="rect">
            <a:avLst/>
          </a:prstGeom>
          <a:solidFill>
            <a:srgbClr val="9A3B3B"/>
          </a:solidFill>
          <a:ln w="12700">
            <a:solidFill>
              <a:srgbClr val="333333"/>
            </a:solidFill>
            <a:prstDash val="solid"/>
          </a:ln>
        </p:spPr>
      </p:sp>
      <p:sp>
        <p:nvSpPr>
          <p:cNvPr id="5" name="Shape 3"/>
          <p:cNvSpPr/>
          <p:nvPr/>
        </p:nvSpPr>
        <p:spPr>
          <a:xfrm>
            <a:off x="8737092" y="1417320"/>
            <a:ext cx="237744" cy="237744"/>
          </a:xfrm>
          <a:prstGeom prst="rect">
            <a:avLst/>
          </a:prstGeom>
          <a:solidFill>
            <a:srgbClr val="9A3B3B"/>
          </a:solidFill>
          <a:ln w="12700">
            <a:solidFill>
              <a:srgbClr val="333333"/>
            </a:solidFill>
            <a:prstDash val="solid"/>
          </a:ln>
        </p:spPr>
      </p:sp>
      <p:sp>
        <p:nvSpPr>
          <p:cNvPr id="6" name="Shape 4"/>
          <p:cNvSpPr/>
          <p:nvPr/>
        </p:nvSpPr>
        <p:spPr>
          <a:xfrm>
            <a:off x="9043416" y="1417320"/>
            <a:ext cx="237744" cy="237744"/>
          </a:xfrm>
          <a:prstGeom prst="rect">
            <a:avLst/>
          </a:prstGeom>
          <a:solidFill>
            <a:srgbClr val="9A3B3B"/>
          </a:solidFill>
          <a:ln w="12700">
            <a:solidFill>
              <a:srgbClr val="333333"/>
            </a:solidFill>
            <a:prstDash val="solid"/>
          </a:ln>
        </p:spPr>
      </p:sp>
      <p:sp>
        <p:nvSpPr>
          <p:cNvPr id="7" name="Shape 5"/>
          <p:cNvSpPr/>
          <p:nvPr/>
        </p:nvSpPr>
        <p:spPr>
          <a:xfrm>
            <a:off x="9349740" y="1417320"/>
            <a:ext cx="237744" cy="237744"/>
          </a:xfrm>
          <a:prstGeom prst="rect">
            <a:avLst/>
          </a:prstGeom>
          <a:solidFill>
            <a:srgbClr val="9A3B3B"/>
          </a:solidFill>
          <a:ln w="12700">
            <a:solidFill>
              <a:srgbClr val="333333"/>
            </a:solidFill>
            <a:prstDash val="solid"/>
          </a:ln>
        </p:spPr>
      </p:sp>
      <p:sp>
        <p:nvSpPr>
          <p:cNvPr id="8" name="Shape 6"/>
          <p:cNvSpPr/>
          <p:nvPr/>
        </p:nvSpPr>
        <p:spPr>
          <a:xfrm>
            <a:off x="9656064" y="1417320"/>
            <a:ext cx="237744" cy="237744"/>
          </a:xfrm>
          <a:prstGeom prst="rect">
            <a:avLst/>
          </a:prstGeom>
          <a:solidFill>
            <a:srgbClr val="9A3B3B"/>
          </a:solidFill>
          <a:ln w="12700">
            <a:solidFill>
              <a:srgbClr val="333333"/>
            </a:solidFill>
            <a:prstDash val="solid"/>
          </a:ln>
        </p:spPr>
      </p:sp>
      <p:sp>
        <p:nvSpPr>
          <p:cNvPr id="9" name="Shape 7"/>
          <p:cNvSpPr/>
          <p:nvPr/>
        </p:nvSpPr>
        <p:spPr>
          <a:xfrm>
            <a:off x="9962388" y="1417320"/>
            <a:ext cx="237744" cy="237744"/>
          </a:xfrm>
          <a:prstGeom prst="rect">
            <a:avLst/>
          </a:prstGeom>
          <a:solidFill>
            <a:srgbClr val="9A3B3B"/>
          </a:solidFill>
          <a:ln w="12700">
            <a:solidFill>
              <a:srgbClr val="333333"/>
            </a:solidFill>
            <a:prstDash val="solid"/>
          </a:ln>
        </p:spPr>
      </p:sp>
      <p:sp>
        <p:nvSpPr>
          <p:cNvPr id="10" name="Shape 8"/>
          <p:cNvSpPr/>
          <p:nvPr/>
        </p:nvSpPr>
        <p:spPr>
          <a:xfrm>
            <a:off x="10268712" y="1417320"/>
            <a:ext cx="237744" cy="237744"/>
          </a:xfrm>
          <a:prstGeom prst="rect">
            <a:avLst/>
          </a:prstGeom>
          <a:solidFill>
            <a:srgbClr val="9A3B3B"/>
          </a:solidFill>
          <a:ln w="12700">
            <a:solidFill>
              <a:srgbClr val="333333"/>
            </a:solidFill>
            <a:prstDash val="solid"/>
          </a:ln>
        </p:spPr>
      </p:sp>
      <p:sp>
        <p:nvSpPr>
          <p:cNvPr id="11" name="Shape 9"/>
          <p:cNvSpPr/>
          <p:nvPr/>
        </p:nvSpPr>
        <p:spPr>
          <a:xfrm>
            <a:off x="10575036" y="1417320"/>
            <a:ext cx="237744" cy="237744"/>
          </a:xfrm>
          <a:prstGeom prst="rect">
            <a:avLst/>
          </a:prstGeom>
          <a:solidFill>
            <a:srgbClr val="9A3B3B"/>
          </a:solidFill>
          <a:ln w="12700">
            <a:solidFill>
              <a:srgbClr val="333333"/>
            </a:solidFill>
            <a:prstDash val="solid"/>
          </a:ln>
        </p:spPr>
      </p:sp>
      <p:sp>
        <p:nvSpPr>
          <p:cNvPr id="12" name="Shape 10"/>
          <p:cNvSpPr/>
          <p:nvPr/>
        </p:nvSpPr>
        <p:spPr>
          <a:xfrm>
            <a:off x="10881360" y="1417320"/>
            <a:ext cx="237744" cy="237744"/>
          </a:xfrm>
          <a:prstGeom prst="rect">
            <a:avLst/>
          </a:prstGeom>
          <a:solidFill>
            <a:srgbClr val="9A3B3B"/>
          </a:solidFill>
          <a:ln w="12700">
            <a:solidFill>
              <a:srgbClr val="333333"/>
            </a:solidFill>
            <a:prstDash val="solid"/>
          </a:ln>
        </p:spPr>
      </p:sp>
      <p:sp>
        <p:nvSpPr>
          <p:cNvPr id="13" name="Shape 11"/>
          <p:cNvSpPr/>
          <p:nvPr/>
        </p:nvSpPr>
        <p:spPr>
          <a:xfrm>
            <a:off x="11187684" y="1417320"/>
            <a:ext cx="237744" cy="237744"/>
          </a:xfrm>
          <a:prstGeom prst="rect">
            <a:avLst/>
          </a:prstGeom>
          <a:solidFill>
            <a:srgbClr val="9A3B3B"/>
          </a:solidFill>
          <a:ln w="12700">
            <a:solidFill>
              <a:srgbClr val="333333"/>
            </a:solidFill>
            <a:prstDash val="solid"/>
          </a:ln>
        </p:spPr>
      </p:sp>
      <p:sp>
        <p:nvSpPr>
          <p:cNvPr id="14" name="Shape 12"/>
          <p:cNvSpPr/>
          <p:nvPr/>
        </p:nvSpPr>
        <p:spPr>
          <a:xfrm>
            <a:off x="7818120" y="1723644"/>
            <a:ext cx="237744" cy="237744"/>
          </a:xfrm>
          <a:prstGeom prst="rect">
            <a:avLst/>
          </a:prstGeom>
          <a:solidFill>
            <a:srgbClr val="9A3B3B"/>
          </a:solidFill>
          <a:ln w="12700">
            <a:solidFill>
              <a:srgbClr val="333333"/>
            </a:solidFill>
            <a:prstDash val="solid"/>
          </a:ln>
        </p:spPr>
      </p:sp>
      <p:sp>
        <p:nvSpPr>
          <p:cNvPr id="15" name="Shape 13"/>
          <p:cNvSpPr/>
          <p:nvPr/>
        </p:nvSpPr>
        <p:spPr>
          <a:xfrm>
            <a:off x="8124444" y="1723644"/>
            <a:ext cx="237744" cy="237744"/>
          </a:xfrm>
          <a:prstGeom prst="rect">
            <a:avLst/>
          </a:prstGeom>
          <a:solidFill>
            <a:srgbClr val="9A3B3B"/>
          </a:solidFill>
          <a:ln w="12700">
            <a:solidFill>
              <a:srgbClr val="333333"/>
            </a:solidFill>
            <a:prstDash val="solid"/>
          </a:ln>
        </p:spPr>
      </p:sp>
      <p:sp>
        <p:nvSpPr>
          <p:cNvPr id="16" name="Shape 14"/>
          <p:cNvSpPr/>
          <p:nvPr/>
        </p:nvSpPr>
        <p:spPr>
          <a:xfrm>
            <a:off x="8430768" y="1723644"/>
            <a:ext cx="237744" cy="237744"/>
          </a:xfrm>
          <a:prstGeom prst="rect">
            <a:avLst/>
          </a:prstGeom>
          <a:solidFill>
            <a:srgbClr val="9A3B3B"/>
          </a:solidFill>
          <a:ln w="12700">
            <a:solidFill>
              <a:srgbClr val="333333"/>
            </a:solidFill>
            <a:prstDash val="solid"/>
          </a:ln>
        </p:spPr>
      </p:sp>
      <p:sp>
        <p:nvSpPr>
          <p:cNvPr id="17" name="Shape 15"/>
          <p:cNvSpPr/>
          <p:nvPr/>
        </p:nvSpPr>
        <p:spPr>
          <a:xfrm>
            <a:off x="8737092" y="1723644"/>
            <a:ext cx="237744" cy="237744"/>
          </a:xfrm>
          <a:prstGeom prst="rect">
            <a:avLst/>
          </a:prstGeom>
          <a:solidFill>
            <a:srgbClr val="9A3B3B"/>
          </a:solidFill>
          <a:ln w="12700">
            <a:solidFill>
              <a:srgbClr val="333333"/>
            </a:solidFill>
            <a:prstDash val="solid"/>
          </a:ln>
        </p:spPr>
      </p:sp>
      <p:sp>
        <p:nvSpPr>
          <p:cNvPr id="18" name="Shape 16"/>
          <p:cNvSpPr/>
          <p:nvPr/>
        </p:nvSpPr>
        <p:spPr>
          <a:xfrm>
            <a:off x="9043416" y="1723644"/>
            <a:ext cx="237744" cy="237744"/>
          </a:xfrm>
          <a:prstGeom prst="rect">
            <a:avLst/>
          </a:prstGeom>
          <a:solidFill>
            <a:srgbClr val="9A3B3B"/>
          </a:solidFill>
          <a:ln w="12700">
            <a:solidFill>
              <a:srgbClr val="333333"/>
            </a:solidFill>
            <a:prstDash val="solid"/>
          </a:ln>
        </p:spPr>
      </p:sp>
      <p:sp>
        <p:nvSpPr>
          <p:cNvPr id="19" name="Shape 17"/>
          <p:cNvSpPr/>
          <p:nvPr/>
        </p:nvSpPr>
        <p:spPr>
          <a:xfrm>
            <a:off x="9349740" y="1723644"/>
            <a:ext cx="237744" cy="237744"/>
          </a:xfrm>
          <a:prstGeom prst="rect">
            <a:avLst/>
          </a:prstGeom>
          <a:solidFill>
            <a:srgbClr val="9A3B3B"/>
          </a:solidFill>
          <a:ln w="12700">
            <a:solidFill>
              <a:srgbClr val="333333"/>
            </a:solidFill>
            <a:prstDash val="solid"/>
          </a:ln>
        </p:spPr>
      </p:sp>
      <p:sp>
        <p:nvSpPr>
          <p:cNvPr id="20" name="Shape 18"/>
          <p:cNvSpPr/>
          <p:nvPr/>
        </p:nvSpPr>
        <p:spPr>
          <a:xfrm>
            <a:off x="9656064" y="1723644"/>
            <a:ext cx="237744" cy="237744"/>
          </a:xfrm>
          <a:prstGeom prst="rect">
            <a:avLst/>
          </a:prstGeom>
          <a:solidFill>
            <a:srgbClr val="9A3B3B"/>
          </a:solidFill>
          <a:ln w="12700">
            <a:solidFill>
              <a:srgbClr val="333333"/>
            </a:solidFill>
            <a:prstDash val="solid"/>
          </a:ln>
        </p:spPr>
      </p:sp>
      <p:sp>
        <p:nvSpPr>
          <p:cNvPr id="21" name="Shape 19"/>
          <p:cNvSpPr/>
          <p:nvPr/>
        </p:nvSpPr>
        <p:spPr>
          <a:xfrm>
            <a:off x="9962388" y="1723644"/>
            <a:ext cx="237744" cy="237744"/>
          </a:xfrm>
          <a:prstGeom prst="rect">
            <a:avLst/>
          </a:prstGeom>
          <a:solidFill>
            <a:srgbClr val="9A3B3B"/>
          </a:solidFill>
          <a:ln w="12700">
            <a:solidFill>
              <a:srgbClr val="333333"/>
            </a:solidFill>
            <a:prstDash val="solid"/>
          </a:ln>
        </p:spPr>
      </p:sp>
      <p:sp>
        <p:nvSpPr>
          <p:cNvPr id="22" name="Shape 20"/>
          <p:cNvSpPr/>
          <p:nvPr/>
        </p:nvSpPr>
        <p:spPr>
          <a:xfrm>
            <a:off x="10268712" y="1723644"/>
            <a:ext cx="237744" cy="237744"/>
          </a:xfrm>
          <a:prstGeom prst="rect">
            <a:avLst/>
          </a:prstGeom>
          <a:solidFill>
            <a:srgbClr val="9A3B3B"/>
          </a:solidFill>
          <a:ln w="12700">
            <a:solidFill>
              <a:srgbClr val="333333"/>
            </a:solidFill>
            <a:prstDash val="solid"/>
          </a:ln>
        </p:spPr>
      </p:sp>
      <p:sp>
        <p:nvSpPr>
          <p:cNvPr id="23" name="Shape 21"/>
          <p:cNvSpPr/>
          <p:nvPr/>
        </p:nvSpPr>
        <p:spPr>
          <a:xfrm>
            <a:off x="10575036" y="1723644"/>
            <a:ext cx="237744" cy="237744"/>
          </a:xfrm>
          <a:prstGeom prst="rect">
            <a:avLst/>
          </a:prstGeom>
          <a:solidFill>
            <a:srgbClr val="9A3B3B"/>
          </a:solidFill>
          <a:ln w="12700">
            <a:solidFill>
              <a:srgbClr val="333333"/>
            </a:solidFill>
            <a:prstDash val="solid"/>
          </a:ln>
        </p:spPr>
      </p:sp>
      <p:sp>
        <p:nvSpPr>
          <p:cNvPr id="24" name="Shape 22"/>
          <p:cNvSpPr/>
          <p:nvPr/>
        </p:nvSpPr>
        <p:spPr>
          <a:xfrm>
            <a:off x="10881360" y="1723644"/>
            <a:ext cx="237744" cy="237744"/>
          </a:xfrm>
          <a:prstGeom prst="rect">
            <a:avLst/>
          </a:prstGeom>
          <a:solidFill>
            <a:srgbClr val="9A3B3B"/>
          </a:solidFill>
          <a:ln w="12700">
            <a:solidFill>
              <a:srgbClr val="333333"/>
            </a:solidFill>
            <a:prstDash val="solid"/>
          </a:ln>
        </p:spPr>
      </p:sp>
      <p:sp>
        <p:nvSpPr>
          <p:cNvPr id="25" name="Shape 23"/>
          <p:cNvSpPr/>
          <p:nvPr/>
        </p:nvSpPr>
        <p:spPr>
          <a:xfrm>
            <a:off x="11187684" y="1723644"/>
            <a:ext cx="237744" cy="237744"/>
          </a:xfrm>
          <a:prstGeom prst="rect">
            <a:avLst/>
          </a:prstGeom>
          <a:solidFill>
            <a:srgbClr val="9A3B3B"/>
          </a:solidFill>
          <a:ln w="12700">
            <a:solidFill>
              <a:srgbClr val="333333"/>
            </a:solidFill>
            <a:prstDash val="solid"/>
          </a:ln>
        </p:spPr>
      </p:sp>
      <p:sp>
        <p:nvSpPr>
          <p:cNvPr id="26" name="Shape 24"/>
          <p:cNvSpPr/>
          <p:nvPr/>
        </p:nvSpPr>
        <p:spPr>
          <a:xfrm>
            <a:off x="7818120" y="2029968"/>
            <a:ext cx="237744" cy="237744"/>
          </a:xfrm>
          <a:prstGeom prst="rect">
            <a:avLst/>
          </a:prstGeom>
          <a:solidFill>
            <a:srgbClr val="9A3B3B"/>
          </a:solidFill>
          <a:ln w="12700">
            <a:solidFill>
              <a:srgbClr val="333333"/>
            </a:solidFill>
            <a:prstDash val="solid"/>
          </a:ln>
        </p:spPr>
      </p:sp>
      <p:sp>
        <p:nvSpPr>
          <p:cNvPr id="27" name="Shape 25"/>
          <p:cNvSpPr/>
          <p:nvPr/>
        </p:nvSpPr>
        <p:spPr>
          <a:xfrm>
            <a:off x="8124444" y="2029968"/>
            <a:ext cx="237744" cy="237744"/>
          </a:xfrm>
          <a:prstGeom prst="rect">
            <a:avLst/>
          </a:prstGeom>
          <a:solidFill>
            <a:srgbClr val="9A3B3B"/>
          </a:solidFill>
          <a:ln w="12700">
            <a:solidFill>
              <a:srgbClr val="333333"/>
            </a:solidFill>
            <a:prstDash val="solid"/>
          </a:ln>
        </p:spPr>
      </p:sp>
      <p:sp>
        <p:nvSpPr>
          <p:cNvPr id="28" name="Shape 26"/>
          <p:cNvSpPr/>
          <p:nvPr/>
        </p:nvSpPr>
        <p:spPr>
          <a:xfrm>
            <a:off x="8430768" y="2029968"/>
            <a:ext cx="237744" cy="237744"/>
          </a:xfrm>
          <a:prstGeom prst="rect">
            <a:avLst/>
          </a:prstGeom>
          <a:solidFill>
            <a:srgbClr val="9A3B3B"/>
          </a:solidFill>
          <a:ln w="12700">
            <a:solidFill>
              <a:srgbClr val="333333"/>
            </a:solidFill>
            <a:prstDash val="solid"/>
          </a:ln>
        </p:spPr>
      </p:sp>
      <p:sp>
        <p:nvSpPr>
          <p:cNvPr id="29" name="Shape 27"/>
          <p:cNvSpPr/>
          <p:nvPr/>
        </p:nvSpPr>
        <p:spPr>
          <a:xfrm>
            <a:off x="8737092" y="2029968"/>
            <a:ext cx="237744" cy="237744"/>
          </a:xfrm>
          <a:prstGeom prst="rect">
            <a:avLst/>
          </a:prstGeom>
          <a:solidFill>
            <a:srgbClr val="9A3B3B"/>
          </a:solidFill>
          <a:ln w="12700">
            <a:solidFill>
              <a:srgbClr val="333333"/>
            </a:solidFill>
            <a:prstDash val="solid"/>
          </a:ln>
        </p:spPr>
      </p:sp>
      <p:sp>
        <p:nvSpPr>
          <p:cNvPr id="30" name="Shape 28"/>
          <p:cNvSpPr/>
          <p:nvPr/>
        </p:nvSpPr>
        <p:spPr>
          <a:xfrm>
            <a:off x="9043416" y="2029968"/>
            <a:ext cx="237744" cy="237744"/>
          </a:xfrm>
          <a:prstGeom prst="rect">
            <a:avLst/>
          </a:prstGeom>
          <a:solidFill>
            <a:srgbClr val="9A3B3B"/>
          </a:solidFill>
          <a:ln w="12700">
            <a:solidFill>
              <a:srgbClr val="333333"/>
            </a:solidFill>
            <a:prstDash val="solid"/>
          </a:ln>
        </p:spPr>
      </p:sp>
      <p:sp>
        <p:nvSpPr>
          <p:cNvPr id="31" name="Shape 29"/>
          <p:cNvSpPr/>
          <p:nvPr/>
        </p:nvSpPr>
        <p:spPr>
          <a:xfrm>
            <a:off x="9349740" y="2029968"/>
            <a:ext cx="237744" cy="237744"/>
          </a:xfrm>
          <a:prstGeom prst="rect">
            <a:avLst/>
          </a:prstGeom>
          <a:solidFill>
            <a:srgbClr val="9A3B3B"/>
          </a:solidFill>
          <a:ln w="12700">
            <a:solidFill>
              <a:srgbClr val="333333"/>
            </a:solidFill>
            <a:prstDash val="solid"/>
          </a:ln>
        </p:spPr>
      </p:sp>
      <p:sp>
        <p:nvSpPr>
          <p:cNvPr id="32" name="Shape 30"/>
          <p:cNvSpPr/>
          <p:nvPr/>
        </p:nvSpPr>
        <p:spPr>
          <a:xfrm>
            <a:off x="9656064" y="2029968"/>
            <a:ext cx="237744" cy="237744"/>
          </a:xfrm>
          <a:prstGeom prst="rect">
            <a:avLst/>
          </a:prstGeom>
          <a:solidFill>
            <a:srgbClr val="9A3B3B"/>
          </a:solidFill>
          <a:ln w="12700">
            <a:solidFill>
              <a:srgbClr val="333333"/>
            </a:solidFill>
            <a:prstDash val="solid"/>
          </a:ln>
        </p:spPr>
      </p:sp>
      <p:sp>
        <p:nvSpPr>
          <p:cNvPr id="33" name="Shape 31"/>
          <p:cNvSpPr/>
          <p:nvPr/>
        </p:nvSpPr>
        <p:spPr>
          <a:xfrm>
            <a:off x="9962388" y="2029968"/>
            <a:ext cx="237744" cy="237744"/>
          </a:xfrm>
          <a:prstGeom prst="rect">
            <a:avLst/>
          </a:prstGeom>
          <a:solidFill>
            <a:srgbClr val="9A3B3B"/>
          </a:solidFill>
          <a:ln w="12700">
            <a:solidFill>
              <a:srgbClr val="333333"/>
            </a:solidFill>
            <a:prstDash val="solid"/>
          </a:ln>
        </p:spPr>
      </p:sp>
      <p:sp>
        <p:nvSpPr>
          <p:cNvPr id="34" name="Shape 32"/>
          <p:cNvSpPr/>
          <p:nvPr/>
        </p:nvSpPr>
        <p:spPr>
          <a:xfrm>
            <a:off x="10268712" y="2029968"/>
            <a:ext cx="237744" cy="237744"/>
          </a:xfrm>
          <a:prstGeom prst="rect">
            <a:avLst/>
          </a:prstGeom>
          <a:solidFill>
            <a:srgbClr val="9A3B3B"/>
          </a:solidFill>
          <a:ln w="12700">
            <a:solidFill>
              <a:srgbClr val="333333"/>
            </a:solidFill>
            <a:prstDash val="solid"/>
          </a:ln>
        </p:spPr>
      </p:sp>
      <p:sp>
        <p:nvSpPr>
          <p:cNvPr id="35" name="Shape 33"/>
          <p:cNvSpPr/>
          <p:nvPr/>
        </p:nvSpPr>
        <p:spPr>
          <a:xfrm>
            <a:off x="10575036" y="2029968"/>
            <a:ext cx="237744" cy="237744"/>
          </a:xfrm>
          <a:prstGeom prst="rect">
            <a:avLst/>
          </a:prstGeom>
          <a:solidFill>
            <a:srgbClr val="9A3B3B"/>
          </a:solidFill>
          <a:ln w="12700">
            <a:solidFill>
              <a:srgbClr val="333333"/>
            </a:solidFill>
            <a:prstDash val="solid"/>
          </a:ln>
        </p:spPr>
      </p:sp>
      <p:sp>
        <p:nvSpPr>
          <p:cNvPr id="36" name="Shape 34"/>
          <p:cNvSpPr/>
          <p:nvPr/>
        </p:nvSpPr>
        <p:spPr>
          <a:xfrm>
            <a:off x="10881360" y="2029968"/>
            <a:ext cx="237744" cy="237744"/>
          </a:xfrm>
          <a:prstGeom prst="rect">
            <a:avLst/>
          </a:prstGeom>
          <a:solidFill>
            <a:srgbClr val="9A3B3B"/>
          </a:solidFill>
          <a:ln w="12700">
            <a:solidFill>
              <a:srgbClr val="333333"/>
            </a:solidFill>
            <a:prstDash val="solid"/>
          </a:ln>
        </p:spPr>
      </p:sp>
      <p:sp>
        <p:nvSpPr>
          <p:cNvPr id="37" name="Shape 35"/>
          <p:cNvSpPr/>
          <p:nvPr/>
        </p:nvSpPr>
        <p:spPr>
          <a:xfrm>
            <a:off x="11187684" y="2029968"/>
            <a:ext cx="237744" cy="237744"/>
          </a:xfrm>
          <a:prstGeom prst="rect">
            <a:avLst/>
          </a:prstGeom>
          <a:solidFill>
            <a:srgbClr val="9A3B3B"/>
          </a:solidFill>
          <a:ln w="12700">
            <a:solidFill>
              <a:srgbClr val="333333"/>
            </a:solidFill>
            <a:prstDash val="solid"/>
          </a:ln>
        </p:spPr>
      </p:sp>
      <p:sp>
        <p:nvSpPr>
          <p:cNvPr id="38" name="Shape 36"/>
          <p:cNvSpPr/>
          <p:nvPr/>
        </p:nvSpPr>
        <p:spPr>
          <a:xfrm>
            <a:off x="7818120" y="2336292"/>
            <a:ext cx="237744" cy="237744"/>
          </a:xfrm>
          <a:prstGeom prst="rect">
            <a:avLst/>
          </a:prstGeom>
          <a:solidFill>
            <a:srgbClr val="9A3B3B"/>
          </a:solidFill>
          <a:ln w="12700">
            <a:solidFill>
              <a:srgbClr val="333333"/>
            </a:solidFill>
            <a:prstDash val="solid"/>
          </a:ln>
        </p:spPr>
      </p:sp>
      <p:sp>
        <p:nvSpPr>
          <p:cNvPr id="39" name="Shape 37"/>
          <p:cNvSpPr/>
          <p:nvPr/>
        </p:nvSpPr>
        <p:spPr>
          <a:xfrm>
            <a:off x="8124444" y="2336292"/>
            <a:ext cx="237744" cy="237744"/>
          </a:xfrm>
          <a:prstGeom prst="rect">
            <a:avLst/>
          </a:prstGeom>
          <a:solidFill>
            <a:srgbClr val="9A3B3B"/>
          </a:solidFill>
          <a:ln w="12700">
            <a:solidFill>
              <a:srgbClr val="333333"/>
            </a:solidFill>
            <a:prstDash val="solid"/>
          </a:ln>
        </p:spPr>
      </p:sp>
      <p:sp>
        <p:nvSpPr>
          <p:cNvPr id="40" name="Shape 38"/>
          <p:cNvSpPr/>
          <p:nvPr/>
        </p:nvSpPr>
        <p:spPr>
          <a:xfrm>
            <a:off x="8430768" y="2336292"/>
            <a:ext cx="237744" cy="237744"/>
          </a:xfrm>
          <a:prstGeom prst="rect">
            <a:avLst/>
          </a:prstGeom>
          <a:solidFill>
            <a:srgbClr val="A6ADB6"/>
          </a:solidFill>
          <a:ln w="12700">
            <a:solidFill>
              <a:srgbClr val="333333"/>
            </a:solidFill>
            <a:prstDash val="solid"/>
          </a:ln>
        </p:spPr>
      </p:sp>
      <p:sp>
        <p:nvSpPr>
          <p:cNvPr id="41" name="Shape 39"/>
          <p:cNvSpPr/>
          <p:nvPr/>
        </p:nvSpPr>
        <p:spPr>
          <a:xfrm>
            <a:off x="8737092" y="2336292"/>
            <a:ext cx="237744" cy="237744"/>
          </a:xfrm>
          <a:prstGeom prst="rect">
            <a:avLst/>
          </a:prstGeom>
          <a:solidFill>
            <a:srgbClr val="9A3B3B"/>
          </a:solidFill>
          <a:ln w="12700">
            <a:solidFill>
              <a:srgbClr val="333333"/>
            </a:solidFill>
            <a:prstDash val="solid"/>
          </a:ln>
        </p:spPr>
      </p:sp>
      <p:sp>
        <p:nvSpPr>
          <p:cNvPr id="42" name="Shape 40"/>
          <p:cNvSpPr/>
          <p:nvPr/>
        </p:nvSpPr>
        <p:spPr>
          <a:xfrm>
            <a:off x="9043416" y="2336292"/>
            <a:ext cx="237744" cy="237744"/>
          </a:xfrm>
          <a:prstGeom prst="rect">
            <a:avLst/>
          </a:prstGeom>
          <a:solidFill>
            <a:srgbClr val="9A3B3B"/>
          </a:solidFill>
          <a:ln w="12700">
            <a:solidFill>
              <a:srgbClr val="333333"/>
            </a:solidFill>
            <a:prstDash val="solid"/>
          </a:ln>
        </p:spPr>
      </p:sp>
      <p:sp>
        <p:nvSpPr>
          <p:cNvPr id="43" name="Shape 41"/>
          <p:cNvSpPr/>
          <p:nvPr/>
        </p:nvSpPr>
        <p:spPr>
          <a:xfrm>
            <a:off x="9349740" y="2336292"/>
            <a:ext cx="237744" cy="237744"/>
          </a:xfrm>
          <a:prstGeom prst="rect">
            <a:avLst/>
          </a:prstGeom>
          <a:solidFill>
            <a:srgbClr val="9A3B3B"/>
          </a:solidFill>
          <a:ln w="12700">
            <a:solidFill>
              <a:srgbClr val="333333"/>
            </a:solidFill>
            <a:prstDash val="solid"/>
          </a:ln>
        </p:spPr>
      </p:sp>
      <p:sp>
        <p:nvSpPr>
          <p:cNvPr id="44" name="Shape 42"/>
          <p:cNvSpPr/>
          <p:nvPr/>
        </p:nvSpPr>
        <p:spPr>
          <a:xfrm>
            <a:off x="9656064" y="2336292"/>
            <a:ext cx="237744" cy="237744"/>
          </a:xfrm>
          <a:prstGeom prst="rect">
            <a:avLst/>
          </a:prstGeom>
          <a:solidFill>
            <a:srgbClr val="9A3B3B"/>
          </a:solidFill>
          <a:ln w="12700">
            <a:solidFill>
              <a:srgbClr val="333333"/>
            </a:solidFill>
            <a:prstDash val="solid"/>
          </a:ln>
        </p:spPr>
      </p:sp>
      <p:sp>
        <p:nvSpPr>
          <p:cNvPr id="45" name="Shape 43"/>
          <p:cNvSpPr/>
          <p:nvPr/>
        </p:nvSpPr>
        <p:spPr>
          <a:xfrm>
            <a:off x="9962388" y="2336292"/>
            <a:ext cx="237744" cy="237744"/>
          </a:xfrm>
          <a:prstGeom prst="rect">
            <a:avLst/>
          </a:prstGeom>
          <a:solidFill>
            <a:srgbClr val="A6ADB6"/>
          </a:solidFill>
          <a:ln w="12700">
            <a:solidFill>
              <a:srgbClr val="333333"/>
            </a:solidFill>
            <a:prstDash val="solid"/>
          </a:ln>
        </p:spPr>
      </p:sp>
      <p:sp>
        <p:nvSpPr>
          <p:cNvPr id="46" name="Shape 44"/>
          <p:cNvSpPr/>
          <p:nvPr/>
        </p:nvSpPr>
        <p:spPr>
          <a:xfrm>
            <a:off x="10268712" y="2336292"/>
            <a:ext cx="237744" cy="237744"/>
          </a:xfrm>
          <a:prstGeom prst="rect">
            <a:avLst/>
          </a:prstGeom>
          <a:solidFill>
            <a:srgbClr val="9A3B3B"/>
          </a:solidFill>
          <a:ln w="12700">
            <a:solidFill>
              <a:srgbClr val="333333"/>
            </a:solidFill>
            <a:prstDash val="solid"/>
          </a:ln>
        </p:spPr>
      </p:sp>
      <p:sp>
        <p:nvSpPr>
          <p:cNvPr id="47" name="Shape 45"/>
          <p:cNvSpPr/>
          <p:nvPr/>
        </p:nvSpPr>
        <p:spPr>
          <a:xfrm>
            <a:off x="10575036" y="2336292"/>
            <a:ext cx="237744" cy="237744"/>
          </a:xfrm>
          <a:prstGeom prst="rect">
            <a:avLst/>
          </a:prstGeom>
          <a:solidFill>
            <a:srgbClr val="9A3B3B"/>
          </a:solidFill>
          <a:ln w="12700">
            <a:solidFill>
              <a:srgbClr val="333333"/>
            </a:solidFill>
            <a:prstDash val="solid"/>
          </a:ln>
        </p:spPr>
      </p:sp>
      <p:sp>
        <p:nvSpPr>
          <p:cNvPr id="48" name="Shape 46"/>
          <p:cNvSpPr/>
          <p:nvPr/>
        </p:nvSpPr>
        <p:spPr>
          <a:xfrm>
            <a:off x="10881360" y="2336292"/>
            <a:ext cx="237744" cy="237744"/>
          </a:xfrm>
          <a:prstGeom prst="rect">
            <a:avLst/>
          </a:prstGeom>
          <a:solidFill>
            <a:srgbClr val="9A3B3B"/>
          </a:solidFill>
          <a:ln w="12700">
            <a:solidFill>
              <a:srgbClr val="333333"/>
            </a:solidFill>
            <a:prstDash val="solid"/>
          </a:ln>
        </p:spPr>
      </p:sp>
      <p:sp>
        <p:nvSpPr>
          <p:cNvPr id="49" name="Shape 47"/>
          <p:cNvSpPr/>
          <p:nvPr/>
        </p:nvSpPr>
        <p:spPr>
          <a:xfrm>
            <a:off x="11187684" y="2336292"/>
            <a:ext cx="237744" cy="237744"/>
          </a:xfrm>
          <a:prstGeom prst="rect">
            <a:avLst/>
          </a:prstGeom>
          <a:solidFill>
            <a:srgbClr val="9A3B3B"/>
          </a:solidFill>
          <a:ln w="12700">
            <a:solidFill>
              <a:srgbClr val="333333"/>
            </a:solidFill>
            <a:prstDash val="solid"/>
          </a:ln>
        </p:spPr>
      </p:sp>
      <p:sp>
        <p:nvSpPr>
          <p:cNvPr id="50" name="Shape 48"/>
          <p:cNvSpPr/>
          <p:nvPr/>
        </p:nvSpPr>
        <p:spPr>
          <a:xfrm>
            <a:off x="7818120" y="2642616"/>
            <a:ext cx="237744" cy="237744"/>
          </a:xfrm>
          <a:prstGeom prst="rect">
            <a:avLst/>
          </a:prstGeom>
          <a:solidFill>
            <a:srgbClr val="9A3B3B"/>
          </a:solidFill>
          <a:ln w="12700">
            <a:solidFill>
              <a:srgbClr val="333333"/>
            </a:solidFill>
            <a:prstDash val="solid"/>
          </a:ln>
        </p:spPr>
      </p:sp>
      <p:sp>
        <p:nvSpPr>
          <p:cNvPr id="51" name="Shape 49"/>
          <p:cNvSpPr/>
          <p:nvPr/>
        </p:nvSpPr>
        <p:spPr>
          <a:xfrm>
            <a:off x="8124444" y="2642616"/>
            <a:ext cx="237744" cy="237744"/>
          </a:xfrm>
          <a:prstGeom prst="rect">
            <a:avLst/>
          </a:prstGeom>
          <a:solidFill>
            <a:srgbClr val="9A3B3B"/>
          </a:solidFill>
          <a:ln w="12700">
            <a:solidFill>
              <a:srgbClr val="333333"/>
            </a:solidFill>
            <a:prstDash val="solid"/>
          </a:ln>
        </p:spPr>
      </p:sp>
      <p:sp>
        <p:nvSpPr>
          <p:cNvPr id="52" name="Shape 50"/>
          <p:cNvSpPr/>
          <p:nvPr/>
        </p:nvSpPr>
        <p:spPr>
          <a:xfrm>
            <a:off x="8430768" y="2642616"/>
            <a:ext cx="237744" cy="237744"/>
          </a:xfrm>
          <a:prstGeom prst="rect">
            <a:avLst/>
          </a:prstGeom>
          <a:solidFill>
            <a:srgbClr val="A6ADB6"/>
          </a:solidFill>
          <a:ln w="12700">
            <a:solidFill>
              <a:srgbClr val="333333"/>
            </a:solidFill>
            <a:prstDash val="solid"/>
          </a:ln>
        </p:spPr>
      </p:sp>
      <p:sp>
        <p:nvSpPr>
          <p:cNvPr id="53" name="Shape 51"/>
          <p:cNvSpPr/>
          <p:nvPr/>
        </p:nvSpPr>
        <p:spPr>
          <a:xfrm>
            <a:off x="8737092" y="2642616"/>
            <a:ext cx="237744" cy="237744"/>
          </a:xfrm>
          <a:prstGeom prst="rect">
            <a:avLst/>
          </a:prstGeom>
          <a:solidFill>
            <a:srgbClr val="9A3B3B"/>
          </a:solidFill>
          <a:ln w="12700">
            <a:solidFill>
              <a:srgbClr val="333333"/>
            </a:solidFill>
            <a:prstDash val="solid"/>
          </a:ln>
        </p:spPr>
      </p:sp>
      <p:sp>
        <p:nvSpPr>
          <p:cNvPr id="54" name="Shape 52"/>
          <p:cNvSpPr/>
          <p:nvPr/>
        </p:nvSpPr>
        <p:spPr>
          <a:xfrm>
            <a:off x="9043416" y="2642616"/>
            <a:ext cx="237744" cy="237744"/>
          </a:xfrm>
          <a:prstGeom prst="rect">
            <a:avLst/>
          </a:prstGeom>
          <a:solidFill>
            <a:srgbClr val="9A3B3B"/>
          </a:solidFill>
          <a:ln w="12700">
            <a:solidFill>
              <a:srgbClr val="333333"/>
            </a:solidFill>
            <a:prstDash val="solid"/>
          </a:ln>
        </p:spPr>
      </p:sp>
      <p:sp>
        <p:nvSpPr>
          <p:cNvPr id="55" name="Shape 53"/>
          <p:cNvSpPr/>
          <p:nvPr/>
        </p:nvSpPr>
        <p:spPr>
          <a:xfrm>
            <a:off x="9349740" y="2642616"/>
            <a:ext cx="237744" cy="237744"/>
          </a:xfrm>
          <a:prstGeom prst="rect">
            <a:avLst/>
          </a:prstGeom>
          <a:solidFill>
            <a:srgbClr val="9A3B3B"/>
          </a:solidFill>
          <a:ln w="12700">
            <a:solidFill>
              <a:srgbClr val="333333"/>
            </a:solidFill>
            <a:prstDash val="solid"/>
          </a:ln>
        </p:spPr>
      </p:sp>
      <p:sp>
        <p:nvSpPr>
          <p:cNvPr id="56" name="Shape 54"/>
          <p:cNvSpPr/>
          <p:nvPr/>
        </p:nvSpPr>
        <p:spPr>
          <a:xfrm>
            <a:off x="9656064" y="2642616"/>
            <a:ext cx="237744" cy="237744"/>
          </a:xfrm>
          <a:prstGeom prst="rect">
            <a:avLst/>
          </a:prstGeom>
          <a:solidFill>
            <a:srgbClr val="9A3B3B"/>
          </a:solidFill>
          <a:ln w="12700">
            <a:solidFill>
              <a:srgbClr val="333333"/>
            </a:solidFill>
            <a:prstDash val="solid"/>
          </a:ln>
        </p:spPr>
      </p:sp>
      <p:sp>
        <p:nvSpPr>
          <p:cNvPr id="57" name="Shape 55"/>
          <p:cNvSpPr/>
          <p:nvPr/>
        </p:nvSpPr>
        <p:spPr>
          <a:xfrm>
            <a:off x="9962388" y="2642616"/>
            <a:ext cx="237744" cy="237744"/>
          </a:xfrm>
          <a:prstGeom prst="rect">
            <a:avLst/>
          </a:prstGeom>
          <a:solidFill>
            <a:srgbClr val="A6ADB6"/>
          </a:solidFill>
          <a:ln w="12700">
            <a:solidFill>
              <a:srgbClr val="333333"/>
            </a:solidFill>
            <a:prstDash val="solid"/>
          </a:ln>
        </p:spPr>
      </p:sp>
      <p:sp>
        <p:nvSpPr>
          <p:cNvPr id="58" name="Shape 56"/>
          <p:cNvSpPr/>
          <p:nvPr/>
        </p:nvSpPr>
        <p:spPr>
          <a:xfrm>
            <a:off x="10268712" y="2642616"/>
            <a:ext cx="237744" cy="237744"/>
          </a:xfrm>
          <a:prstGeom prst="rect">
            <a:avLst/>
          </a:prstGeom>
          <a:solidFill>
            <a:srgbClr val="9A3B3B"/>
          </a:solidFill>
          <a:ln w="12700">
            <a:solidFill>
              <a:srgbClr val="333333"/>
            </a:solidFill>
            <a:prstDash val="solid"/>
          </a:ln>
        </p:spPr>
      </p:sp>
      <p:sp>
        <p:nvSpPr>
          <p:cNvPr id="59" name="Shape 57"/>
          <p:cNvSpPr/>
          <p:nvPr/>
        </p:nvSpPr>
        <p:spPr>
          <a:xfrm>
            <a:off x="10575036" y="2642616"/>
            <a:ext cx="237744" cy="237744"/>
          </a:xfrm>
          <a:prstGeom prst="rect">
            <a:avLst/>
          </a:prstGeom>
          <a:solidFill>
            <a:srgbClr val="9A3B3B"/>
          </a:solidFill>
          <a:ln w="12700">
            <a:solidFill>
              <a:srgbClr val="333333"/>
            </a:solidFill>
            <a:prstDash val="solid"/>
          </a:ln>
        </p:spPr>
      </p:sp>
      <p:sp>
        <p:nvSpPr>
          <p:cNvPr id="60" name="Shape 58"/>
          <p:cNvSpPr/>
          <p:nvPr/>
        </p:nvSpPr>
        <p:spPr>
          <a:xfrm>
            <a:off x="10881360" y="2642616"/>
            <a:ext cx="237744" cy="237744"/>
          </a:xfrm>
          <a:prstGeom prst="rect">
            <a:avLst/>
          </a:prstGeom>
          <a:solidFill>
            <a:srgbClr val="9A3B3B"/>
          </a:solidFill>
          <a:ln w="12700">
            <a:solidFill>
              <a:srgbClr val="333333"/>
            </a:solidFill>
            <a:prstDash val="solid"/>
          </a:ln>
        </p:spPr>
      </p:sp>
      <p:sp>
        <p:nvSpPr>
          <p:cNvPr id="61" name="Shape 59"/>
          <p:cNvSpPr/>
          <p:nvPr/>
        </p:nvSpPr>
        <p:spPr>
          <a:xfrm>
            <a:off x="11187684" y="2642616"/>
            <a:ext cx="237744" cy="237744"/>
          </a:xfrm>
          <a:prstGeom prst="rect">
            <a:avLst/>
          </a:prstGeom>
          <a:solidFill>
            <a:srgbClr val="9A3B3B"/>
          </a:solidFill>
          <a:ln w="12700">
            <a:solidFill>
              <a:srgbClr val="333333"/>
            </a:solidFill>
            <a:prstDash val="solid"/>
          </a:ln>
        </p:spPr>
      </p:sp>
      <p:sp>
        <p:nvSpPr>
          <p:cNvPr id="62" name="Shape 60"/>
          <p:cNvSpPr/>
          <p:nvPr/>
        </p:nvSpPr>
        <p:spPr>
          <a:xfrm>
            <a:off x="7818120" y="2948940"/>
            <a:ext cx="237744" cy="237744"/>
          </a:xfrm>
          <a:prstGeom prst="rect">
            <a:avLst/>
          </a:prstGeom>
          <a:solidFill>
            <a:srgbClr val="9A3B3B"/>
          </a:solidFill>
          <a:ln w="12700">
            <a:solidFill>
              <a:srgbClr val="333333"/>
            </a:solidFill>
            <a:prstDash val="solid"/>
          </a:ln>
        </p:spPr>
      </p:sp>
      <p:sp>
        <p:nvSpPr>
          <p:cNvPr id="63" name="Shape 61"/>
          <p:cNvSpPr/>
          <p:nvPr/>
        </p:nvSpPr>
        <p:spPr>
          <a:xfrm>
            <a:off x="8124444" y="2948940"/>
            <a:ext cx="237744" cy="237744"/>
          </a:xfrm>
          <a:prstGeom prst="rect">
            <a:avLst/>
          </a:prstGeom>
          <a:solidFill>
            <a:srgbClr val="9A3B3B"/>
          </a:solidFill>
          <a:ln w="12700">
            <a:solidFill>
              <a:srgbClr val="333333"/>
            </a:solidFill>
            <a:prstDash val="solid"/>
          </a:ln>
        </p:spPr>
      </p:sp>
      <p:sp>
        <p:nvSpPr>
          <p:cNvPr id="64" name="Shape 62"/>
          <p:cNvSpPr/>
          <p:nvPr/>
        </p:nvSpPr>
        <p:spPr>
          <a:xfrm>
            <a:off x="8430768" y="2948940"/>
            <a:ext cx="237744" cy="237744"/>
          </a:xfrm>
          <a:prstGeom prst="rect">
            <a:avLst/>
          </a:prstGeom>
          <a:solidFill>
            <a:srgbClr val="A6ADB6"/>
          </a:solidFill>
          <a:ln w="12700">
            <a:solidFill>
              <a:srgbClr val="333333"/>
            </a:solidFill>
            <a:prstDash val="solid"/>
          </a:ln>
        </p:spPr>
      </p:sp>
      <p:sp>
        <p:nvSpPr>
          <p:cNvPr id="65" name="Shape 63"/>
          <p:cNvSpPr/>
          <p:nvPr/>
        </p:nvSpPr>
        <p:spPr>
          <a:xfrm>
            <a:off x="8737092" y="2948940"/>
            <a:ext cx="237744" cy="237744"/>
          </a:xfrm>
          <a:prstGeom prst="rect">
            <a:avLst/>
          </a:prstGeom>
          <a:solidFill>
            <a:srgbClr val="9A3B3B"/>
          </a:solidFill>
          <a:ln w="12700">
            <a:solidFill>
              <a:srgbClr val="333333"/>
            </a:solidFill>
            <a:prstDash val="solid"/>
          </a:ln>
        </p:spPr>
      </p:sp>
      <p:sp>
        <p:nvSpPr>
          <p:cNvPr id="66" name="Shape 64"/>
          <p:cNvSpPr/>
          <p:nvPr/>
        </p:nvSpPr>
        <p:spPr>
          <a:xfrm>
            <a:off x="9043416" y="2948940"/>
            <a:ext cx="237744" cy="237744"/>
          </a:xfrm>
          <a:prstGeom prst="rect">
            <a:avLst/>
          </a:prstGeom>
          <a:solidFill>
            <a:srgbClr val="9A3B3B"/>
          </a:solidFill>
          <a:ln w="12700">
            <a:solidFill>
              <a:srgbClr val="333333"/>
            </a:solidFill>
            <a:prstDash val="solid"/>
          </a:ln>
        </p:spPr>
      </p:sp>
      <p:sp>
        <p:nvSpPr>
          <p:cNvPr id="67" name="Shape 65"/>
          <p:cNvSpPr/>
          <p:nvPr/>
        </p:nvSpPr>
        <p:spPr>
          <a:xfrm>
            <a:off x="9349740" y="2948940"/>
            <a:ext cx="237744" cy="237744"/>
          </a:xfrm>
          <a:prstGeom prst="rect">
            <a:avLst/>
          </a:prstGeom>
          <a:solidFill>
            <a:srgbClr val="9A3B3B"/>
          </a:solidFill>
          <a:ln w="12700">
            <a:solidFill>
              <a:srgbClr val="333333"/>
            </a:solidFill>
            <a:prstDash val="solid"/>
          </a:ln>
        </p:spPr>
      </p:sp>
      <p:sp>
        <p:nvSpPr>
          <p:cNvPr id="68" name="Shape 66"/>
          <p:cNvSpPr/>
          <p:nvPr/>
        </p:nvSpPr>
        <p:spPr>
          <a:xfrm>
            <a:off x="9656064" y="2948940"/>
            <a:ext cx="237744" cy="237744"/>
          </a:xfrm>
          <a:prstGeom prst="rect">
            <a:avLst/>
          </a:prstGeom>
          <a:solidFill>
            <a:srgbClr val="9A3B3B"/>
          </a:solidFill>
          <a:ln w="12700">
            <a:solidFill>
              <a:srgbClr val="333333"/>
            </a:solidFill>
            <a:prstDash val="solid"/>
          </a:ln>
        </p:spPr>
      </p:sp>
      <p:sp>
        <p:nvSpPr>
          <p:cNvPr id="69" name="Shape 67"/>
          <p:cNvSpPr/>
          <p:nvPr/>
        </p:nvSpPr>
        <p:spPr>
          <a:xfrm>
            <a:off x="9962388" y="2948940"/>
            <a:ext cx="237744" cy="237744"/>
          </a:xfrm>
          <a:prstGeom prst="rect">
            <a:avLst/>
          </a:prstGeom>
          <a:solidFill>
            <a:srgbClr val="A6ADB6"/>
          </a:solidFill>
          <a:ln w="12700">
            <a:solidFill>
              <a:srgbClr val="333333"/>
            </a:solidFill>
            <a:prstDash val="solid"/>
          </a:ln>
        </p:spPr>
      </p:sp>
      <p:sp>
        <p:nvSpPr>
          <p:cNvPr id="70" name="Shape 68"/>
          <p:cNvSpPr/>
          <p:nvPr/>
        </p:nvSpPr>
        <p:spPr>
          <a:xfrm>
            <a:off x="10268712" y="2948940"/>
            <a:ext cx="237744" cy="237744"/>
          </a:xfrm>
          <a:prstGeom prst="rect">
            <a:avLst/>
          </a:prstGeom>
          <a:solidFill>
            <a:srgbClr val="9A3B3B"/>
          </a:solidFill>
          <a:ln w="12700">
            <a:solidFill>
              <a:srgbClr val="333333"/>
            </a:solidFill>
            <a:prstDash val="solid"/>
          </a:ln>
        </p:spPr>
      </p:sp>
      <p:sp>
        <p:nvSpPr>
          <p:cNvPr id="71" name="Shape 69"/>
          <p:cNvSpPr/>
          <p:nvPr/>
        </p:nvSpPr>
        <p:spPr>
          <a:xfrm>
            <a:off x="10575036" y="2948940"/>
            <a:ext cx="237744" cy="237744"/>
          </a:xfrm>
          <a:prstGeom prst="rect">
            <a:avLst/>
          </a:prstGeom>
          <a:solidFill>
            <a:srgbClr val="9A3B3B"/>
          </a:solidFill>
          <a:ln w="12700">
            <a:solidFill>
              <a:srgbClr val="333333"/>
            </a:solidFill>
            <a:prstDash val="solid"/>
          </a:ln>
        </p:spPr>
      </p:sp>
      <p:sp>
        <p:nvSpPr>
          <p:cNvPr id="72" name="Shape 70"/>
          <p:cNvSpPr/>
          <p:nvPr/>
        </p:nvSpPr>
        <p:spPr>
          <a:xfrm>
            <a:off x="10881360" y="2948940"/>
            <a:ext cx="237744" cy="237744"/>
          </a:xfrm>
          <a:prstGeom prst="rect">
            <a:avLst/>
          </a:prstGeom>
          <a:solidFill>
            <a:srgbClr val="9A3B3B"/>
          </a:solidFill>
          <a:ln w="12700">
            <a:solidFill>
              <a:srgbClr val="333333"/>
            </a:solidFill>
            <a:prstDash val="solid"/>
          </a:ln>
        </p:spPr>
      </p:sp>
      <p:sp>
        <p:nvSpPr>
          <p:cNvPr id="73" name="Shape 71"/>
          <p:cNvSpPr/>
          <p:nvPr/>
        </p:nvSpPr>
        <p:spPr>
          <a:xfrm>
            <a:off x="11187684" y="2948940"/>
            <a:ext cx="237744" cy="237744"/>
          </a:xfrm>
          <a:prstGeom prst="rect">
            <a:avLst/>
          </a:prstGeom>
          <a:solidFill>
            <a:srgbClr val="9A3B3B"/>
          </a:solidFill>
          <a:ln w="12700">
            <a:solidFill>
              <a:srgbClr val="333333"/>
            </a:solidFill>
            <a:prstDash val="solid"/>
          </a:ln>
        </p:spPr>
      </p:sp>
      <p:sp>
        <p:nvSpPr>
          <p:cNvPr id="74" name="Shape 72"/>
          <p:cNvSpPr/>
          <p:nvPr/>
        </p:nvSpPr>
        <p:spPr>
          <a:xfrm>
            <a:off x="7818120" y="3255264"/>
            <a:ext cx="237744" cy="237744"/>
          </a:xfrm>
          <a:prstGeom prst="rect">
            <a:avLst/>
          </a:prstGeom>
          <a:solidFill>
            <a:srgbClr val="E4E7EB"/>
          </a:solidFill>
          <a:ln w="12700">
            <a:solidFill>
              <a:srgbClr val="333333"/>
            </a:solidFill>
            <a:prstDash val="solid"/>
          </a:ln>
        </p:spPr>
      </p:sp>
      <p:sp>
        <p:nvSpPr>
          <p:cNvPr id="75" name="Shape 73"/>
          <p:cNvSpPr/>
          <p:nvPr/>
        </p:nvSpPr>
        <p:spPr>
          <a:xfrm>
            <a:off x="8124444" y="3255264"/>
            <a:ext cx="237744" cy="237744"/>
          </a:xfrm>
          <a:prstGeom prst="rect">
            <a:avLst/>
          </a:prstGeom>
          <a:solidFill>
            <a:srgbClr val="E4E7EB"/>
          </a:solidFill>
          <a:ln w="12700">
            <a:solidFill>
              <a:srgbClr val="333333"/>
            </a:solidFill>
            <a:prstDash val="solid"/>
          </a:ln>
        </p:spPr>
      </p:sp>
      <p:sp>
        <p:nvSpPr>
          <p:cNvPr id="76" name="Shape 74"/>
          <p:cNvSpPr/>
          <p:nvPr/>
        </p:nvSpPr>
        <p:spPr>
          <a:xfrm>
            <a:off x="8430768" y="3255264"/>
            <a:ext cx="237744" cy="237744"/>
          </a:xfrm>
          <a:prstGeom prst="rect">
            <a:avLst/>
          </a:prstGeom>
          <a:solidFill>
            <a:srgbClr val="E4E7EB"/>
          </a:solidFill>
          <a:ln w="12700">
            <a:solidFill>
              <a:srgbClr val="333333"/>
            </a:solidFill>
            <a:prstDash val="solid"/>
          </a:ln>
        </p:spPr>
      </p:sp>
      <p:sp>
        <p:nvSpPr>
          <p:cNvPr id="77" name="Shape 75"/>
          <p:cNvSpPr/>
          <p:nvPr/>
        </p:nvSpPr>
        <p:spPr>
          <a:xfrm>
            <a:off x="8737092" y="3255264"/>
            <a:ext cx="237744" cy="237744"/>
          </a:xfrm>
          <a:prstGeom prst="rect">
            <a:avLst/>
          </a:prstGeom>
          <a:solidFill>
            <a:srgbClr val="E4E7EB"/>
          </a:solidFill>
          <a:ln w="12700">
            <a:solidFill>
              <a:srgbClr val="333333"/>
            </a:solidFill>
            <a:prstDash val="solid"/>
          </a:ln>
        </p:spPr>
      </p:sp>
      <p:sp>
        <p:nvSpPr>
          <p:cNvPr id="78" name="Shape 76"/>
          <p:cNvSpPr/>
          <p:nvPr/>
        </p:nvSpPr>
        <p:spPr>
          <a:xfrm>
            <a:off x="9043416" y="3255264"/>
            <a:ext cx="237744" cy="237744"/>
          </a:xfrm>
          <a:prstGeom prst="rect">
            <a:avLst/>
          </a:prstGeom>
          <a:solidFill>
            <a:srgbClr val="E4E7EB"/>
          </a:solidFill>
          <a:ln w="12700">
            <a:solidFill>
              <a:srgbClr val="333333"/>
            </a:solidFill>
            <a:prstDash val="solid"/>
          </a:ln>
        </p:spPr>
      </p:sp>
      <p:sp>
        <p:nvSpPr>
          <p:cNvPr id="79" name="Shape 77"/>
          <p:cNvSpPr/>
          <p:nvPr/>
        </p:nvSpPr>
        <p:spPr>
          <a:xfrm>
            <a:off x="9349740" y="3255264"/>
            <a:ext cx="237744" cy="237744"/>
          </a:xfrm>
          <a:prstGeom prst="rect">
            <a:avLst/>
          </a:prstGeom>
          <a:solidFill>
            <a:srgbClr val="E4E7EB"/>
          </a:solidFill>
          <a:ln w="12700">
            <a:solidFill>
              <a:srgbClr val="333333"/>
            </a:solidFill>
            <a:prstDash val="solid"/>
          </a:ln>
        </p:spPr>
      </p:sp>
      <p:sp>
        <p:nvSpPr>
          <p:cNvPr id="80" name="Shape 78"/>
          <p:cNvSpPr/>
          <p:nvPr/>
        </p:nvSpPr>
        <p:spPr>
          <a:xfrm>
            <a:off x="9656064" y="3255264"/>
            <a:ext cx="237744" cy="237744"/>
          </a:xfrm>
          <a:prstGeom prst="rect">
            <a:avLst/>
          </a:prstGeom>
          <a:solidFill>
            <a:srgbClr val="E4E7EB"/>
          </a:solidFill>
          <a:ln w="12700">
            <a:solidFill>
              <a:srgbClr val="333333"/>
            </a:solidFill>
            <a:prstDash val="solid"/>
          </a:ln>
        </p:spPr>
      </p:sp>
      <p:sp>
        <p:nvSpPr>
          <p:cNvPr id="81" name="Shape 79"/>
          <p:cNvSpPr/>
          <p:nvPr/>
        </p:nvSpPr>
        <p:spPr>
          <a:xfrm>
            <a:off x="9962388" y="3255264"/>
            <a:ext cx="237744" cy="237744"/>
          </a:xfrm>
          <a:prstGeom prst="rect">
            <a:avLst/>
          </a:prstGeom>
          <a:solidFill>
            <a:srgbClr val="E4E7EB"/>
          </a:solidFill>
          <a:ln w="12700">
            <a:solidFill>
              <a:srgbClr val="333333"/>
            </a:solidFill>
            <a:prstDash val="solid"/>
          </a:ln>
        </p:spPr>
      </p:sp>
      <p:sp>
        <p:nvSpPr>
          <p:cNvPr id="82" name="Shape 80"/>
          <p:cNvSpPr/>
          <p:nvPr/>
        </p:nvSpPr>
        <p:spPr>
          <a:xfrm>
            <a:off x="10268712" y="3255264"/>
            <a:ext cx="237744" cy="237744"/>
          </a:xfrm>
          <a:prstGeom prst="rect">
            <a:avLst/>
          </a:prstGeom>
          <a:solidFill>
            <a:srgbClr val="E4E7EB"/>
          </a:solidFill>
          <a:ln w="12700">
            <a:solidFill>
              <a:srgbClr val="333333"/>
            </a:solidFill>
            <a:prstDash val="solid"/>
          </a:ln>
        </p:spPr>
      </p:sp>
      <p:sp>
        <p:nvSpPr>
          <p:cNvPr id="83" name="Shape 81"/>
          <p:cNvSpPr/>
          <p:nvPr/>
        </p:nvSpPr>
        <p:spPr>
          <a:xfrm>
            <a:off x="10575036" y="3255264"/>
            <a:ext cx="237744" cy="237744"/>
          </a:xfrm>
          <a:prstGeom prst="rect">
            <a:avLst/>
          </a:prstGeom>
          <a:solidFill>
            <a:srgbClr val="E4E7EB"/>
          </a:solidFill>
          <a:ln w="12700">
            <a:solidFill>
              <a:srgbClr val="333333"/>
            </a:solidFill>
            <a:prstDash val="solid"/>
          </a:ln>
        </p:spPr>
      </p:sp>
      <p:sp>
        <p:nvSpPr>
          <p:cNvPr id="84" name="Shape 82"/>
          <p:cNvSpPr/>
          <p:nvPr/>
        </p:nvSpPr>
        <p:spPr>
          <a:xfrm>
            <a:off x="10881360" y="3255264"/>
            <a:ext cx="237744" cy="237744"/>
          </a:xfrm>
          <a:prstGeom prst="rect">
            <a:avLst/>
          </a:prstGeom>
          <a:solidFill>
            <a:srgbClr val="E4E7EB"/>
          </a:solidFill>
          <a:ln w="12700">
            <a:solidFill>
              <a:srgbClr val="333333"/>
            </a:solidFill>
            <a:prstDash val="solid"/>
          </a:ln>
        </p:spPr>
      </p:sp>
      <p:sp>
        <p:nvSpPr>
          <p:cNvPr id="85" name="Shape 83"/>
          <p:cNvSpPr/>
          <p:nvPr/>
        </p:nvSpPr>
        <p:spPr>
          <a:xfrm>
            <a:off x="11187684" y="3255264"/>
            <a:ext cx="237744" cy="237744"/>
          </a:xfrm>
          <a:prstGeom prst="rect">
            <a:avLst/>
          </a:prstGeom>
          <a:solidFill>
            <a:srgbClr val="E4E7EB"/>
          </a:solidFill>
          <a:ln w="12700">
            <a:solidFill>
              <a:srgbClr val="333333"/>
            </a:solidFill>
            <a:prstDash val="solid"/>
          </a:ln>
        </p:spPr>
      </p:sp>
      <p:sp>
        <p:nvSpPr>
          <p:cNvPr id="86" name="Shape 84"/>
          <p:cNvSpPr/>
          <p:nvPr/>
        </p:nvSpPr>
        <p:spPr>
          <a:xfrm>
            <a:off x="7818120" y="3561588"/>
            <a:ext cx="237744" cy="237744"/>
          </a:xfrm>
          <a:prstGeom prst="rect">
            <a:avLst/>
          </a:prstGeom>
          <a:solidFill>
            <a:srgbClr val="E4E7EB"/>
          </a:solidFill>
          <a:ln w="12700">
            <a:solidFill>
              <a:srgbClr val="333333"/>
            </a:solidFill>
            <a:prstDash val="solid"/>
          </a:ln>
        </p:spPr>
      </p:sp>
      <p:sp>
        <p:nvSpPr>
          <p:cNvPr id="87" name="Shape 85"/>
          <p:cNvSpPr/>
          <p:nvPr/>
        </p:nvSpPr>
        <p:spPr>
          <a:xfrm>
            <a:off x="8124444" y="3561588"/>
            <a:ext cx="237744" cy="237744"/>
          </a:xfrm>
          <a:prstGeom prst="rect">
            <a:avLst/>
          </a:prstGeom>
          <a:solidFill>
            <a:srgbClr val="E4E7EB"/>
          </a:solidFill>
          <a:ln w="12700">
            <a:solidFill>
              <a:srgbClr val="333333"/>
            </a:solidFill>
            <a:prstDash val="solid"/>
          </a:ln>
        </p:spPr>
      </p:sp>
      <p:sp>
        <p:nvSpPr>
          <p:cNvPr id="88" name="Shape 86"/>
          <p:cNvSpPr/>
          <p:nvPr/>
        </p:nvSpPr>
        <p:spPr>
          <a:xfrm>
            <a:off x="8430768" y="3561588"/>
            <a:ext cx="237744" cy="237744"/>
          </a:xfrm>
          <a:prstGeom prst="rect">
            <a:avLst/>
          </a:prstGeom>
          <a:solidFill>
            <a:srgbClr val="E4E7EB"/>
          </a:solidFill>
          <a:ln w="12700">
            <a:solidFill>
              <a:srgbClr val="333333"/>
            </a:solidFill>
            <a:prstDash val="solid"/>
          </a:ln>
        </p:spPr>
      </p:sp>
      <p:sp>
        <p:nvSpPr>
          <p:cNvPr id="89" name="Shape 87"/>
          <p:cNvSpPr/>
          <p:nvPr/>
        </p:nvSpPr>
        <p:spPr>
          <a:xfrm>
            <a:off x="8737092" y="3561588"/>
            <a:ext cx="237744" cy="237744"/>
          </a:xfrm>
          <a:prstGeom prst="rect">
            <a:avLst/>
          </a:prstGeom>
          <a:solidFill>
            <a:srgbClr val="E4E7EB"/>
          </a:solidFill>
          <a:ln w="12700">
            <a:solidFill>
              <a:srgbClr val="333333"/>
            </a:solidFill>
            <a:prstDash val="solid"/>
          </a:ln>
        </p:spPr>
      </p:sp>
      <p:sp>
        <p:nvSpPr>
          <p:cNvPr id="90" name="Shape 88"/>
          <p:cNvSpPr/>
          <p:nvPr/>
        </p:nvSpPr>
        <p:spPr>
          <a:xfrm>
            <a:off x="9043416" y="3561588"/>
            <a:ext cx="237744" cy="237744"/>
          </a:xfrm>
          <a:prstGeom prst="rect">
            <a:avLst/>
          </a:prstGeom>
          <a:solidFill>
            <a:srgbClr val="E4E7EB"/>
          </a:solidFill>
          <a:ln w="12700">
            <a:solidFill>
              <a:srgbClr val="333333"/>
            </a:solidFill>
            <a:prstDash val="solid"/>
          </a:ln>
        </p:spPr>
      </p:sp>
      <p:sp>
        <p:nvSpPr>
          <p:cNvPr id="91" name="Shape 89"/>
          <p:cNvSpPr/>
          <p:nvPr/>
        </p:nvSpPr>
        <p:spPr>
          <a:xfrm>
            <a:off x="9349740" y="3561588"/>
            <a:ext cx="237744" cy="237744"/>
          </a:xfrm>
          <a:prstGeom prst="rect">
            <a:avLst/>
          </a:prstGeom>
          <a:solidFill>
            <a:srgbClr val="E4E7EB"/>
          </a:solidFill>
          <a:ln w="12700">
            <a:solidFill>
              <a:srgbClr val="333333"/>
            </a:solidFill>
            <a:prstDash val="solid"/>
          </a:ln>
        </p:spPr>
      </p:sp>
      <p:sp>
        <p:nvSpPr>
          <p:cNvPr id="92" name="Shape 90"/>
          <p:cNvSpPr/>
          <p:nvPr/>
        </p:nvSpPr>
        <p:spPr>
          <a:xfrm>
            <a:off x="9656064" y="3561588"/>
            <a:ext cx="237744" cy="237744"/>
          </a:xfrm>
          <a:prstGeom prst="rect">
            <a:avLst/>
          </a:prstGeom>
          <a:solidFill>
            <a:srgbClr val="E4E7EB"/>
          </a:solidFill>
          <a:ln w="12700">
            <a:solidFill>
              <a:srgbClr val="333333"/>
            </a:solidFill>
            <a:prstDash val="solid"/>
          </a:ln>
        </p:spPr>
      </p:sp>
      <p:sp>
        <p:nvSpPr>
          <p:cNvPr id="93" name="Shape 91"/>
          <p:cNvSpPr/>
          <p:nvPr/>
        </p:nvSpPr>
        <p:spPr>
          <a:xfrm>
            <a:off x="9962388" y="3561588"/>
            <a:ext cx="237744" cy="237744"/>
          </a:xfrm>
          <a:prstGeom prst="rect">
            <a:avLst/>
          </a:prstGeom>
          <a:solidFill>
            <a:srgbClr val="E4E7EB"/>
          </a:solidFill>
          <a:ln w="12700">
            <a:solidFill>
              <a:srgbClr val="333333"/>
            </a:solidFill>
            <a:prstDash val="solid"/>
          </a:ln>
        </p:spPr>
      </p:sp>
      <p:sp>
        <p:nvSpPr>
          <p:cNvPr id="94" name="Shape 92"/>
          <p:cNvSpPr/>
          <p:nvPr/>
        </p:nvSpPr>
        <p:spPr>
          <a:xfrm>
            <a:off x="10268712" y="3561588"/>
            <a:ext cx="237744" cy="237744"/>
          </a:xfrm>
          <a:prstGeom prst="rect">
            <a:avLst/>
          </a:prstGeom>
          <a:solidFill>
            <a:srgbClr val="E4E7EB"/>
          </a:solidFill>
          <a:ln w="12700">
            <a:solidFill>
              <a:srgbClr val="333333"/>
            </a:solidFill>
            <a:prstDash val="solid"/>
          </a:ln>
        </p:spPr>
      </p:sp>
      <p:sp>
        <p:nvSpPr>
          <p:cNvPr id="95" name="Shape 93"/>
          <p:cNvSpPr/>
          <p:nvPr/>
        </p:nvSpPr>
        <p:spPr>
          <a:xfrm>
            <a:off x="10575036" y="3561588"/>
            <a:ext cx="237744" cy="237744"/>
          </a:xfrm>
          <a:prstGeom prst="rect">
            <a:avLst/>
          </a:prstGeom>
          <a:solidFill>
            <a:srgbClr val="E4E7EB"/>
          </a:solidFill>
          <a:ln w="12700">
            <a:solidFill>
              <a:srgbClr val="333333"/>
            </a:solidFill>
            <a:prstDash val="solid"/>
          </a:ln>
        </p:spPr>
      </p:sp>
      <p:sp>
        <p:nvSpPr>
          <p:cNvPr id="96" name="Shape 94"/>
          <p:cNvSpPr/>
          <p:nvPr/>
        </p:nvSpPr>
        <p:spPr>
          <a:xfrm>
            <a:off x="10881360" y="3561588"/>
            <a:ext cx="237744" cy="237744"/>
          </a:xfrm>
          <a:prstGeom prst="rect">
            <a:avLst/>
          </a:prstGeom>
          <a:solidFill>
            <a:srgbClr val="E4E7EB"/>
          </a:solidFill>
          <a:ln w="12700">
            <a:solidFill>
              <a:srgbClr val="333333"/>
            </a:solidFill>
            <a:prstDash val="solid"/>
          </a:ln>
        </p:spPr>
      </p:sp>
      <p:sp>
        <p:nvSpPr>
          <p:cNvPr id="97" name="Shape 95"/>
          <p:cNvSpPr/>
          <p:nvPr/>
        </p:nvSpPr>
        <p:spPr>
          <a:xfrm>
            <a:off x="11187684" y="3561588"/>
            <a:ext cx="237744" cy="237744"/>
          </a:xfrm>
          <a:prstGeom prst="rect">
            <a:avLst/>
          </a:prstGeom>
          <a:solidFill>
            <a:srgbClr val="E4E7EB"/>
          </a:solidFill>
          <a:ln w="12700">
            <a:solidFill>
              <a:srgbClr val="333333"/>
            </a:solidFill>
            <a:prstDash val="solid"/>
          </a:ln>
        </p:spPr>
      </p:sp>
      <p:sp>
        <p:nvSpPr>
          <p:cNvPr id="98" name="Shape 96"/>
          <p:cNvSpPr/>
          <p:nvPr/>
        </p:nvSpPr>
        <p:spPr>
          <a:xfrm>
            <a:off x="7818120" y="3867912"/>
            <a:ext cx="237744" cy="237744"/>
          </a:xfrm>
          <a:prstGeom prst="rect">
            <a:avLst/>
          </a:prstGeom>
          <a:solidFill>
            <a:srgbClr val="E4E7EB"/>
          </a:solidFill>
          <a:ln w="12700">
            <a:solidFill>
              <a:srgbClr val="333333"/>
            </a:solidFill>
            <a:prstDash val="solid"/>
          </a:ln>
        </p:spPr>
      </p:sp>
      <p:sp>
        <p:nvSpPr>
          <p:cNvPr id="99" name="Shape 97"/>
          <p:cNvSpPr/>
          <p:nvPr/>
        </p:nvSpPr>
        <p:spPr>
          <a:xfrm>
            <a:off x="8124444" y="3867912"/>
            <a:ext cx="237744" cy="237744"/>
          </a:xfrm>
          <a:prstGeom prst="rect">
            <a:avLst/>
          </a:prstGeom>
          <a:solidFill>
            <a:srgbClr val="E4E7EB"/>
          </a:solidFill>
          <a:ln w="12700">
            <a:solidFill>
              <a:srgbClr val="333333"/>
            </a:solidFill>
            <a:prstDash val="solid"/>
          </a:ln>
        </p:spPr>
      </p:sp>
      <p:sp>
        <p:nvSpPr>
          <p:cNvPr id="100" name="Shape 98"/>
          <p:cNvSpPr/>
          <p:nvPr/>
        </p:nvSpPr>
        <p:spPr>
          <a:xfrm>
            <a:off x="8430768" y="3867912"/>
            <a:ext cx="237744" cy="237744"/>
          </a:xfrm>
          <a:prstGeom prst="rect">
            <a:avLst/>
          </a:prstGeom>
          <a:solidFill>
            <a:srgbClr val="E4E7EB"/>
          </a:solidFill>
          <a:ln w="12700">
            <a:solidFill>
              <a:srgbClr val="333333"/>
            </a:solidFill>
            <a:prstDash val="solid"/>
          </a:ln>
        </p:spPr>
      </p:sp>
      <p:sp>
        <p:nvSpPr>
          <p:cNvPr id="101" name="Shape 99"/>
          <p:cNvSpPr/>
          <p:nvPr/>
        </p:nvSpPr>
        <p:spPr>
          <a:xfrm>
            <a:off x="8737092" y="3867912"/>
            <a:ext cx="237744" cy="237744"/>
          </a:xfrm>
          <a:prstGeom prst="rect">
            <a:avLst/>
          </a:prstGeom>
          <a:solidFill>
            <a:srgbClr val="E4E7EB"/>
          </a:solidFill>
          <a:ln w="12700">
            <a:solidFill>
              <a:srgbClr val="333333"/>
            </a:solidFill>
            <a:prstDash val="solid"/>
          </a:ln>
        </p:spPr>
      </p:sp>
      <p:sp>
        <p:nvSpPr>
          <p:cNvPr id="102" name="Shape 100"/>
          <p:cNvSpPr/>
          <p:nvPr/>
        </p:nvSpPr>
        <p:spPr>
          <a:xfrm>
            <a:off x="9043416" y="3867912"/>
            <a:ext cx="237744" cy="237744"/>
          </a:xfrm>
          <a:prstGeom prst="rect">
            <a:avLst/>
          </a:prstGeom>
          <a:solidFill>
            <a:srgbClr val="E4E7EB"/>
          </a:solidFill>
          <a:ln w="12700">
            <a:solidFill>
              <a:srgbClr val="333333"/>
            </a:solidFill>
            <a:prstDash val="solid"/>
          </a:ln>
        </p:spPr>
      </p:sp>
      <p:sp>
        <p:nvSpPr>
          <p:cNvPr id="103" name="Shape 101"/>
          <p:cNvSpPr/>
          <p:nvPr/>
        </p:nvSpPr>
        <p:spPr>
          <a:xfrm>
            <a:off x="9349740" y="3867912"/>
            <a:ext cx="237744" cy="237744"/>
          </a:xfrm>
          <a:prstGeom prst="rect">
            <a:avLst/>
          </a:prstGeom>
          <a:solidFill>
            <a:srgbClr val="E4E7EB"/>
          </a:solidFill>
          <a:ln w="12700">
            <a:solidFill>
              <a:srgbClr val="333333"/>
            </a:solidFill>
            <a:prstDash val="solid"/>
          </a:ln>
        </p:spPr>
      </p:sp>
      <p:sp>
        <p:nvSpPr>
          <p:cNvPr id="104" name="Shape 102"/>
          <p:cNvSpPr/>
          <p:nvPr/>
        </p:nvSpPr>
        <p:spPr>
          <a:xfrm>
            <a:off x="9656064" y="3867912"/>
            <a:ext cx="237744" cy="237744"/>
          </a:xfrm>
          <a:prstGeom prst="rect">
            <a:avLst/>
          </a:prstGeom>
          <a:solidFill>
            <a:srgbClr val="E4E7EB"/>
          </a:solidFill>
          <a:ln w="12700">
            <a:solidFill>
              <a:srgbClr val="333333"/>
            </a:solidFill>
            <a:prstDash val="solid"/>
          </a:ln>
        </p:spPr>
      </p:sp>
      <p:sp>
        <p:nvSpPr>
          <p:cNvPr id="105" name="Shape 103"/>
          <p:cNvSpPr/>
          <p:nvPr/>
        </p:nvSpPr>
        <p:spPr>
          <a:xfrm>
            <a:off x="9962388" y="3867912"/>
            <a:ext cx="237744" cy="237744"/>
          </a:xfrm>
          <a:prstGeom prst="rect">
            <a:avLst/>
          </a:prstGeom>
          <a:solidFill>
            <a:srgbClr val="E4E7EB"/>
          </a:solidFill>
          <a:ln w="12700">
            <a:solidFill>
              <a:srgbClr val="333333"/>
            </a:solidFill>
            <a:prstDash val="solid"/>
          </a:ln>
        </p:spPr>
      </p:sp>
      <p:sp>
        <p:nvSpPr>
          <p:cNvPr id="106" name="Shape 104"/>
          <p:cNvSpPr/>
          <p:nvPr/>
        </p:nvSpPr>
        <p:spPr>
          <a:xfrm>
            <a:off x="10268712" y="3867912"/>
            <a:ext cx="237744" cy="237744"/>
          </a:xfrm>
          <a:prstGeom prst="rect">
            <a:avLst/>
          </a:prstGeom>
          <a:solidFill>
            <a:srgbClr val="E4E7EB"/>
          </a:solidFill>
          <a:ln w="12700">
            <a:solidFill>
              <a:srgbClr val="333333"/>
            </a:solidFill>
            <a:prstDash val="solid"/>
          </a:ln>
        </p:spPr>
      </p:sp>
      <p:sp>
        <p:nvSpPr>
          <p:cNvPr id="107" name="Shape 105"/>
          <p:cNvSpPr/>
          <p:nvPr/>
        </p:nvSpPr>
        <p:spPr>
          <a:xfrm>
            <a:off x="10575036" y="3867912"/>
            <a:ext cx="237744" cy="237744"/>
          </a:xfrm>
          <a:prstGeom prst="rect">
            <a:avLst/>
          </a:prstGeom>
          <a:solidFill>
            <a:srgbClr val="E4E7EB"/>
          </a:solidFill>
          <a:ln w="12700">
            <a:solidFill>
              <a:srgbClr val="333333"/>
            </a:solidFill>
            <a:prstDash val="solid"/>
          </a:ln>
        </p:spPr>
      </p:sp>
      <p:sp>
        <p:nvSpPr>
          <p:cNvPr id="108" name="Shape 106"/>
          <p:cNvSpPr/>
          <p:nvPr/>
        </p:nvSpPr>
        <p:spPr>
          <a:xfrm>
            <a:off x="10881360" y="3867912"/>
            <a:ext cx="237744" cy="237744"/>
          </a:xfrm>
          <a:prstGeom prst="rect">
            <a:avLst/>
          </a:prstGeom>
          <a:solidFill>
            <a:srgbClr val="E4E7EB"/>
          </a:solidFill>
          <a:ln w="12700">
            <a:solidFill>
              <a:srgbClr val="333333"/>
            </a:solidFill>
            <a:prstDash val="solid"/>
          </a:ln>
        </p:spPr>
      </p:sp>
      <p:sp>
        <p:nvSpPr>
          <p:cNvPr id="109" name="Shape 107"/>
          <p:cNvSpPr/>
          <p:nvPr/>
        </p:nvSpPr>
        <p:spPr>
          <a:xfrm>
            <a:off x="11187684" y="3867912"/>
            <a:ext cx="237744" cy="237744"/>
          </a:xfrm>
          <a:prstGeom prst="rect">
            <a:avLst/>
          </a:prstGeom>
          <a:solidFill>
            <a:srgbClr val="E4E7EB"/>
          </a:solidFill>
          <a:ln w="12700">
            <a:solidFill>
              <a:srgbClr val="333333"/>
            </a:solidFill>
            <a:prstDash val="solid"/>
          </a:ln>
        </p:spPr>
      </p:sp>
      <p:sp>
        <p:nvSpPr>
          <p:cNvPr id="110" name="Shape 108"/>
          <p:cNvSpPr/>
          <p:nvPr/>
        </p:nvSpPr>
        <p:spPr>
          <a:xfrm>
            <a:off x="7818120" y="4174236"/>
            <a:ext cx="237744" cy="237744"/>
          </a:xfrm>
          <a:prstGeom prst="rect">
            <a:avLst/>
          </a:prstGeom>
          <a:solidFill>
            <a:srgbClr val="E4E7EB"/>
          </a:solidFill>
          <a:ln w="12700">
            <a:solidFill>
              <a:srgbClr val="333333"/>
            </a:solidFill>
            <a:prstDash val="solid"/>
          </a:ln>
        </p:spPr>
      </p:sp>
      <p:sp>
        <p:nvSpPr>
          <p:cNvPr id="111" name="Shape 109"/>
          <p:cNvSpPr/>
          <p:nvPr/>
        </p:nvSpPr>
        <p:spPr>
          <a:xfrm>
            <a:off x="8124444" y="4174236"/>
            <a:ext cx="237744" cy="237744"/>
          </a:xfrm>
          <a:prstGeom prst="rect">
            <a:avLst/>
          </a:prstGeom>
          <a:solidFill>
            <a:srgbClr val="E4E7EB"/>
          </a:solidFill>
          <a:ln w="12700">
            <a:solidFill>
              <a:srgbClr val="333333"/>
            </a:solidFill>
            <a:prstDash val="solid"/>
          </a:ln>
        </p:spPr>
      </p:sp>
      <p:sp>
        <p:nvSpPr>
          <p:cNvPr id="112" name="Shape 110"/>
          <p:cNvSpPr/>
          <p:nvPr/>
        </p:nvSpPr>
        <p:spPr>
          <a:xfrm>
            <a:off x="8430768" y="4174236"/>
            <a:ext cx="237744" cy="237744"/>
          </a:xfrm>
          <a:prstGeom prst="rect">
            <a:avLst/>
          </a:prstGeom>
          <a:solidFill>
            <a:srgbClr val="E4E7EB"/>
          </a:solidFill>
          <a:ln w="12700">
            <a:solidFill>
              <a:srgbClr val="333333"/>
            </a:solidFill>
            <a:prstDash val="solid"/>
          </a:ln>
        </p:spPr>
      </p:sp>
      <p:sp>
        <p:nvSpPr>
          <p:cNvPr id="113" name="Shape 111"/>
          <p:cNvSpPr/>
          <p:nvPr/>
        </p:nvSpPr>
        <p:spPr>
          <a:xfrm>
            <a:off x="8737092" y="4174236"/>
            <a:ext cx="237744" cy="237744"/>
          </a:xfrm>
          <a:prstGeom prst="rect">
            <a:avLst/>
          </a:prstGeom>
          <a:solidFill>
            <a:srgbClr val="E4E7EB"/>
          </a:solidFill>
          <a:ln w="12700">
            <a:solidFill>
              <a:srgbClr val="333333"/>
            </a:solidFill>
            <a:prstDash val="solid"/>
          </a:ln>
        </p:spPr>
      </p:sp>
      <p:sp>
        <p:nvSpPr>
          <p:cNvPr id="114" name="Shape 112"/>
          <p:cNvSpPr/>
          <p:nvPr/>
        </p:nvSpPr>
        <p:spPr>
          <a:xfrm>
            <a:off x="9043416" y="4174236"/>
            <a:ext cx="237744" cy="237744"/>
          </a:xfrm>
          <a:prstGeom prst="rect">
            <a:avLst/>
          </a:prstGeom>
          <a:solidFill>
            <a:srgbClr val="E4E7EB"/>
          </a:solidFill>
          <a:ln w="12700">
            <a:solidFill>
              <a:srgbClr val="333333"/>
            </a:solidFill>
            <a:prstDash val="solid"/>
          </a:ln>
        </p:spPr>
      </p:sp>
      <p:sp>
        <p:nvSpPr>
          <p:cNvPr id="115" name="Shape 113"/>
          <p:cNvSpPr/>
          <p:nvPr/>
        </p:nvSpPr>
        <p:spPr>
          <a:xfrm>
            <a:off x="9349740" y="4174236"/>
            <a:ext cx="237744" cy="237744"/>
          </a:xfrm>
          <a:prstGeom prst="rect">
            <a:avLst/>
          </a:prstGeom>
          <a:solidFill>
            <a:srgbClr val="E4E7EB"/>
          </a:solidFill>
          <a:ln w="12700">
            <a:solidFill>
              <a:srgbClr val="333333"/>
            </a:solidFill>
            <a:prstDash val="solid"/>
          </a:ln>
        </p:spPr>
      </p:sp>
      <p:sp>
        <p:nvSpPr>
          <p:cNvPr id="116" name="Shape 114"/>
          <p:cNvSpPr/>
          <p:nvPr/>
        </p:nvSpPr>
        <p:spPr>
          <a:xfrm>
            <a:off x="9656064" y="4174236"/>
            <a:ext cx="237744" cy="237744"/>
          </a:xfrm>
          <a:prstGeom prst="rect">
            <a:avLst/>
          </a:prstGeom>
          <a:solidFill>
            <a:srgbClr val="E4E7EB"/>
          </a:solidFill>
          <a:ln w="12700">
            <a:solidFill>
              <a:srgbClr val="333333"/>
            </a:solidFill>
            <a:prstDash val="solid"/>
          </a:ln>
        </p:spPr>
      </p:sp>
      <p:sp>
        <p:nvSpPr>
          <p:cNvPr id="117" name="Shape 115"/>
          <p:cNvSpPr/>
          <p:nvPr/>
        </p:nvSpPr>
        <p:spPr>
          <a:xfrm>
            <a:off x="9962388" y="4174236"/>
            <a:ext cx="237744" cy="237744"/>
          </a:xfrm>
          <a:prstGeom prst="rect">
            <a:avLst/>
          </a:prstGeom>
          <a:solidFill>
            <a:srgbClr val="E4E7EB"/>
          </a:solidFill>
          <a:ln w="12700">
            <a:solidFill>
              <a:srgbClr val="333333"/>
            </a:solidFill>
            <a:prstDash val="solid"/>
          </a:ln>
        </p:spPr>
      </p:sp>
      <p:sp>
        <p:nvSpPr>
          <p:cNvPr id="118" name="Shape 116"/>
          <p:cNvSpPr/>
          <p:nvPr/>
        </p:nvSpPr>
        <p:spPr>
          <a:xfrm>
            <a:off x="10268712" y="4174236"/>
            <a:ext cx="237744" cy="237744"/>
          </a:xfrm>
          <a:prstGeom prst="rect">
            <a:avLst/>
          </a:prstGeom>
          <a:solidFill>
            <a:srgbClr val="E4E7EB"/>
          </a:solidFill>
          <a:ln w="12700">
            <a:solidFill>
              <a:srgbClr val="333333"/>
            </a:solidFill>
            <a:prstDash val="solid"/>
          </a:ln>
        </p:spPr>
      </p:sp>
      <p:sp>
        <p:nvSpPr>
          <p:cNvPr id="119" name="Shape 117"/>
          <p:cNvSpPr/>
          <p:nvPr/>
        </p:nvSpPr>
        <p:spPr>
          <a:xfrm>
            <a:off x="10575036" y="4174236"/>
            <a:ext cx="237744" cy="237744"/>
          </a:xfrm>
          <a:prstGeom prst="rect">
            <a:avLst/>
          </a:prstGeom>
          <a:solidFill>
            <a:srgbClr val="E4E7EB"/>
          </a:solidFill>
          <a:ln w="12700">
            <a:solidFill>
              <a:srgbClr val="333333"/>
            </a:solidFill>
            <a:prstDash val="solid"/>
          </a:ln>
        </p:spPr>
      </p:sp>
      <p:sp>
        <p:nvSpPr>
          <p:cNvPr id="120" name="Shape 118"/>
          <p:cNvSpPr/>
          <p:nvPr/>
        </p:nvSpPr>
        <p:spPr>
          <a:xfrm>
            <a:off x="10881360" y="4174236"/>
            <a:ext cx="237744" cy="237744"/>
          </a:xfrm>
          <a:prstGeom prst="rect">
            <a:avLst/>
          </a:prstGeom>
          <a:solidFill>
            <a:srgbClr val="E4E7EB"/>
          </a:solidFill>
          <a:ln w="12700">
            <a:solidFill>
              <a:srgbClr val="333333"/>
            </a:solidFill>
            <a:prstDash val="solid"/>
          </a:ln>
        </p:spPr>
      </p:sp>
      <p:sp>
        <p:nvSpPr>
          <p:cNvPr id="121" name="Shape 119"/>
          <p:cNvSpPr/>
          <p:nvPr/>
        </p:nvSpPr>
        <p:spPr>
          <a:xfrm>
            <a:off x="11187684" y="4174236"/>
            <a:ext cx="237744" cy="237744"/>
          </a:xfrm>
          <a:prstGeom prst="rect">
            <a:avLst/>
          </a:prstGeom>
          <a:solidFill>
            <a:srgbClr val="E4E7EB"/>
          </a:solidFill>
          <a:ln w="12700">
            <a:solidFill>
              <a:srgbClr val="333333"/>
            </a:solidFill>
            <a:prstDash val="solid"/>
          </a:ln>
        </p:spPr>
      </p:sp>
      <p:sp>
        <p:nvSpPr>
          <p:cNvPr id="122" name="Shape 120"/>
          <p:cNvSpPr/>
          <p:nvPr/>
        </p:nvSpPr>
        <p:spPr>
          <a:xfrm>
            <a:off x="7818120" y="4480560"/>
            <a:ext cx="237744" cy="237744"/>
          </a:xfrm>
          <a:prstGeom prst="rect">
            <a:avLst/>
          </a:prstGeom>
          <a:solidFill>
            <a:srgbClr val="E4E7EB"/>
          </a:solidFill>
          <a:ln w="12700">
            <a:solidFill>
              <a:srgbClr val="333333"/>
            </a:solidFill>
            <a:prstDash val="solid"/>
          </a:ln>
        </p:spPr>
      </p:sp>
      <p:sp>
        <p:nvSpPr>
          <p:cNvPr id="123" name="Shape 121"/>
          <p:cNvSpPr/>
          <p:nvPr/>
        </p:nvSpPr>
        <p:spPr>
          <a:xfrm>
            <a:off x="8124444" y="4480560"/>
            <a:ext cx="237744" cy="237744"/>
          </a:xfrm>
          <a:prstGeom prst="rect">
            <a:avLst/>
          </a:prstGeom>
          <a:solidFill>
            <a:srgbClr val="E4E7EB"/>
          </a:solidFill>
          <a:ln w="12700">
            <a:solidFill>
              <a:srgbClr val="333333"/>
            </a:solidFill>
            <a:prstDash val="solid"/>
          </a:ln>
        </p:spPr>
      </p:sp>
      <p:sp>
        <p:nvSpPr>
          <p:cNvPr id="124" name="Shape 122"/>
          <p:cNvSpPr/>
          <p:nvPr/>
        </p:nvSpPr>
        <p:spPr>
          <a:xfrm>
            <a:off x="8430768" y="4480560"/>
            <a:ext cx="237744" cy="237744"/>
          </a:xfrm>
          <a:prstGeom prst="rect">
            <a:avLst/>
          </a:prstGeom>
          <a:solidFill>
            <a:srgbClr val="E4E7EB"/>
          </a:solidFill>
          <a:ln w="12700">
            <a:solidFill>
              <a:srgbClr val="333333"/>
            </a:solidFill>
            <a:prstDash val="solid"/>
          </a:ln>
        </p:spPr>
      </p:sp>
      <p:sp>
        <p:nvSpPr>
          <p:cNvPr id="125" name="Shape 123"/>
          <p:cNvSpPr/>
          <p:nvPr/>
        </p:nvSpPr>
        <p:spPr>
          <a:xfrm>
            <a:off x="8737092" y="4480560"/>
            <a:ext cx="237744" cy="237744"/>
          </a:xfrm>
          <a:prstGeom prst="rect">
            <a:avLst/>
          </a:prstGeom>
          <a:solidFill>
            <a:srgbClr val="E4E7EB"/>
          </a:solidFill>
          <a:ln w="12700">
            <a:solidFill>
              <a:srgbClr val="333333"/>
            </a:solidFill>
            <a:prstDash val="solid"/>
          </a:ln>
        </p:spPr>
      </p:sp>
      <p:sp>
        <p:nvSpPr>
          <p:cNvPr id="126" name="Shape 124"/>
          <p:cNvSpPr/>
          <p:nvPr/>
        </p:nvSpPr>
        <p:spPr>
          <a:xfrm>
            <a:off x="9043416" y="4480560"/>
            <a:ext cx="237744" cy="237744"/>
          </a:xfrm>
          <a:prstGeom prst="rect">
            <a:avLst/>
          </a:prstGeom>
          <a:solidFill>
            <a:srgbClr val="E4E7EB"/>
          </a:solidFill>
          <a:ln w="12700">
            <a:solidFill>
              <a:srgbClr val="333333"/>
            </a:solidFill>
            <a:prstDash val="solid"/>
          </a:ln>
        </p:spPr>
      </p:sp>
      <p:sp>
        <p:nvSpPr>
          <p:cNvPr id="127" name="Shape 125"/>
          <p:cNvSpPr/>
          <p:nvPr/>
        </p:nvSpPr>
        <p:spPr>
          <a:xfrm>
            <a:off x="9349740" y="4480560"/>
            <a:ext cx="237744" cy="237744"/>
          </a:xfrm>
          <a:prstGeom prst="rect">
            <a:avLst/>
          </a:prstGeom>
          <a:solidFill>
            <a:srgbClr val="E4E7EB"/>
          </a:solidFill>
          <a:ln w="12700">
            <a:solidFill>
              <a:srgbClr val="333333"/>
            </a:solidFill>
            <a:prstDash val="solid"/>
          </a:ln>
        </p:spPr>
      </p:sp>
      <p:sp>
        <p:nvSpPr>
          <p:cNvPr id="128" name="Shape 126"/>
          <p:cNvSpPr/>
          <p:nvPr/>
        </p:nvSpPr>
        <p:spPr>
          <a:xfrm>
            <a:off x="9656064" y="4480560"/>
            <a:ext cx="237744" cy="237744"/>
          </a:xfrm>
          <a:prstGeom prst="rect">
            <a:avLst/>
          </a:prstGeom>
          <a:solidFill>
            <a:srgbClr val="E4E7EB"/>
          </a:solidFill>
          <a:ln w="12700">
            <a:solidFill>
              <a:srgbClr val="333333"/>
            </a:solidFill>
            <a:prstDash val="solid"/>
          </a:ln>
        </p:spPr>
      </p:sp>
      <p:sp>
        <p:nvSpPr>
          <p:cNvPr id="129" name="Shape 127"/>
          <p:cNvSpPr/>
          <p:nvPr/>
        </p:nvSpPr>
        <p:spPr>
          <a:xfrm>
            <a:off x="9962388" y="4480560"/>
            <a:ext cx="237744" cy="237744"/>
          </a:xfrm>
          <a:prstGeom prst="rect">
            <a:avLst/>
          </a:prstGeom>
          <a:solidFill>
            <a:srgbClr val="E4E7EB"/>
          </a:solidFill>
          <a:ln w="12700">
            <a:solidFill>
              <a:srgbClr val="333333"/>
            </a:solidFill>
            <a:prstDash val="solid"/>
          </a:ln>
        </p:spPr>
      </p:sp>
      <p:sp>
        <p:nvSpPr>
          <p:cNvPr id="130" name="Shape 128"/>
          <p:cNvSpPr/>
          <p:nvPr/>
        </p:nvSpPr>
        <p:spPr>
          <a:xfrm>
            <a:off x="10268712" y="4480560"/>
            <a:ext cx="237744" cy="237744"/>
          </a:xfrm>
          <a:prstGeom prst="rect">
            <a:avLst/>
          </a:prstGeom>
          <a:solidFill>
            <a:srgbClr val="E4E7EB"/>
          </a:solidFill>
          <a:ln w="12700">
            <a:solidFill>
              <a:srgbClr val="333333"/>
            </a:solidFill>
            <a:prstDash val="solid"/>
          </a:ln>
        </p:spPr>
      </p:sp>
      <p:sp>
        <p:nvSpPr>
          <p:cNvPr id="131" name="Shape 129"/>
          <p:cNvSpPr/>
          <p:nvPr/>
        </p:nvSpPr>
        <p:spPr>
          <a:xfrm>
            <a:off x="10575036" y="4480560"/>
            <a:ext cx="237744" cy="237744"/>
          </a:xfrm>
          <a:prstGeom prst="rect">
            <a:avLst/>
          </a:prstGeom>
          <a:solidFill>
            <a:srgbClr val="E4E7EB"/>
          </a:solidFill>
          <a:ln w="12700">
            <a:solidFill>
              <a:srgbClr val="333333"/>
            </a:solidFill>
            <a:prstDash val="solid"/>
          </a:ln>
        </p:spPr>
      </p:sp>
      <p:sp>
        <p:nvSpPr>
          <p:cNvPr id="132" name="Shape 130"/>
          <p:cNvSpPr/>
          <p:nvPr/>
        </p:nvSpPr>
        <p:spPr>
          <a:xfrm>
            <a:off x="10881360" y="4480560"/>
            <a:ext cx="237744" cy="237744"/>
          </a:xfrm>
          <a:prstGeom prst="rect">
            <a:avLst/>
          </a:prstGeom>
          <a:solidFill>
            <a:srgbClr val="E4E7EB"/>
          </a:solidFill>
          <a:ln w="12700">
            <a:solidFill>
              <a:srgbClr val="333333"/>
            </a:solidFill>
            <a:prstDash val="solid"/>
          </a:ln>
        </p:spPr>
      </p:sp>
      <p:sp>
        <p:nvSpPr>
          <p:cNvPr id="133" name="Shape 131"/>
          <p:cNvSpPr/>
          <p:nvPr/>
        </p:nvSpPr>
        <p:spPr>
          <a:xfrm>
            <a:off x="11187684" y="4480560"/>
            <a:ext cx="237744" cy="237744"/>
          </a:xfrm>
          <a:prstGeom prst="rect">
            <a:avLst/>
          </a:prstGeom>
          <a:solidFill>
            <a:srgbClr val="E4E7EB"/>
          </a:solidFill>
          <a:ln w="12700">
            <a:solidFill>
              <a:srgbClr val="333333"/>
            </a:solidFill>
            <a:prstDash val="solid"/>
          </a:ln>
        </p:spPr>
      </p:sp>
      <p:sp>
        <p:nvSpPr>
          <p:cNvPr id="134" name="Shape 132"/>
          <p:cNvSpPr/>
          <p:nvPr/>
        </p:nvSpPr>
        <p:spPr>
          <a:xfrm>
            <a:off x="7818120" y="4786884"/>
            <a:ext cx="237744" cy="237744"/>
          </a:xfrm>
          <a:prstGeom prst="rect">
            <a:avLst/>
          </a:prstGeom>
          <a:solidFill>
            <a:srgbClr val="E4E7EB"/>
          </a:solidFill>
          <a:ln w="12700">
            <a:solidFill>
              <a:srgbClr val="333333"/>
            </a:solidFill>
            <a:prstDash val="solid"/>
          </a:ln>
        </p:spPr>
      </p:sp>
      <p:sp>
        <p:nvSpPr>
          <p:cNvPr id="135" name="Shape 133"/>
          <p:cNvSpPr/>
          <p:nvPr/>
        </p:nvSpPr>
        <p:spPr>
          <a:xfrm>
            <a:off x="8124444" y="4786884"/>
            <a:ext cx="237744" cy="237744"/>
          </a:xfrm>
          <a:prstGeom prst="rect">
            <a:avLst/>
          </a:prstGeom>
          <a:solidFill>
            <a:srgbClr val="E4E7EB"/>
          </a:solidFill>
          <a:ln w="12700">
            <a:solidFill>
              <a:srgbClr val="333333"/>
            </a:solidFill>
            <a:prstDash val="solid"/>
          </a:ln>
        </p:spPr>
      </p:sp>
      <p:sp>
        <p:nvSpPr>
          <p:cNvPr id="136" name="Shape 134"/>
          <p:cNvSpPr/>
          <p:nvPr/>
        </p:nvSpPr>
        <p:spPr>
          <a:xfrm>
            <a:off x="8430768" y="4786884"/>
            <a:ext cx="237744" cy="237744"/>
          </a:xfrm>
          <a:prstGeom prst="rect">
            <a:avLst/>
          </a:prstGeom>
          <a:solidFill>
            <a:srgbClr val="E4E7EB"/>
          </a:solidFill>
          <a:ln w="12700">
            <a:solidFill>
              <a:srgbClr val="333333"/>
            </a:solidFill>
            <a:prstDash val="solid"/>
          </a:ln>
        </p:spPr>
      </p:sp>
      <p:sp>
        <p:nvSpPr>
          <p:cNvPr id="137" name="Shape 135"/>
          <p:cNvSpPr/>
          <p:nvPr/>
        </p:nvSpPr>
        <p:spPr>
          <a:xfrm>
            <a:off x="8737092" y="4786884"/>
            <a:ext cx="237744" cy="237744"/>
          </a:xfrm>
          <a:prstGeom prst="rect">
            <a:avLst/>
          </a:prstGeom>
          <a:solidFill>
            <a:srgbClr val="E4E7EB"/>
          </a:solidFill>
          <a:ln w="12700">
            <a:solidFill>
              <a:srgbClr val="333333"/>
            </a:solidFill>
            <a:prstDash val="solid"/>
          </a:ln>
        </p:spPr>
      </p:sp>
      <p:sp>
        <p:nvSpPr>
          <p:cNvPr id="138" name="Shape 136"/>
          <p:cNvSpPr/>
          <p:nvPr/>
        </p:nvSpPr>
        <p:spPr>
          <a:xfrm>
            <a:off x="9043416" y="4786884"/>
            <a:ext cx="237744" cy="237744"/>
          </a:xfrm>
          <a:prstGeom prst="rect">
            <a:avLst/>
          </a:prstGeom>
          <a:solidFill>
            <a:srgbClr val="E4E7EB"/>
          </a:solidFill>
          <a:ln w="12700">
            <a:solidFill>
              <a:srgbClr val="333333"/>
            </a:solidFill>
            <a:prstDash val="solid"/>
          </a:ln>
        </p:spPr>
      </p:sp>
      <p:sp>
        <p:nvSpPr>
          <p:cNvPr id="139" name="Shape 137"/>
          <p:cNvSpPr/>
          <p:nvPr/>
        </p:nvSpPr>
        <p:spPr>
          <a:xfrm>
            <a:off x="9349740" y="4786884"/>
            <a:ext cx="237744" cy="237744"/>
          </a:xfrm>
          <a:prstGeom prst="rect">
            <a:avLst/>
          </a:prstGeom>
          <a:solidFill>
            <a:srgbClr val="E4E7EB"/>
          </a:solidFill>
          <a:ln w="12700">
            <a:solidFill>
              <a:srgbClr val="333333"/>
            </a:solidFill>
            <a:prstDash val="solid"/>
          </a:ln>
        </p:spPr>
      </p:sp>
      <p:sp>
        <p:nvSpPr>
          <p:cNvPr id="140" name="Shape 138"/>
          <p:cNvSpPr/>
          <p:nvPr/>
        </p:nvSpPr>
        <p:spPr>
          <a:xfrm>
            <a:off x="9656064" y="4786884"/>
            <a:ext cx="237744" cy="237744"/>
          </a:xfrm>
          <a:prstGeom prst="rect">
            <a:avLst/>
          </a:prstGeom>
          <a:solidFill>
            <a:srgbClr val="E4E7EB"/>
          </a:solidFill>
          <a:ln w="12700">
            <a:solidFill>
              <a:srgbClr val="333333"/>
            </a:solidFill>
            <a:prstDash val="solid"/>
          </a:ln>
        </p:spPr>
      </p:sp>
      <p:sp>
        <p:nvSpPr>
          <p:cNvPr id="141" name="Shape 139"/>
          <p:cNvSpPr/>
          <p:nvPr/>
        </p:nvSpPr>
        <p:spPr>
          <a:xfrm>
            <a:off x="9962388" y="4786884"/>
            <a:ext cx="237744" cy="237744"/>
          </a:xfrm>
          <a:prstGeom prst="rect">
            <a:avLst/>
          </a:prstGeom>
          <a:solidFill>
            <a:srgbClr val="E4E7EB"/>
          </a:solidFill>
          <a:ln w="12700">
            <a:solidFill>
              <a:srgbClr val="333333"/>
            </a:solidFill>
            <a:prstDash val="solid"/>
          </a:ln>
        </p:spPr>
      </p:sp>
      <p:sp>
        <p:nvSpPr>
          <p:cNvPr id="142" name="Shape 140"/>
          <p:cNvSpPr/>
          <p:nvPr/>
        </p:nvSpPr>
        <p:spPr>
          <a:xfrm>
            <a:off x="10268712" y="4786884"/>
            <a:ext cx="237744" cy="237744"/>
          </a:xfrm>
          <a:prstGeom prst="rect">
            <a:avLst/>
          </a:prstGeom>
          <a:solidFill>
            <a:srgbClr val="E4E7EB"/>
          </a:solidFill>
          <a:ln w="12700">
            <a:solidFill>
              <a:srgbClr val="333333"/>
            </a:solidFill>
            <a:prstDash val="solid"/>
          </a:ln>
        </p:spPr>
      </p:sp>
      <p:sp>
        <p:nvSpPr>
          <p:cNvPr id="143" name="Shape 141"/>
          <p:cNvSpPr/>
          <p:nvPr/>
        </p:nvSpPr>
        <p:spPr>
          <a:xfrm>
            <a:off x="10575036" y="4786884"/>
            <a:ext cx="237744" cy="237744"/>
          </a:xfrm>
          <a:prstGeom prst="rect">
            <a:avLst/>
          </a:prstGeom>
          <a:solidFill>
            <a:srgbClr val="E4E7EB"/>
          </a:solidFill>
          <a:ln w="12700">
            <a:solidFill>
              <a:srgbClr val="333333"/>
            </a:solidFill>
            <a:prstDash val="solid"/>
          </a:ln>
        </p:spPr>
      </p:sp>
      <p:sp>
        <p:nvSpPr>
          <p:cNvPr id="144" name="Shape 142"/>
          <p:cNvSpPr/>
          <p:nvPr/>
        </p:nvSpPr>
        <p:spPr>
          <a:xfrm>
            <a:off x="10881360" y="4786884"/>
            <a:ext cx="237744" cy="237744"/>
          </a:xfrm>
          <a:prstGeom prst="rect">
            <a:avLst/>
          </a:prstGeom>
          <a:solidFill>
            <a:srgbClr val="E4E7EB"/>
          </a:solidFill>
          <a:ln w="12700">
            <a:solidFill>
              <a:srgbClr val="333333"/>
            </a:solidFill>
            <a:prstDash val="solid"/>
          </a:ln>
        </p:spPr>
      </p:sp>
      <p:sp>
        <p:nvSpPr>
          <p:cNvPr id="145" name="Shape 143"/>
          <p:cNvSpPr/>
          <p:nvPr/>
        </p:nvSpPr>
        <p:spPr>
          <a:xfrm>
            <a:off x="11187684" y="4786884"/>
            <a:ext cx="237744" cy="237744"/>
          </a:xfrm>
          <a:prstGeom prst="rect">
            <a:avLst/>
          </a:prstGeom>
          <a:solidFill>
            <a:srgbClr val="E4E7EB"/>
          </a:solidFill>
          <a:ln w="12700">
            <a:solidFill>
              <a:srgbClr val="333333"/>
            </a:solidFill>
            <a:prstDash val="solid"/>
          </a:ln>
        </p:spPr>
      </p:sp>
      <p:sp>
        <p:nvSpPr>
          <p:cNvPr id="146" name="Text 144"/>
          <p:cNvSpPr txBox="1"/>
          <p:nvPr/>
        </p:nvSpPr>
        <p:spPr>
          <a:xfrm>
            <a:off x="6537960" y="1371600"/>
            <a:ext cx="1188720" cy="228600"/>
          </a:xfrm>
          <a:prstGeom prst="rect">
            <a:avLst/>
          </a:prstGeom>
          <a:noFill/>
          <a:ln/>
        </p:spPr>
        <p:txBody>
          <a:bodyPr wrap="square" lIns="0" tIns="0" rIns="0" bIns="0" rtlCol="0" anchor="ctr"/>
          <a:lstStyle/>
          <a:p>
            <a:pPr algn="r" indent="0" marL="0">
              <a:buNone/>
            </a:pPr>
            <a:r>
              <a:rPr lang="en-US" sz="900" dirty="0">
                <a:solidFill>
                  <a:srgbClr val="6B7480"/>
                </a:solidFill>
                <a:latin typeface="Calibri" pitchFamily="34" charset="0"/>
                <a:ea typeface="Calibri" pitchFamily="34" charset="-122"/>
                <a:cs typeface="Calibri" pitchFamily="34" charset="-120"/>
              </a:rPr>
              <a:t>layer 0</a:t>
            </a:r>
            <a:endParaRPr lang="en-US" sz="900" dirty="0"/>
          </a:p>
        </p:txBody>
      </p:sp>
      <p:sp>
        <p:nvSpPr>
          <p:cNvPr id="147" name="Text 145"/>
          <p:cNvSpPr txBox="1"/>
          <p:nvPr/>
        </p:nvSpPr>
        <p:spPr>
          <a:xfrm>
            <a:off x="6537960" y="4956048"/>
            <a:ext cx="1188720" cy="228600"/>
          </a:xfrm>
          <a:prstGeom prst="rect">
            <a:avLst/>
          </a:prstGeom>
          <a:noFill/>
          <a:ln/>
        </p:spPr>
        <p:txBody>
          <a:bodyPr wrap="square" lIns="0" tIns="0" rIns="0" bIns="0" rtlCol="0" anchor="ctr"/>
          <a:lstStyle/>
          <a:p>
            <a:pPr algn="r" indent="0" marL="0">
              <a:buNone/>
            </a:pPr>
            <a:r>
              <a:rPr lang="en-US" sz="900" dirty="0">
                <a:solidFill>
                  <a:srgbClr val="6B7480"/>
                </a:solidFill>
                <a:latin typeface="Calibri" pitchFamily="34" charset="0"/>
                <a:ea typeface="Calibri" pitchFamily="34" charset="-122"/>
                <a:cs typeface="Calibri" pitchFamily="34" charset="-120"/>
              </a:rPr>
              <a:t>layer 11</a:t>
            </a:r>
            <a:endParaRPr lang="en-US" sz="900" dirty="0"/>
          </a:p>
        </p:txBody>
      </p:sp>
      <p:sp>
        <p:nvSpPr>
          <p:cNvPr id="148" name="Text 146"/>
          <p:cNvSpPr txBox="1"/>
          <p:nvPr/>
        </p:nvSpPr>
        <p:spPr>
          <a:xfrm>
            <a:off x="7818120" y="5285232"/>
            <a:ext cx="3703320" cy="228600"/>
          </a:xfrm>
          <a:prstGeom prst="rect">
            <a:avLst/>
          </a:prstGeom>
          <a:noFill/>
          <a:ln/>
        </p:spPr>
        <p:txBody>
          <a:bodyPr wrap="square" lIns="0" tIns="0" rIns="0" bIns="0" rtlCol="0" anchor="ctr"/>
          <a:lstStyle/>
          <a:p>
            <a:pPr algn="ctr" indent="0" marL="0">
              <a:buNone/>
            </a:pPr>
            <a:r>
              <a:rPr lang="en-US" sz="900" dirty="0">
                <a:solidFill>
                  <a:srgbClr val="6B7480"/>
                </a:solidFill>
                <a:latin typeface="Calibri" pitchFamily="34" charset="0"/>
                <a:ea typeface="Calibri" pitchFamily="34" charset="-122"/>
                <a:cs typeface="Calibri" pitchFamily="34" charset="-120"/>
              </a:rPr>
              <a:t>12 attention heads</a:t>
            </a:r>
            <a:endParaRPr lang="en-US" sz="900" dirty="0"/>
          </a:p>
        </p:txBody>
      </p:sp>
      <p:sp>
        <p:nvSpPr>
          <p:cNvPr id="149" name="Text 147"/>
          <p:cNvSpPr txBox="1"/>
          <p:nvPr/>
        </p:nvSpPr>
        <p:spPr>
          <a:xfrm>
            <a:off x="566928" y="1874520"/>
            <a:ext cx="5943600" cy="1371600"/>
          </a:xfrm>
          <a:prstGeom prst="rect">
            <a:avLst/>
          </a:prstGeom>
          <a:noFill/>
          <a:ln/>
        </p:spPr>
        <p:txBody>
          <a:bodyPr wrap="square" lIns="0" tIns="0" rIns="0" bIns="0" rtlCol="0" anchor="ctr"/>
          <a:lstStyle/>
          <a:p>
            <a:pPr indent="0" marL="0">
              <a:lnSpc>
                <a:spcPct val="98000"/>
              </a:lnSpc>
              <a:buNone/>
            </a:pPr>
            <a:r>
              <a:rPr lang="en-US" sz="3200" b="1" dirty="0">
                <a:solidFill>
                  <a:srgbClr val="1F2933"/>
                </a:solidFill>
                <a:latin typeface="Cambria" pitchFamily="34" charset="0"/>
                <a:ea typeface="Cambria" pitchFamily="34" charset="-122"/>
                <a:cs typeface="Cambria" pitchFamily="34" charset="-120"/>
              </a:rPr>
              <a:t>Dynamic Transformers with</a:t>
            </a:r>
            <a:endParaRPr lang="en-US" sz="3200" dirty="0"/>
          </a:p>
          <a:p>
            <a:pPr indent="0" marL="0">
              <a:lnSpc>
                <a:spcPct val="98000"/>
              </a:lnSpc>
              <a:buNone/>
            </a:pPr>
            <a:r>
              <a:rPr lang="en-US" sz="3200" b="1" dirty="0">
                <a:solidFill>
                  <a:srgbClr val="1F2933"/>
                </a:solidFill>
                <a:latin typeface="Cambria" pitchFamily="34" charset="0"/>
                <a:ea typeface="Cambria" pitchFamily="34" charset="-122"/>
                <a:cs typeface="Cambria" pitchFamily="34" charset="-120"/>
              </a:rPr>
              <a:t>Reinforcement Learning</a:t>
            </a:r>
            <a:endParaRPr lang="en-US" sz="3200" dirty="0"/>
          </a:p>
        </p:txBody>
      </p:sp>
      <p:sp>
        <p:nvSpPr>
          <p:cNvPr id="150" name="Text 148"/>
          <p:cNvSpPr txBox="1"/>
          <p:nvPr/>
        </p:nvSpPr>
        <p:spPr>
          <a:xfrm>
            <a:off x="566928" y="3310128"/>
            <a:ext cx="5760720" cy="329184"/>
          </a:xfrm>
          <a:prstGeom prst="rect">
            <a:avLst/>
          </a:prstGeom>
          <a:noFill/>
          <a:ln/>
        </p:spPr>
        <p:txBody>
          <a:bodyPr wrap="square" lIns="0" tIns="0" rIns="0" bIns="0" rtlCol="0" anchor="ctr"/>
          <a:lstStyle/>
          <a:p>
            <a:pPr indent="0" marL="0">
              <a:buNone/>
            </a:pPr>
            <a:r>
              <a:rPr lang="en-US" sz="1600" i="1" dirty="0">
                <a:solidFill>
                  <a:srgbClr val="6B7480"/>
                </a:solidFill>
                <a:latin typeface="Calibri" pitchFamily="34" charset="0"/>
                <a:ea typeface="Calibri" pitchFamily="34" charset="-122"/>
                <a:cs typeface="Calibri" pitchFamily="34" charset="-120"/>
              </a:rPr>
              <a:t>Improving sample-based architecture selection</a:t>
            </a:r>
            <a:endParaRPr lang="en-US" sz="1600" dirty="0"/>
          </a:p>
        </p:txBody>
      </p:sp>
      <p:sp>
        <p:nvSpPr>
          <p:cNvPr id="151" name="Text 149"/>
          <p:cNvSpPr txBox="1"/>
          <p:nvPr/>
        </p:nvSpPr>
        <p:spPr>
          <a:xfrm>
            <a:off x="566928" y="4041648"/>
            <a:ext cx="5760720" cy="868680"/>
          </a:xfrm>
          <a:prstGeom prst="rect">
            <a:avLst/>
          </a:prstGeom>
          <a:noFill/>
          <a:ln/>
        </p:spPr>
        <p:txBody>
          <a:bodyPr wrap="square" lIns="0" tIns="0" rIns="0" bIns="0" rtlCol="0" anchor="ctr"/>
          <a:lstStyle/>
          <a:p>
            <a:pPr indent="0" marL="0">
              <a:lnSpc>
                <a:spcPct val="125000"/>
              </a:lnSpc>
              <a:buNone/>
            </a:pPr>
            <a:r>
              <a:rPr lang="en-US" sz="1150" b="1" dirty="0">
                <a:solidFill>
                  <a:srgbClr val="3A4350"/>
                </a:solidFill>
                <a:latin typeface="Calibri" pitchFamily="34" charset="0"/>
                <a:ea typeface="Calibri" pitchFamily="34" charset="-122"/>
                <a:cs typeface="Calibri" pitchFamily="34" charset="-120"/>
              </a:rPr>
              <a:t xml:space="preserve">Meng, Zhang, Chen &amp; Wang (2024). </a:t>
            </a:r>
            <a:pPr indent="0" marL="0">
              <a:lnSpc>
                <a:spcPct val="125000"/>
              </a:lnSpc>
              <a:buNone/>
            </a:pPr>
            <a:r>
              <a:rPr lang="en-US" sz="1150" i="1" dirty="0">
                <a:solidFill>
                  <a:srgbClr val="3A4350"/>
                </a:solidFill>
                <a:latin typeface="Calibri" pitchFamily="34" charset="0"/>
                <a:ea typeface="Calibri" pitchFamily="34" charset="-122"/>
                <a:cs typeface="Calibri" pitchFamily="34" charset="-120"/>
              </a:rPr>
              <a:t xml:space="preserve">Sample-Based Dynamic Hierarchical Transformer with Layer and Head Flexibility via Contextual Bandit. </a:t>
            </a:r>
            <a:pPr indent="0" marL="0">
              <a:lnSpc>
                <a:spcPct val="125000"/>
              </a:lnSpc>
              <a:buNone/>
            </a:pPr>
            <a:r>
              <a:rPr lang="en-US" sz="1150" dirty="0">
                <a:solidFill>
                  <a:srgbClr val="3A4350"/>
                </a:solidFill>
                <a:latin typeface="Calibri" pitchFamily="34" charset="0"/>
                <a:ea typeface="Calibri" pitchFamily="34" charset="-122"/>
                <a:cs typeface="Calibri" pitchFamily="34" charset="-120"/>
              </a:rPr>
              <a:t>Proceedings on Engineering Sciences 6(2), 439–452.</a:t>
            </a:r>
            <a:endParaRPr lang="en-US" sz="1150" dirty="0"/>
          </a:p>
        </p:txBody>
      </p:sp>
      <p:sp>
        <p:nvSpPr>
          <p:cNvPr id="152" name="Text 150"/>
          <p:cNvSpPr txBox="1"/>
          <p:nvPr/>
        </p:nvSpPr>
        <p:spPr>
          <a:xfrm>
            <a:off x="566928" y="5074920"/>
            <a:ext cx="5760720" cy="27432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Jeremy Wizenfeld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Transformers spend the same compute on every input</a:t>
            </a:r>
            <a:endParaRPr lang="en-US" sz="3200" dirty="0"/>
          </a:p>
        </p:txBody>
      </p:sp>
      <p:sp>
        <p:nvSpPr>
          <p:cNvPr id="4" name="Text 2"/>
          <p:cNvSpPr txBox="1"/>
          <p:nvPr/>
        </p:nvSpPr>
        <p:spPr>
          <a:xfrm>
            <a:off x="566928" y="1463040"/>
            <a:ext cx="6035040" cy="950976"/>
          </a:xfrm>
          <a:prstGeom prst="rect">
            <a:avLst/>
          </a:prstGeom>
          <a:noFill/>
          <a:ln/>
        </p:spPr>
        <p:txBody>
          <a:bodyPr wrap="square" lIns="0" tIns="0" rIns="0" bIns="0" rtlCol="0" anchor="ctr"/>
          <a:lstStyle/>
          <a:p>
            <a:pPr indent="0" marL="0">
              <a:lnSpc>
                <a:spcPct val="120000"/>
              </a:lnSpc>
              <a:buNone/>
            </a:pPr>
            <a:r>
              <a:rPr lang="en-US" sz="1500" b="1" dirty="0">
                <a:solidFill>
                  <a:srgbClr val="1F2933"/>
                </a:solidFill>
                <a:latin typeface="Calibri" pitchFamily="34" charset="0"/>
                <a:ea typeface="Calibri" pitchFamily="34" charset="-122"/>
                <a:cs typeface="Calibri" pitchFamily="34" charset="-120"/>
              </a:rPr>
              <a:t xml:space="preserve">A trained Transformer is a fixed budget. </a:t>
            </a:r>
            <a:pPr indent="0" marL="0">
              <a:lnSpc>
                <a:spcPct val="120000"/>
              </a:lnSpc>
              <a:buNone/>
            </a:pPr>
            <a:r>
              <a:rPr lang="en-US" sz="1500" dirty="0">
                <a:solidFill>
                  <a:srgbClr val="3A4350"/>
                </a:solidFill>
                <a:latin typeface="Calibri" pitchFamily="34" charset="0"/>
                <a:ea typeface="Calibri" pitchFamily="34" charset="-122"/>
                <a:cs typeface="Calibri" pitchFamily="34" charset="-120"/>
              </a:rPr>
              <a:t>Every input passes through every layer and every attention head, easy or hard. The cost is set once, by the architecture — never by the input.</a:t>
            </a:r>
            <a:endParaRPr lang="en-US" sz="1500" dirty="0"/>
          </a:p>
        </p:txBody>
      </p:sp>
      <p:sp>
        <p:nvSpPr>
          <p:cNvPr id="5" name="Shape 3"/>
          <p:cNvSpPr/>
          <p:nvPr/>
        </p:nvSpPr>
        <p:spPr>
          <a:xfrm>
            <a:off x="566928" y="2487168"/>
            <a:ext cx="6035040" cy="1463040"/>
          </a:xfrm>
          <a:prstGeom prst="rect">
            <a:avLst/>
          </a:prstGeom>
          <a:solidFill>
            <a:srgbClr val="F8F9FA"/>
          </a:solidFill>
          <a:ln w="9525">
            <a:solidFill>
              <a:srgbClr val="D5DAE0"/>
            </a:solidFill>
            <a:prstDash val="solid"/>
          </a:ln>
        </p:spPr>
      </p:sp>
      <p:sp>
        <p:nvSpPr>
          <p:cNvPr id="6" name="Text 4"/>
          <p:cNvSpPr txBox="1"/>
          <p:nvPr/>
        </p:nvSpPr>
        <p:spPr>
          <a:xfrm>
            <a:off x="822960" y="2724912"/>
            <a:ext cx="5532120" cy="329184"/>
          </a:xfrm>
          <a:prstGeom prst="rect">
            <a:avLst/>
          </a:prstGeom>
          <a:noFill/>
          <a:ln/>
        </p:spPr>
        <p:txBody>
          <a:bodyPr wrap="square" lIns="0" tIns="0" rIns="0" bIns="0" rtlCol="0" anchor="ctr"/>
          <a:lstStyle/>
          <a:p>
            <a:pPr indent="0" marL="0">
              <a:buNone/>
            </a:pPr>
            <a:r>
              <a:rPr lang="en-US" sz="1700" b="1" dirty="0">
                <a:solidFill>
                  <a:srgbClr val="1F2933"/>
                </a:solidFill>
                <a:latin typeface="Cambria" pitchFamily="34" charset="0"/>
                <a:ea typeface="Cambria" pitchFamily="34" charset="-122"/>
                <a:cs typeface="Cambria" pitchFamily="34" charset="-120"/>
              </a:rPr>
              <a:t>"Apple unveils the new iPhone at fall event"</a:t>
            </a:r>
            <a:endParaRPr lang="en-US" sz="1700" dirty="0"/>
          </a:p>
        </p:txBody>
      </p:sp>
      <p:sp>
        <p:nvSpPr>
          <p:cNvPr id="7" name="Text 5"/>
          <p:cNvSpPr txBox="1"/>
          <p:nvPr/>
        </p:nvSpPr>
        <p:spPr>
          <a:xfrm>
            <a:off x="822960" y="3127248"/>
            <a:ext cx="5532120" cy="603504"/>
          </a:xfrm>
          <a:prstGeom prst="rect">
            <a:avLst/>
          </a:prstGeom>
          <a:noFill/>
          <a:ln/>
        </p:spPr>
        <p:txBody>
          <a:bodyPr wrap="square" lIns="0" tIns="0" rIns="0" bIns="0" rtlCol="0" anchor="ctr"/>
          <a:lstStyle/>
          <a:p>
            <a:pPr indent="0" marL="0">
              <a:buNone/>
            </a:pPr>
            <a:r>
              <a:rPr lang="en-US" sz="1300" dirty="0">
                <a:solidFill>
                  <a:srgbClr val="3A4350"/>
                </a:solidFill>
                <a:latin typeface="Calibri" pitchFamily="34" charset="0"/>
                <a:ea typeface="Calibri" pitchFamily="34" charset="-122"/>
                <a:cs typeface="Calibri" pitchFamily="34" charset="-120"/>
              </a:rPr>
              <a:t>Sci/Tech — obvious from the first two words. Still pays for the full network.</a:t>
            </a:r>
            <a:endParaRPr lang="en-US" sz="1300" dirty="0"/>
          </a:p>
        </p:txBody>
      </p:sp>
      <p:sp>
        <p:nvSpPr>
          <p:cNvPr id="8" name="Shape 6"/>
          <p:cNvSpPr/>
          <p:nvPr/>
        </p:nvSpPr>
        <p:spPr>
          <a:xfrm>
            <a:off x="566928" y="4133088"/>
            <a:ext cx="6035040" cy="1463040"/>
          </a:xfrm>
          <a:prstGeom prst="rect">
            <a:avLst/>
          </a:prstGeom>
          <a:solidFill>
            <a:srgbClr val="F8F9FA"/>
          </a:solidFill>
          <a:ln w="9525">
            <a:solidFill>
              <a:srgbClr val="D5DAE0"/>
            </a:solidFill>
            <a:prstDash val="solid"/>
          </a:ln>
        </p:spPr>
      </p:sp>
      <p:sp>
        <p:nvSpPr>
          <p:cNvPr id="9" name="Text 7"/>
          <p:cNvSpPr txBox="1"/>
          <p:nvPr/>
        </p:nvSpPr>
        <p:spPr>
          <a:xfrm>
            <a:off x="822960" y="4370832"/>
            <a:ext cx="5532120" cy="329184"/>
          </a:xfrm>
          <a:prstGeom prst="rect">
            <a:avLst/>
          </a:prstGeom>
          <a:noFill/>
          <a:ln/>
        </p:spPr>
        <p:txBody>
          <a:bodyPr wrap="square" lIns="0" tIns="0" rIns="0" bIns="0" rtlCol="0" anchor="ctr"/>
          <a:lstStyle/>
          <a:p>
            <a:pPr indent="0" marL="0">
              <a:buNone/>
            </a:pPr>
            <a:r>
              <a:rPr lang="en-US" sz="1700" b="1" dirty="0">
                <a:solidFill>
                  <a:srgbClr val="1F2933"/>
                </a:solidFill>
                <a:latin typeface="Cambria" pitchFamily="34" charset="0"/>
                <a:ea typeface="Cambria" pitchFamily="34" charset="-122"/>
                <a:cs typeface="Cambria" pitchFamily="34" charset="-120"/>
              </a:rPr>
              <a:t>"Apple ordered to pay €13bn in EU tax ruling"</a:t>
            </a:r>
            <a:endParaRPr lang="en-US" sz="1700" dirty="0"/>
          </a:p>
        </p:txBody>
      </p:sp>
      <p:sp>
        <p:nvSpPr>
          <p:cNvPr id="10" name="Text 8"/>
          <p:cNvSpPr txBox="1"/>
          <p:nvPr/>
        </p:nvSpPr>
        <p:spPr>
          <a:xfrm>
            <a:off x="822960" y="4773168"/>
            <a:ext cx="5532120" cy="603504"/>
          </a:xfrm>
          <a:prstGeom prst="rect">
            <a:avLst/>
          </a:prstGeom>
          <a:noFill/>
          <a:ln/>
        </p:spPr>
        <p:txBody>
          <a:bodyPr wrap="square" lIns="0" tIns="0" rIns="0" bIns="0" rtlCol="0" anchor="ctr"/>
          <a:lstStyle/>
          <a:p>
            <a:pPr indent="0" marL="0">
              <a:buNone/>
            </a:pPr>
            <a:r>
              <a:rPr lang="en-US" sz="1300" dirty="0">
                <a:solidFill>
                  <a:srgbClr val="3A4350"/>
                </a:solidFill>
                <a:latin typeface="Calibri" pitchFamily="34" charset="0"/>
                <a:ea typeface="Calibri" pitchFamily="34" charset="-122"/>
                <a:cs typeface="Calibri" pitchFamily="34" charset="-120"/>
              </a:rPr>
              <a:t>Business? World? Sci/Tech? Same first word — but you have to read the whole sentence. Same budget as above.</a:t>
            </a:r>
            <a:endParaRPr lang="en-US" sz="1300" dirty="0"/>
          </a:p>
        </p:txBody>
      </p:sp>
      <p:sp>
        <p:nvSpPr>
          <p:cNvPr id="11" name="Text 9"/>
          <p:cNvSpPr txBox="1"/>
          <p:nvPr/>
        </p:nvSpPr>
        <p:spPr>
          <a:xfrm>
            <a:off x="6995160" y="1517904"/>
            <a:ext cx="4663440" cy="1170432"/>
          </a:xfrm>
          <a:prstGeom prst="rect">
            <a:avLst/>
          </a:prstGeom>
          <a:noFill/>
          <a:ln/>
        </p:spPr>
        <p:txBody>
          <a:bodyPr wrap="square" lIns="0" tIns="0" rIns="0" bIns="0" rtlCol="0" anchor="ctr"/>
          <a:lstStyle/>
          <a:p>
            <a:pPr algn="ctr" indent="0" marL="0">
              <a:buNone/>
            </a:pPr>
            <a:r>
              <a:rPr lang="en-US" sz="6400" b="1" dirty="0">
                <a:solidFill>
                  <a:srgbClr val="9A3B3B"/>
                </a:solidFill>
                <a:latin typeface="Cambria" pitchFamily="34" charset="0"/>
                <a:ea typeface="Cambria" pitchFamily="34" charset="-122"/>
                <a:cs typeface="Cambria" pitchFamily="34" charset="-120"/>
              </a:rPr>
              <a:t>L × H</a:t>
            </a:r>
            <a:endParaRPr lang="en-US" sz="6400" dirty="0"/>
          </a:p>
        </p:txBody>
      </p:sp>
      <p:sp>
        <p:nvSpPr>
          <p:cNvPr id="12" name="Text 10"/>
          <p:cNvSpPr txBox="1"/>
          <p:nvPr/>
        </p:nvSpPr>
        <p:spPr>
          <a:xfrm>
            <a:off x="6995160" y="2724912"/>
            <a:ext cx="4663440" cy="640080"/>
          </a:xfrm>
          <a:prstGeom prst="rect">
            <a:avLst/>
          </a:prstGeom>
          <a:noFill/>
          <a:ln/>
        </p:spPr>
        <p:txBody>
          <a:bodyPr wrap="square" lIns="0" tIns="0" rIns="0" bIns="0" rtlCol="0" anchor="ctr"/>
          <a:lstStyle/>
          <a:p>
            <a:pPr algn="ctr" indent="0" marL="0">
              <a:lnSpc>
                <a:spcPct val="115000"/>
              </a:lnSpc>
              <a:buNone/>
            </a:pPr>
            <a:r>
              <a:rPr lang="en-US" sz="1300" dirty="0">
                <a:solidFill>
                  <a:srgbClr val="6B7480"/>
                </a:solidFill>
                <a:latin typeface="Calibri" pitchFamily="34" charset="0"/>
                <a:ea typeface="Calibri" pitchFamily="34" charset="-122"/>
                <a:cs typeface="Calibri" pitchFamily="34" charset="-120"/>
              </a:rPr>
              <a:t>layers × heads, computed for every input,</a:t>
            </a:r>
            <a:endParaRPr lang="en-US" sz="1300" dirty="0"/>
          </a:p>
          <a:p>
            <a:pPr algn="ctr" indent="0" marL="0">
              <a:lnSpc>
                <a:spcPct val="115000"/>
              </a:lnSpc>
              <a:buNone/>
            </a:pPr>
            <a:r>
              <a:rPr lang="en-US" sz="1300" dirty="0">
                <a:solidFill>
                  <a:srgbClr val="6B7480"/>
                </a:solidFill>
                <a:latin typeface="Calibri" pitchFamily="34" charset="0"/>
                <a:ea typeface="Calibri" pitchFamily="34" charset="-122"/>
                <a:cs typeface="Calibri" pitchFamily="34" charset="-120"/>
              </a:rPr>
              <a:t>regardless of how hard it is</a:t>
            </a:r>
            <a:endParaRPr lang="en-US" sz="1300" dirty="0"/>
          </a:p>
        </p:txBody>
      </p:sp>
      <p:sp>
        <p:nvSpPr>
          <p:cNvPr id="13" name="Shape 11"/>
          <p:cNvSpPr/>
          <p:nvPr/>
        </p:nvSpPr>
        <p:spPr>
          <a:xfrm>
            <a:off x="8037576" y="3456432"/>
            <a:ext cx="169164" cy="169164"/>
          </a:xfrm>
          <a:prstGeom prst="rect">
            <a:avLst/>
          </a:prstGeom>
          <a:solidFill>
            <a:srgbClr val="9A3B3B"/>
          </a:solidFill>
          <a:ln w="12700">
            <a:solidFill>
              <a:srgbClr val="333333"/>
            </a:solidFill>
            <a:prstDash val="solid"/>
          </a:ln>
        </p:spPr>
      </p:sp>
      <p:sp>
        <p:nvSpPr>
          <p:cNvPr id="14" name="Shape 12"/>
          <p:cNvSpPr/>
          <p:nvPr/>
        </p:nvSpPr>
        <p:spPr>
          <a:xfrm>
            <a:off x="8252460" y="3456432"/>
            <a:ext cx="169164" cy="169164"/>
          </a:xfrm>
          <a:prstGeom prst="rect">
            <a:avLst/>
          </a:prstGeom>
          <a:solidFill>
            <a:srgbClr val="9A3B3B"/>
          </a:solidFill>
          <a:ln w="12700">
            <a:solidFill>
              <a:srgbClr val="333333"/>
            </a:solidFill>
            <a:prstDash val="solid"/>
          </a:ln>
        </p:spPr>
      </p:sp>
      <p:sp>
        <p:nvSpPr>
          <p:cNvPr id="15" name="Shape 13"/>
          <p:cNvSpPr/>
          <p:nvPr/>
        </p:nvSpPr>
        <p:spPr>
          <a:xfrm>
            <a:off x="8467344" y="3456432"/>
            <a:ext cx="169164" cy="169164"/>
          </a:xfrm>
          <a:prstGeom prst="rect">
            <a:avLst/>
          </a:prstGeom>
          <a:solidFill>
            <a:srgbClr val="9A3B3B"/>
          </a:solidFill>
          <a:ln w="12700">
            <a:solidFill>
              <a:srgbClr val="333333"/>
            </a:solidFill>
            <a:prstDash val="solid"/>
          </a:ln>
        </p:spPr>
      </p:sp>
      <p:sp>
        <p:nvSpPr>
          <p:cNvPr id="16" name="Shape 14"/>
          <p:cNvSpPr/>
          <p:nvPr/>
        </p:nvSpPr>
        <p:spPr>
          <a:xfrm>
            <a:off x="8682228" y="3456432"/>
            <a:ext cx="169164" cy="169164"/>
          </a:xfrm>
          <a:prstGeom prst="rect">
            <a:avLst/>
          </a:prstGeom>
          <a:solidFill>
            <a:srgbClr val="9A3B3B"/>
          </a:solidFill>
          <a:ln w="12700">
            <a:solidFill>
              <a:srgbClr val="333333"/>
            </a:solidFill>
            <a:prstDash val="solid"/>
          </a:ln>
        </p:spPr>
      </p:sp>
      <p:sp>
        <p:nvSpPr>
          <p:cNvPr id="17" name="Shape 15"/>
          <p:cNvSpPr/>
          <p:nvPr/>
        </p:nvSpPr>
        <p:spPr>
          <a:xfrm>
            <a:off x="8897112" y="3456432"/>
            <a:ext cx="169164" cy="169164"/>
          </a:xfrm>
          <a:prstGeom prst="rect">
            <a:avLst/>
          </a:prstGeom>
          <a:solidFill>
            <a:srgbClr val="9A3B3B"/>
          </a:solidFill>
          <a:ln w="12700">
            <a:solidFill>
              <a:srgbClr val="333333"/>
            </a:solidFill>
            <a:prstDash val="solid"/>
          </a:ln>
        </p:spPr>
      </p:sp>
      <p:sp>
        <p:nvSpPr>
          <p:cNvPr id="18" name="Shape 16"/>
          <p:cNvSpPr/>
          <p:nvPr/>
        </p:nvSpPr>
        <p:spPr>
          <a:xfrm>
            <a:off x="9111996" y="3456432"/>
            <a:ext cx="169164" cy="169164"/>
          </a:xfrm>
          <a:prstGeom prst="rect">
            <a:avLst/>
          </a:prstGeom>
          <a:solidFill>
            <a:srgbClr val="9A3B3B"/>
          </a:solidFill>
          <a:ln w="12700">
            <a:solidFill>
              <a:srgbClr val="333333"/>
            </a:solidFill>
            <a:prstDash val="solid"/>
          </a:ln>
        </p:spPr>
      </p:sp>
      <p:sp>
        <p:nvSpPr>
          <p:cNvPr id="19" name="Shape 17"/>
          <p:cNvSpPr/>
          <p:nvPr/>
        </p:nvSpPr>
        <p:spPr>
          <a:xfrm>
            <a:off x="9326880" y="3456432"/>
            <a:ext cx="169164" cy="169164"/>
          </a:xfrm>
          <a:prstGeom prst="rect">
            <a:avLst/>
          </a:prstGeom>
          <a:solidFill>
            <a:srgbClr val="9A3B3B"/>
          </a:solidFill>
          <a:ln w="12700">
            <a:solidFill>
              <a:srgbClr val="333333"/>
            </a:solidFill>
            <a:prstDash val="solid"/>
          </a:ln>
        </p:spPr>
      </p:sp>
      <p:sp>
        <p:nvSpPr>
          <p:cNvPr id="20" name="Shape 18"/>
          <p:cNvSpPr/>
          <p:nvPr/>
        </p:nvSpPr>
        <p:spPr>
          <a:xfrm>
            <a:off x="9541764" y="3456432"/>
            <a:ext cx="169164" cy="169164"/>
          </a:xfrm>
          <a:prstGeom prst="rect">
            <a:avLst/>
          </a:prstGeom>
          <a:solidFill>
            <a:srgbClr val="9A3B3B"/>
          </a:solidFill>
          <a:ln w="12700">
            <a:solidFill>
              <a:srgbClr val="333333"/>
            </a:solidFill>
            <a:prstDash val="solid"/>
          </a:ln>
        </p:spPr>
      </p:sp>
      <p:sp>
        <p:nvSpPr>
          <p:cNvPr id="21" name="Shape 19"/>
          <p:cNvSpPr/>
          <p:nvPr/>
        </p:nvSpPr>
        <p:spPr>
          <a:xfrm>
            <a:off x="9756648" y="3456432"/>
            <a:ext cx="169164" cy="169164"/>
          </a:xfrm>
          <a:prstGeom prst="rect">
            <a:avLst/>
          </a:prstGeom>
          <a:solidFill>
            <a:srgbClr val="9A3B3B"/>
          </a:solidFill>
          <a:ln w="12700">
            <a:solidFill>
              <a:srgbClr val="333333"/>
            </a:solidFill>
            <a:prstDash val="solid"/>
          </a:ln>
        </p:spPr>
      </p:sp>
      <p:sp>
        <p:nvSpPr>
          <p:cNvPr id="22" name="Shape 20"/>
          <p:cNvSpPr/>
          <p:nvPr/>
        </p:nvSpPr>
        <p:spPr>
          <a:xfrm>
            <a:off x="9971532" y="3456432"/>
            <a:ext cx="169164" cy="169164"/>
          </a:xfrm>
          <a:prstGeom prst="rect">
            <a:avLst/>
          </a:prstGeom>
          <a:solidFill>
            <a:srgbClr val="9A3B3B"/>
          </a:solidFill>
          <a:ln w="12700">
            <a:solidFill>
              <a:srgbClr val="333333"/>
            </a:solidFill>
            <a:prstDash val="solid"/>
          </a:ln>
        </p:spPr>
      </p:sp>
      <p:sp>
        <p:nvSpPr>
          <p:cNvPr id="23" name="Shape 21"/>
          <p:cNvSpPr/>
          <p:nvPr/>
        </p:nvSpPr>
        <p:spPr>
          <a:xfrm>
            <a:off x="10186416" y="3456432"/>
            <a:ext cx="169164" cy="169164"/>
          </a:xfrm>
          <a:prstGeom prst="rect">
            <a:avLst/>
          </a:prstGeom>
          <a:solidFill>
            <a:srgbClr val="9A3B3B"/>
          </a:solidFill>
          <a:ln w="12700">
            <a:solidFill>
              <a:srgbClr val="333333"/>
            </a:solidFill>
            <a:prstDash val="solid"/>
          </a:ln>
        </p:spPr>
      </p:sp>
      <p:sp>
        <p:nvSpPr>
          <p:cNvPr id="24" name="Shape 22"/>
          <p:cNvSpPr/>
          <p:nvPr/>
        </p:nvSpPr>
        <p:spPr>
          <a:xfrm>
            <a:off x="10401300" y="3456432"/>
            <a:ext cx="169164" cy="169164"/>
          </a:xfrm>
          <a:prstGeom prst="rect">
            <a:avLst/>
          </a:prstGeom>
          <a:solidFill>
            <a:srgbClr val="9A3B3B"/>
          </a:solidFill>
          <a:ln w="12700">
            <a:solidFill>
              <a:srgbClr val="333333"/>
            </a:solidFill>
            <a:prstDash val="solid"/>
          </a:ln>
        </p:spPr>
      </p:sp>
      <p:sp>
        <p:nvSpPr>
          <p:cNvPr id="25" name="Shape 23"/>
          <p:cNvSpPr/>
          <p:nvPr/>
        </p:nvSpPr>
        <p:spPr>
          <a:xfrm>
            <a:off x="8037576" y="3671316"/>
            <a:ext cx="169164" cy="169164"/>
          </a:xfrm>
          <a:prstGeom prst="rect">
            <a:avLst/>
          </a:prstGeom>
          <a:solidFill>
            <a:srgbClr val="9A3B3B"/>
          </a:solidFill>
          <a:ln w="12700">
            <a:solidFill>
              <a:srgbClr val="333333"/>
            </a:solidFill>
            <a:prstDash val="solid"/>
          </a:ln>
        </p:spPr>
      </p:sp>
      <p:sp>
        <p:nvSpPr>
          <p:cNvPr id="26" name="Shape 24"/>
          <p:cNvSpPr/>
          <p:nvPr/>
        </p:nvSpPr>
        <p:spPr>
          <a:xfrm>
            <a:off x="8252460" y="3671316"/>
            <a:ext cx="169164" cy="169164"/>
          </a:xfrm>
          <a:prstGeom prst="rect">
            <a:avLst/>
          </a:prstGeom>
          <a:solidFill>
            <a:srgbClr val="9A3B3B"/>
          </a:solidFill>
          <a:ln w="12700">
            <a:solidFill>
              <a:srgbClr val="333333"/>
            </a:solidFill>
            <a:prstDash val="solid"/>
          </a:ln>
        </p:spPr>
      </p:sp>
      <p:sp>
        <p:nvSpPr>
          <p:cNvPr id="27" name="Shape 25"/>
          <p:cNvSpPr/>
          <p:nvPr/>
        </p:nvSpPr>
        <p:spPr>
          <a:xfrm>
            <a:off x="8467344" y="3671316"/>
            <a:ext cx="169164" cy="169164"/>
          </a:xfrm>
          <a:prstGeom prst="rect">
            <a:avLst/>
          </a:prstGeom>
          <a:solidFill>
            <a:srgbClr val="9A3B3B"/>
          </a:solidFill>
          <a:ln w="12700">
            <a:solidFill>
              <a:srgbClr val="333333"/>
            </a:solidFill>
            <a:prstDash val="solid"/>
          </a:ln>
        </p:spPr>
      </p:sp>
      <p:sp>
        <p:nvSpPr>
          <p:cNvPr id="28" name="Shape 26"/>
          <p:cNvSpPr/>
          <p:nvPr/>
        </p:nvSpPr>
        <p:spPr>
          <a:xfrm>
            <a:off x="8682228" y="3671316"/>
            <a:ext cx="169164" cy="169164"/>
          </a:xfrm>
          <a:prstGeom prst="rect">
            <a:avLst/>
          </a:prstGeom>
          <a:solidFill>
            <a:srgbClr val="9A3B3B"/>
          </a:solidFill>
          <a:ln w="12700">
            <a:solidFill>
              <a:srgbClr val="333333"/>
            </a:solidFill>
            <a:prstDash val="solid"/>
          </a:ln>
        </p:spPr>
      </p:sp>
      <p:sp>
        <p:nvSpPr>
          <p:cNvPr id="29" name="Shape 27"/>
          <p:cNvSpPr/>
          <p:nvPr/>
        </p:nvSpPr>
        <p:spPr>
          <a:xfrm>
            <a:off x="8897112" y="3671316"/>
            <a:ext cx="169164" cy="169164"/>
          </a:xfrm>
          <a:prstGeom prst="rect">
            <a:avLst/>
          </a:prstGeom>
          <a:solidFill>
            <a:srgbClr val="9A3B3B"/>
          </a:solidFill>
          <a:ln w="12700">
            <a:solidFill>
              <a:srgbClr val="333333"/>
            </a:solidFill>
            <a:prstDash val="solid"/>
          </a:ln>
        </p:spPr>
      </p:sp>
      <p:sp>
        <p:nvSpPr>
          <p:cNvPr id="30" name="Shape 28"/>
          <p:cNvSpPr/>
          <p:nvPr/>
        </p:nvSpPr>
        <p:spPr>
          <a:xfrm>
            <a:off x="9111996" y="3671316"/>
            <a:ext cx="169164" cy="169164"/>
          </a:xfrm>
          <a:prstGeom prst="rect">
            <a:avLst/>
          </a:prstGeom>
          <a:solidFill>
            <a:srgbClr val="9A3B3B"/>
          </a:solidFill>
          <a:ln w="12700">
            <a:solidFill>
              <a:srgbClr val="333333"/>
            </a:solidFill>
            <a:prstDash val="solid"/>
          </a:ln>
        </p:spPr>
      </p:sp>
      <p:sp>
        <p:nvSpPr>
          <p:cNvPr id="31" name="Shape 29"/>
          <p:cNvSpPr/>
          <p:nvPr/>
        </p:nvSpPr>
        <p:spPr>
          <a:xfrm>
            <a:off x="9326880" y="3671316"/>
            <a:ext cx="169164" cy="169164"/>
          </a:xfrm>
          <a:prstGeom prst="rect">
            <a:avLst/>
          </a:prstGeom>
          <a:solidFill>
            <a:srgbClr val="9A3B3B"/>
          </a:solidFill>
          <a:ln w="12700">
            <a:solidFill>
              <a:srgbClr val="333333"/>
            </a:solidFill>
            <a:prstDash val="solid"/>
          </a:ln>
        </p:spPr>
      </p:sp>
      <p:sp>
        <p:nvSpPr>
          <p:cNvPr id="32" name="Shape 30"/>
          <p:cNvSpPr/>
          <p:nvPr/>
        </p:nvSpPr>
        <p:spPr>
          <a:xfrm>
            <a:off x="9541764" y="3671316"/>
            <a:ext cx="169164" cy="169164"/>
          </a:xfrm>
          <a:prstGeom prst="rect">
            <a:avLst/>
          </a:prstGeom>
          <a:solidFill>
            <a:srgbClr val="9A3B3B"/>
          </a:solidFill>
          <a:ln w="12700">
            <a:solidFill>
              <a:srgbClr val="333333"/>
            </a:solidFill>
            <a:prstDash val="solid"/>
          </a:ln>
        </p:spPr>
      </p:sp>
      <p:sp>
        <p:nvSpPr>
          <p:cNvPr id="33" name="Shape 31"/>
          <p:cNvSpPr/>
          <p:nvPr/>
        </p:nvSpPr>
        <p:spPr>
          <a:xfrm>
            <a:off x="9756648" y="3671316"/>
            <a:ext cx="169164" cy="169164"/>
          </a:xfrm>
          <a:prstGeom prst="rect">
            <a:avLst/>
          </a:prstGeom>
          <a:solidFill>
            <a:srgbClr val="9A3B3B"/>
          </a:solidFill>
          <a:ln w="12700">
            <a:solidFill>
              <a:srgbClr val="333333"/>
            </a:solidFill>
            <a:prstDash val="solid"/>
          </a:ln>
        </p:spPr>
      </p:sp>
      <p:sp>
        <p:nvSpPr>
          <p:cNvPr id="34" name="Shape 32"/>
          <p:cNvSpPr/>
          <p:nvPr/>
        </p:nvSpPr>
        <p:spPr>
          <a:xfrm>
            <a:off x="9971532" y="3671316"/>
            <a:ext cx="169164" cy="169164"/>
          </a:xfrm>
          <a:prstGeom prst="rect">
            <a:avLst/>
          </a:prstGeom>
          <a:solidFill>
            <a:srgbClr val="9A3B3B"/>
          </a:solidFill>
          <a:ln w="12700">
            <a:solidFill>
              <a:srgbClr val="333333"/>
            </a:solidFill>
            <a:prstDash val="solid"/>
          </a:ln>
        </p:spPr>
      </p:sp>
      <p:sp>
        <p:nvSpPr>
          <p:cNvPr id="35" name="Shape 33"/>
          <p:cNvSpPr/>
          <p:nvPr/>
        </p:nvSpPr>
        <p:spPr>
          <a:xfrm>
            <a:off x="10186416" y="3671316"/>
            <a:ext cx="169164" cy="169164"/>
          </a:xfrm>
          <a:prstGeom prst="rect">
            <a:avLst/>
          </a:prstGeom>
          <a:solidFill>
            <a:srgbClr val="9A3B3B"/>
          </a:solidFill>
          <a:ln w="12700">
            <a:solidFill>
              <a:srgbClr val="333333"/>
            </a:solidFill>
            <a:prstDash val="solid"/>
          </a:ln>
        </p:spPr>
      </p:sp>
      <p:sp>
        <p:nvSpPr>
          <p:cNvPr id="36" name="Shape 34"/>
          <p:cNvSpPr/>
          <p:nvPr/>
        </p:nvSpPr>
        <p:spPr>
          <a:xfrm>
            <a:off x="10401300" y="3671316"/>
            <a:ext cx="169164" cy="169164"/>
          </a:xfrm>
          <a:prstGeom prst="rect">
            <a:avLst/>
          </a:prstGeom>
          <a:solidFill>
            <a:srgbClr val="9A3B3B"/>
          </a:solidFill>
          <a:ln w="12700">
            <a:solidFill>
              <a:srgbClr val="333333"/>
            </a:solidFill>
            <a:prstDash val="solid"/>
          </a:ln>
        </p:spPr>
      </p:sp>
      <p:sp>
        <p:nvSpPr>
          <p:cNvPr id="37" name="Shape 35"/>
          <p:cNvSpPr/>
          <p:nvPr/>
        </p:nvSpPr>
        <p:spPr>
          <a:xfrm>
            <a:off x="8037576" y="3886200"/>
            <a:ext cx="169164" cy="169164"/>
          </a:xfrm>
          <a:prstGeom prst="rect">
            <a:avLst/>
          </a:prstGeom>
          <a:solidFill>
            <a:srgbClr val="9A3B3B"/>
          </a:solidFill>
          <a:ln w="12700">
            <a:solidFill>
              <a:srgbClr val="333333"/>
            </a:solidFill>
            <a:prstDash val="solid"/>
          </a:ln>
        </p:spPr>
      </p:sp>
      <p:sp>
        <p:nvSpPr>
          <p:cNvPr id="38" name="Shape 36"/>
          <p:cNvSpPr/>
          <p:nvPr/>
        </p:nvSpPr>
        <p:spPr>
          <a:xfrm>
            <a:off x="8252460" y="3886200"/>
            <a:ext cx="169164" cy="169164"/>
          </a:xfrm>
          <a:prstGeom prst="rect">
            <a:avLst/>
          </a:prstGeom>
          <a:solidFill>
            <a:srgbClr val="9A3B3B"/>
          </a:solidFill>
          <a:ln w="12700">
            <a:solidFill>
              <a:srgbClr val="333333"/>
            </a:solidFill>
            <a:prstDash val="solid"/>
          </a:ln>
        </p:spPr>
      </p:sp>
      <p:sp>
        <p:nvSpPr>
          <p:cNvPr id="39" name="Shape 37"/>
          <p:cNvSpPr/>
          <p:nvPr/>
        </p:nvSpPr>
        <p:spPr>
          <a:xfrm>
            <a:off x="8467344" y="3886200"/>
            <a:ext cx="169164" cy="169164"/>
          </a:xfrm>
          <a:prstGeom prst="rect">
            <a:avLst/>
          </a:prstGeom>
          <a:solidFill>
            <a:srgbClr val="9A3B3B"/>
          </a:solidFill>
          <a:ln w="12700">
            <a:solidFill>
              <a:srgbClr val="333333"/>
            </a:solidFill>
            <a:prstDash val="solid"/>
          </a:ln>
        </p:spPr>
      </p:sp>
      <p:sp>
        <p:nvSpPr>
          <p:cNvPr id="40" name="Shape 38"/>
          <p:cNvSpPr/>
          <p:nvPr/>
        </p:nvSpPr>
        <p:spPr>
          <a:xfrm>
            <a:off x="8682228" y="3886200"/>
            <a:ext cx="169164" cy="169164"/>
          </a:xfrm>
          <a:prstGeom prst="rect">
            <a:avLst/>
          </a:prstGeom>
          <a:solidFill>
            <a:srgbClr val="9A3B3B"/>
          </a:solidFill>
          <a:ln w="12700">
            <a:solidFill>
              <a:srgbClr val="333333"/>
            </a:solidFill>
            <a:prstDash val="solid"/>
          </a:ln>
        </p:spPr>
      </p:sp>
      <p:sp>
        <p:nvSpPr>
          <p:cNvPr id="41" name="Shape 39"/>
          <p:cNvSpPr/>
          <p:nvPr/>
        </p:nvSpPr>
        <p:spPr>
          <a:xfrm>
            <a:off x="8897112" y="3886200"/>
            <a:ext cx="169164" cy="169164"/>
          </a:xfrm>
          <a:prstGeom prst="rect">
            <a:avLst/>
          </a:prstGeom>
          <a:solidFill>
            <a:srgbClr val="9A3B3B"/>
          </a:solidFill>
          <a:ln w="12700">
            <a:solidFill>
              <a:srgbClr val="333333"/>
            </a:solidFill>
            <a:prstDash val="solid"/>
          </a:ln>
        </p:spPr>
      </p:sp>
      <p:sp>
        <p:nvSpPr>
          <p:cNvPr id="42" name="Shape 40"/>
          <p:cNvSpPr/>
          <p:nvPr/>
        </p:nvSpPr>
        <p:spPr>
          <a:xfrm>
            <a:off x="9111996" y="3886200"/>
            <a:ext cx="169164" cy="169164"/>
          </a:xfrm>
          <a:prstGeom prst="rect">
            <a:avLst/>
          </a:prstGeom>
          <a:solidFill>
            <a:srgbClr val="9A3B3B"/>
          </a:solidFill>
          <a:ln w="12700">
            <a:solidFill>
              <a:srgbClr val="333333"/>
            </a:solidFill>
            <a:prstDash val="solid"/>
          </a:ln>
        </p:spPr>
      </p:sp>
      <p:sp>
        <p:nvSpPr>
          <p:cNvPr id="43" name="Shape 41"/>
          <p:cNvSpPr/>
          <p:nvPr/>
        </p:nvSpPr>
        <p:spPr>
          <a:xfrm>
            <a:off x="9326880" y="3886200"/>
            <a:ext cx="169164" cy="169164"/>
          </a:xfrm>
          <a:prstGeom prst="rect">
            <a:avLst/>
          </a:prstGeom>
          <a:solidFill>
            <a:srgbClr val="9A3B3B"/>
          </a:solidFill>
          <a:ln w="12700">
            <a:solidFill>
              <a:srgbClr val="333333"/>
            </a:solidFill>
            <a:prstDash val="solid"/>
          </a:ln>
        </p:spPr>
      </p:sp>
      <p:sp>
        <p:nvSpPr>
          <p:cNvPr id="44" name="Shape 42"/>
          <p:cNvSpPr/>
          <p:nvPr/>
        </p:nvSpPr>
        <p:spPr>
          <a:xfrm>
            <a:off x="9541764" y="3886200"/>
            <a:ext cx="169164" cy="169164"/>
          </a:xfrm>
          <a:prstGeom prst="rect">
            <a:avLst/>
          </a:prstGeom>
          <a:solidFill>
            <a:srgbClr val="9A3B3B"/>
          </a:solidFill>
          <a:ln w="12700">
            <a:solidFill>
              <a:srgbClr val="333333"/>
            </a:solidFill>
            <a:prstDash val="solid"/>
          </a:ln>
        </p:spPr>
      </p:sp>
      <p:sp>
        <p:nvSpPr>
          <p:cNvPr id="45" name="Shape 43"/>
          <p:cNvSpPr/>
          <p:nvPr/>
        </p:nvSpPr>
        <p:spPr>
          <a:xfrm>
            <a:off x="9756648" y="3886200"/>
            <a:ext cx="169164" cy="169164"/>
          </a:xfrm>
          <a:prstGeom prst="rect">
            <a:avLst/>
          </a:prstGeom>
          <a:solidFill>
            <a:srgbClr val="9A3B3B"/>
          </a:solidFill>
          <a:ln w="12700">
            <a:solidFill>
              <a:srgbClr val="333333"/>
            </a:solidFill>
            <a:prstDash val="solid"/>
          </a:ln>
        </p:spPr>
      </p:sp>
      <p:sp>
        <p:nvSpPr>
          <p:cNvPr id="46" name="Shape 44"/>
          <p:cNvSpPr/>
          <p:nvPr/>
        </p:nvSpPr>
        <p:spPr>
          <a:xfrm>
            <a:off x="9971532" y="3886200"/>
            <a:ext cx="169164" cy="169164"/>
          </a:xfrm>
          <a:prstGeom prst="rect">
            <a:avLst/>
          </a:prstGeom>
          <a:solidFill>
            <a:srgbClr val="9A3B3B"/>
          </a:solidFill>
          <a:ln w="12700">
            <a:solidFill>
              <a:srgbClr val="333333"/>
            </a:solidFill>
            <a:prstDash val="solid"/>
          </a:ln>
        </p:spPr>
      </p:sp>
      <p:sp>
        <p:nvSpPr>
          <p:cNvPr id="47" name="Shape 45"/>
          <p:cNvSpPr/>
          <p:nvPr/>
        </p:nvSpPr>
        <p:spPr>
          <a:xfrm>
            <a:off x="10186416" y="3886200"/>
            <a:ext cx="169164" cy="169164"/>
          </a:xfrm>
          <a:prstGeom prst="rect">
            <a:avLst/>
          </a:prstGeom>
          <a:solidFill>
            <a:srgbClr val="9A3B3B"/>
          </a:solidFill>
          <a:ln w="12700">
            <a:solidFill>
              <a:srgbClr val="333333"/>
            </a:solidFill>
            <a:prstDash val="solid"/>
          </a:ln>
        </p:spPr>
      </p:sp>
      <p:sp>
        <p:nvSpPr>
          <p:cNvPr id="48" name="Shape 46"/>
          <p:cNvSpPr/>
          <p:nvPr/>
        </p:nvSpPr>
        <p:spPr>
          <a:xfrm>
            <a:off x="10401300" y="3886200"/>
            <a:ext cx="169164" cy="169164"/>
          </a:xfrm>
          <a:prstGeom prst="rect">
            <a:avLst/>
          </a:prstGeom>
          <a:solidFill>
            <a:srgbClr val="9A3B3B"/>
          </a:solidFill>
          <a:ln w="12700">
            <a:solidFill>
              <a:srgbClr val="333333"/>
            </a:solidFill>
            <a:prstDash val="solid"/>
          </a:ln>
        </p:spPr>
      </p:sp>
      <p:sp>
        <p:nvSpPr>
          <p:cNvPr id="49" name="Shape 47"/>
          <p:cNvSpPr/>
          <p:nvPr/>
        </p:nvSpPr>
        <p:spPr>
          <a:xfrm>
            <a:off x="8037576" y="4101084"/>
            <a:ext cx="169164" cy="169164"/>
          </a:xfrm>
          <a:prstGeom prst="rect">
            <a:avLst/>
          </a:prstGeom>
          <a:solidFill>
            <a:srgbClr val="9A3B3B"/>
          </a:solidFill>
          <a:ln w="12700">
            <a:solidFill>
              <a:srgbClr val="333333"/>
            </a:solidFill>
            <a:prstDash val="solid"/>
          </a:ln>
        </p:spPr>
      </p:sp>
      <p:sp>
        <p:nvSpPr>
          <p:cNvPr id="50" name="Shape 48"/>
          <p:cNvSpPr/>
          <p:nvPr/>
        </p:nvSpPr>
        <p:spPr>
          <a:xfrm>
            <a:off x="8252460" y="4101084"/>
            <a:ext cx="169164" cy="169164"/>
          </a:xfrm>
          <a:prstGeom prst="rect">
            <a:avLst/>
          </a:prstGeom>
          <a:solidFill>
            <a:srgbClr val="9A3B3B"/>
          </a:solidFill>
          <a:ln w="12700">
            <a:solidFill>
              <a:srgbClr val="333333"/>
            </a:solidFill>
            <a:prstDash val="solid"/>
          </a:ln>
        </p:spPr>
      </p:sp>
      <p:sp>
        <p:nvSpPr>
          <p:cNvPr id="51" name="Shape 49"/>
          <p:cNvSpPr/>
          <p:nvPr/>
        </p:nvSpPr>
        <p:spPr>
          <a:xfrm>
            <a:off x="8467344" y="4101084"/>
            <a:ext cx="169164" cy="169164"/>
          </a:xfrm>
          <a:prstGeom prst="rect">
            <a:avLst/>
          </a:prstGeom>
          <a:solidFill>
            <a:srgbClr val="9A3B3B"/>
          </a:solidFill>
          <a:ln w="12700">
            <a:solidFill>
              <a:srgbClr val="333333"/>
            </a:solidFill>
            <a:prstDash val="solid"/>
          </a:ln>
        </p:spPr>
      </p:sp>
      <p:sp>
        <p:nvSpPr>
          <p:cNvPr id="52" name="Shape 50"/>
          <p:cNvSpPr/>
          <p:nvPr/>
        </p:nvSpPr>
        <p:spPr>
          <a:xfrm>
            <a:off x="8682228" y="4101084"/>
            <a:ext cx="169164" cy="169164"/>
          </a:xfrm>
          <a:prstGeom prst="rect">
            <a:avLst/>
          </a:prstGeom>
          <a:solidFill>
            <a:srgbClr val="9A3B3B"/>
          </a:solidFill>
          <a:ln w="12700">
            <a:solidFill>
              <a:srgbClr val="333333"/>
            </a:solidFill>
            <a:prstDash val="solid"/>
          </a:ln>
        </p:spPr>
      </p:sp>
      <p:sp>
        <p:nvSpPr>
          <p:cNvPr id="53" name="Shape 51"/>
          <p:cNvSpPr/>
          <p:nvPr/>
        </p:nvSpPr>
        <p:spPr>
          <a:xfrm>
            <a:off x="8897112" y="4101084"/>
            <a:ext cx="169164" cy="169164"/>
          </a:xfrm>
          <a:prstGeom prst="rect">
            <a:avLst/>
          </a:prstGeom>
          <a:solidFill>
            <a:srgbClr val="9A3B3B"/>
          </a:solidFill>
          <a:ln w="12700">
            <a:solidFill>
              <a:srgbClr val="333333"/>
            </a:solidFill>
            <a:prstDash val="solid"/>
          </a:ln>
        </p:spPr>
      </p:sp>
      <p:sp>
        <p:nvSpPr>
          <p:cNvPr id="54" name="Shape 52"/>
          <p:cNvSpPr/>
          <p:nvPr/>
        </p:nvSpPr>
        <p:spPr>
          <a:xfrm>
            <a:off x="9111996" y="4101084"/>
            <a:ext cx="169164" cy="169164"/>
          </a:xfrm>
          <a:prstGeom prst="rect">
            <a:avLst/>
          </a:prstGeom>
          <a:solidFill>
            <a:srgbClr val="9A3B3B"/>
          </a:solidFill>
          <a:ln w="12700">
            <a:solidFill>
              <a:srgbClr val="333333"/>
            </a:solidFill>
            <a:prstDash val="solid"/>
          </a:ln>
        </p:spPr>
      </p:sp>
      <p:sp>
        <p:nvSpPr>
          <p:cNvPr id="55" name="Shape 53"/>
          <p:cNvSpPr/>
          <p:nvPr/>
        </p:nvSpPr>
        <p:spPr>
          <a:xfrm>
            <a:off x="9326880" y="4101084"/>
            <a:ext cx="169164" cy="169164"/>
          </a:xfrm>
          <a:prstGeom prst="rect">
            <a:avLst/>
          </a:prstGeom>
          <a:solidFill>
            <a:srgbClr val="9A3B3B"/>
          </a:solidFill>
          <a:ln w="12700">
            <a:solidFill>
              <a:srgbClr val="333333"/>
            </a:solidFill>
            <a:prstDash val="solid"/>
          </a:ln>
        </p:spPr>
      </p:sp>
      <p:sp>
        <p:nvSpPr>
          <p:cNvPr id="56" name="Shape 54"/>
          <p:cNvSpPr/>
          <p:nvPr/>
        </p:nvSpPr>
        <p:spPr>
          <a:xfrm>
            <a:off x="9541764" y="4101084"/>
            <a:ext cx="169164" cy="169164"/>
          </a:xfrm>
          <a:prstGeom prst="rect">
            <a:avLst/>
          </a:prstGeom>
          <a:solidFill>
            <a:srgbClr val="9A3B3B"/>
          </a:solidFill>
          <a:ln w="12700">
            <a:solidFill>
              <a:srgbClr val="333333"/>
            </a:solidFill>
            <a:prstDash val="solid"/>
          </a:ln>
        </p:spPr>
      </p:sp>
      <p:sp>
        <p:nvSpPr>
          <p:cNvPr id="57" name="Shape 55"/>
          <p:cNvSpPr/>
          <p:nvPr/>
        </p:nvSpPr>
        <p:spPr>
          <a:xfrm>
            <a:off x="9756648" y="4101084"/>
            <a:ext cx="169164" cy="169164"/>
          </a:xfrm>
          <a:prstGeom prst="rect">
            <a:avLst/>
          </a:prstGeom>
          <a:solidFill>
            <a:srgbClr val="9A3B3B"/>
          </a:solidFill>
          <a:ln w="12700">
            <a:solidFill>
              <a:srgbClr val="333333"/>
            </a:solidFill>
            <a:prstDash val="solid"/>
          </a:ln>
        </p:spPr>
      </p:sp>
      <p:sp>
        <p:nvSpPr>
          <p:cNvPr id="58" name="Shape 56"/>
          <p:cNvSpPr/>
          <p:nvPr/>
        </p:nvSpPr>
        <p:spPr>
          <a:xfrm>
            <a:off x="9971532" y="4101084"/>
            <a:ext cx="169164" cy="169164"/>
          </a:xfrm>
          <a:prstGeom prst="rect">
            <a:avLst/>
          </a:prstGeom>
          <a:solidFill>
            <a:srgbClr val="9A3B3B"/>
          </a:solidFill>
          <a:ln w="12700">
            <a:solidFill>
              <a:srgbClr val="333333"/>
            </a:solidFill>
            <a:prstDash val="solid"/>
          </a:ln>
        </p:spPr>
      </p:sp>
      <p:sp>
        <p:nvSpPr>
          <p:cNvPr id="59" name="Shape 57"/>
          <p:cNvSpPr/>
          <p:nvPr/>
        </p:nvSpPr>
        <p:spPr>
          <a:xfrm>
            <a:off x="10186416" y="4101084"/>
            <a:ext cx="169164" cy="169164"/>
          </a:xfrm>
          <a:prstGeom prst="rect">
            <a:avLst/>
          </a:prstGeom>
          <a:solidFill>
            <a:srgbClr val="9A3B3B"/>
          </a:solidFill>
          <a:ln w="12700">
            <a:solidFill>
              <a:srgbClr val="333333"/>
            </a:solidFill>
            <a:prstDash val="solid"/>
          </a:ln>
        </p:spPr>
      </p:sp>
      <p:sp>
        <p:nvSpPr>
          <p:cNvPr id="60" name="Shape 58"/>
          <p:cNvSpPr/>
          <p:nvPr/>
        </p:nvSpPr>
        <p:spPr>
          <a:xfrm>
            <a:off x="10401300" y="4101084"/>
            <a:ext cx="169164" cy="169164"/>
          </a:xfrm>
          <a:prstGeom prst="rect">
            <a:avLst/>
          </a:prstGeom>
          <a:solidFill>
            <a:srgbClr val="9A3B3B"/>
          </a:solidFill>
          <a:ln w="12700">
            <a:solidFill>
              <a:srgbClr val="333333"/>
            </a:solidFill>
            <a:prstDash val="solid"/>
          </a:ln>
        </p:spPr>
      </p:sp>
      <p:sp>
        <p:nvSpPr>
          <p:cNvPr id="61" name="Shape 59"/>
          <p:cNvSpPr/>
          <p:nvPr/>
        </p:nvSpPr>
        <p:spPr>
          <a:xfrm>
            <a:off x="8037576" y="4315968"/>
            <a:ext cx="169164" cy="169164"/>
          </a:xfrm>
          <a:prstGeom prst="rect">
            <a:avLst/>
          </a:prstGeom>
          <a:solidFill>
            <a:srgbClr val="9A3B3B"/>
          </a:solidFill>
          <a:ln w="12700">
            <a:solidFill>
              <a:srgbClr val="333333"/>
            </a:solidFill>
            <a:prstDash val="solid"/>
          </a:ln>
        </p:spPr>
      </p:sp>
      <p:sp>
        <p:nvSpPr>
          <p:cNvPr id="62" name="Shape 60"/>
          <p:cNvSpPr/>
          <p:nvPr/>
        </p:nvSpPr>
        <p:spPr>
          <a:xfrm>
            <a:off x="8252460" y="4315968"/>
            <a:ext cx="169164" cy="169164"/>
          </a:xfrm>
          <a:prstGeom prst="rect">
            <a:avLst/>
          </a:prstGeom>
          <a:solidFill>
            <a:srgbClr val="9A3B3B"/>
          </a:solidFill>
          <a:ln w="12700">
            <a:solidFill>
              <a:srgbClr val="333333"/>
            </a:solidFill>
            <a:prstDash val="solid"/>
          </a:ln>
        </p:spPr>
      </p:sp>
      <p:sp>
        <p:nvSpPr>
          <p:cNvPr id="63" name="Shape 61"/>
          <p:cNvSpPr/>
          <p:nvPr/>
        </p:nvSpPr>
        <p:spPr>
          <a:xfrm>
            <a:off x="8467344" y="4315968"/>
            <a:ext cx="169164" cy="169164"/>
          </a:xfrm>
          <a:prstGeom prst="rect">
            <a:avLst/>
          </a:prstGeom>
          <a:solidFill>
            <a:srgbClr val="9A3B3B"/>
          </a:solidFill>
          <a:ln w="12700">
            <a:solidFill>
              <a:srgbClr val="333333"/>
            </a:solidFill>
            <a:prstDash val="solid"/>
          </a:ln>
        </p:spPr>
      </p:sp>
      <p:sp>
        <p:nvSpPr>
          <p:cNvPr id="64" name="Shape 62"/>
          <p:cNvSpPr/>
          <p:nvPr/>
        </p:nvSpPr>
        <p:spPr>
          <a:xfrm>
            <a:off x="8682228" y="4315968"/>
            <a:ext cx="169164" cy="169164"/>
          </a:xfrm>
          <a:prstGeom prst="rect">
            <a:avLst/>
          </a:prstGeom>
          <a:solidFill>
            <a:srgbClr val="9A3B3B"/>
          </a:solidFill>
          <a:ln w="12700">
            <a:solidFill>
              <a:srgbClr val="333333"/>
            </a:solidFill>
            <a:prstDash val="solid"/>
          </a:ln>
        </p:spPr>
      </p:sp>
      <p:sp>
        <p:nvSpPr>
          <p:cNvPr id="65" name="Shape 63"/>
          <p:cNvSpPr/>
          <p:nvPr/>
        </p:nvSpPr>
        <p:spPr>
          <a:xfrm>
            <a:off x="8897112" y="4315968"/>
            <a:ext cx="169164" cy="169164"/>
          </a:xfrm>
          <a:prstGeom prst="rect">
            <a:avLst/>
          </a:prstGeom>
          <a:solidFill>
            <a:srgbClr val="9A3B3B"/>
          </a:solidFill>
          <a:ln w="12700">
            <a:solidFill>
              <a:srgbClr val="333333"/>
            </a:solidFill>
            <a:prstDash val="solid"/>
          </a:ln>
        </p:spPr>
      </p:sp>
      <p:sp>
        <p:nvSpPr>
          <p:cNvPr id="66" name="Shape 64"/>
          <p:cNvSpPr/>
          <p:nvPr/>
        </p:nvSpPr>
        <p:spPr>
          <a:xfrm>
            <a:off x="9111996" y="4315968"/>
            <a:ext cx="169164" cy="169164"/>
          </a:xfrm>
          <a:prstGeom prst="rect">
            <a:avLst/>
          </a:prstGeom>
          <a:solidFill>
            <a:srgbClr val="9A3B3B"/>
          </a:solidFill>
          <a:ln w="12700">
            <a:solidFill>
              <a:srgbClr val="333333"/>
            </a:solidFill>
            <a:prstDash val="solid"/>
          </a:ln>
        </p:spPr>
      </p:sp>
      <p:sp>
        <p:nvSpPr>
          <p:cNvPr id="67" name="Shape 65"/>
          <p:cNvSpPr/>
          <p:nvPr/>
        </p:nvSpPr>
        <p:spPr>
          <a:xfrm>
            <a:off x="9326880" y="4315968"/>
            <a:ext cx="169164" cy="169164"/>
          </a:xfrm>
          <a:prstGeom prst="rect">
            <a:avLst/>
          </a:prstGeom>
          <a:solidFill>
            <a:srgbClr val="9A3B3B"/>
          </a:solidFill>
          <a:ln w="12700">
            <a:solidFill>
              <a:srgbClr val="333333"/>
            </a:solidFill>
            <a:prstDash val="solid"/>
          </a:ln>
        </p:spPr>
      </p:sp>
      <p:sp>
        <p:nvSpPr>
          <p:cNvPr id="68" name="Shape 66"/>
          <p:cNvSpPr/>
          <p:nvPr/>
        </p:nvSpPr>
        <p:spPr>
          <a:xfrm>
            <a:off x="9541764" y="4315968"/>
            <a:ext cx="169164" cy="169164"/>
          </a:xfrm>
          <a:prstGeom prst="rect">
            <a:avLst/>
          </a:prstGeom>
          <a:solidFill>
            <a:srgbClr val="9A3B3B"/>
          </a:solidFill>
          <a:ln w="12700">
            <a:solidFill>
              <a:srgbClr val="333333"/>
            </a:solidFill>
            <a:prstDash val="solid"/>
          </a:ln>
        </p:spPr>
      </p:sp>
      <p:sp>
        <p:nvSpPr>
          <p:cNvPr id="69" name="Shape 67"/>
          <p:cNvSpPr/>
          <p:nvPr/>
        </p:nvSpPr>
        <p:spPr>
          <a:xfrm>
            <a:off x="9756648" y="4315968"/>
            <a:ext cx="169164" cy="169164"/>
          </a:xfrm>
          <a:prstGeom prst="rect">
            <a:avLst/>
          </a:prstGeom>
          <a:solidFill>
            <a:srgbClr val="9A3B3B"/>
          </a:solidFill>
          <a:ln w="12700">
            <a:solidFill>
              <a:srgbClr val="333333"/>
            </a:solidFill>
            <a:prstDash val="solid"/>
          </a:ln>
        </p:spPr>
      </p:sp>
      <p:sp>
        <p:nvSpPr>
          <p:cNvPr id="70" name="Shape 68"/>
          <p:cNvSpPr/>
          <p:nvPr/>
        </p:nvSpPr>
        <p:spPr>
          <a:xfrm>
            <a:off x="9971532" y="4315968"/>
            <a:ext cx="169164" cy="169164"/>
          </a:xfrm>
          <a:prstGeom prst="rect">
            <a:avLst/>
          </a:prstGeom>
          <a:solidFill>
            <a:srgbClr val="9A3B3B"/>
          </a:solidFill>
          <a:ln w="12700">
            <a:solidFill>
              <a:srgbClr val="333333"/>
            </a:solidFill>
            <a:prstDash val="solid"/>
          </a:ln>
        </p:spPr>
      </p:sp>
      <p:sp>
        <p:nvSpPr>
          <p:cNvPr id="71" name="Shape 69"/>
          <p:cNvSpPr/>
          <p:nvPr/>
        </p:nvSpPr>
        <p:spPr>
          <a:xfrm>
            <a:off x="10186416" y="4315968"/>
            <a:ext cx="169164" cy="169164"/>
          </a:xfrm>
          <a:prstGeom prst="rect">
            <a:avLst/>
          </a:prstGeom>
          <a:solidFill>
            <a:srgbClr val="9A3B3B"/>
          </a:solidFill>
          <a:ln w="12700">
            <a:solidFill>
              <a:srgbClr val="333333"/>
            </a:solidFill>
            <a:prstDash val="solid"/>
          </a:ln>
        </p:spPr>
      </p:sp>
      <p:sp>
        <p:nvSpPr>
          <p:cNvPr id="72" name="Shape 70"/>
          <p:cNvSpPr/>
          <p:nvPr/>
        </p:nvSpPr>
        <p:spPr>
          <a:xfrm>
            <a:off x="10401300" y="4315968"/>
            <a:ext cx="169164" cy="169164"/>
          </a:xfrm>
          <a:prstGeom prst="rect">
            <a:avLst/>
          </a:prstGeom>
          <a:solidFill>
            <a:srgbClr val="9A3B3B"/>
          </a:solidFill>
          <a:ln w="12700">
            <a:solidFill>
              <a:srgbClr val="333333"/>
            </a:solidFill>
            <a:prstDash val="solid"/>
          </a:ln>
        </p:spPr>
      </p:sp>
      <p:sp>
        <p:nvSpPr>
          <p:cNvPr id="73" name="Shape 71"/>
          <p:cNvSpPr/>
          <p:nvPr/>
        </p:nvSpPr>
        <p:spPr>
          <a:xfrm>
            <a:off x="8037576" y="4530852"/>
            <a:ext cx="169164" cy="169164"/>
          </a:xfrm>
          <a:prstGeom prst="rect">
            <a:avLst/>
          </a:prstGeom>
          <a:solidFill>
            <a:srgbClr val="9A3B3B"/>
          </a:solidFill>
          <a:ln w="12700">
            <a:solidFill>
              <a:srgbClr val="333333"/>
            </a:solidFill>
            <a:prstDash val="solid"/>
          </a:ln>
        </p:spPr>
      </p:sp>
      <p:sp>
        <p:nvSpPr>
          <p:cNvPr id="74" name="Shape 72"/>
          <p:cNvSpPr/>
          <p:nvPr/>
        </p:nvSpPr>
        <p:spPr>
          <a:xfrm>
            <a:off x="8252460" y="4530852"/>
            <a:ext cx="169164" cy="169164"/>
          </a:xfrm>
          <a:prstGeom prst="rect">
            <a:avLst/>
          </a:prstGeom>
          <a:solidFill>
            <a:srgbClr val="9A3B3B"/>
          </a:solidFill>
          <a:ln w="12700">
            <a:solidFill>
              <a:srgbClr val="333333"/>
            </a:solidFill>
            <a:prstDash val="solid"/>
          </a:ln>
        </p:spPr>
      </p:sp>
      <p:sp>
        <p:nvSpPr>
          <p:cNvPr id="75" name="Shape 73"/>
          <p:cNvSpPr/>
          <p:nvPr/>
        </p:nvSpPr>
        <p:spPr>
          <a:xfrm>
            <a:off x="8467344" y="4530852"/>
            <a:ext cx="169164" cy="169164"/>
          </a:xfrm>
          <a:prstGeom prst="rect">
            <a:avLst/>
          </a:prstGeom>
          <a:solidFill>
            <a:srgbClr val="9A3B3B"/>
          </a:solidFill>
          <a:ln w="12700">
            <a:solidFill>
              <a:srgbClr val="333333"/>
            </a:solidFill>
            <a:prstDash val="solid"/>
          </a:ln>
        </p:spPr>
      </p:sp>
      <p:sp>
        <p:nvSpPr>
          <p:cNvPr id="76" name="Shape 74"/>
          <p:cNvSpPr/>
          <p:nvPr/>
        </p:nvSpPr>
        <p:spPr>
          <a:xfrm>
            <a:off x="8682228" y="4530852"/>
            <a:ext cx="169164" cy="169164"/>
          </a:xfrm>
          <a:prstGeom prst="rect">
            <a:avLst/>
          </a:prstGeom>
          <a:solidFill>
            <a:srgbClr val="9A3B3B"/>
          </a:solidFill>
          <a:ln w="12700">
            <a:solidFill>
              <a:srgbClr val="333333"/>
            </a:solidFill>
            <a:prstDash val="solid"/>
          </a:ln>
        </p:spPr>
      </p:sp>
      <p:sp>
        <p:nvSpPr>
          <p:cNvPr id="77" name="Shape 75"/>
          <p:cNvSpPr/>
          <p:nvPr/>
        </p:nvSpPr>
        <p:spPr>
          <a:xfrm>
            <a:off x="8897112" y="4530852"/>
            <a:ext cx="169164" cy="169164"/>
          </a:xfrm>
          <a:prstGeom prst="rect">
            <a:avLst/>
          </a:prstGeom>
          <a:solidFill>
            <a:srgbClr val="9A3B3B"/>
          </a:solidFill>
          <a:ln w="12700">
            <a:solidFill>
              <a:srgbClr val="333333"/>
            </a:solidFill>
            <a:prstDash val="solid"/>
          </a:ln>
        </p:spPr>
      </p:sp>
      <p:sp>
        <p:nvSpPr>
          <p:cNvPr id="78" name="Shape 76"/>
          <p:cNvSpPr/>
          <p:nvPr/>
        </p:nvSpPr>
        <p:spPr>
          <a:xfrm>
            <a:off x="9111996" y="4530852"/>
            <a:ext cx="169164" cy="169164"/>
          </a:xfrm>
          <a:prstGeom prst="rect">
            <a:avLst/>
          </a:prstGeom>
          <a:solidFill>
            <a:srgbClr val="9A3B3B"/>
          </a:solidFill>
          <a:ln w="12700">
            <a:solidFill>
              <a:srgbClr val="333333"/>
            </a:solidFill>
            <a:prstDash val="solid"/>
          </a:ln>
        </p:spPr>
      </p:sp>
      <p:sp>
        <p:nvSpPr>
          <p:cNvPr id="79" name="Shape 77"/>
          <p:cNvSpPr/>
          <p:nvPr/>
        </p:nvSpPr>
        <p:spPr>
          <a:xfrm>
            <a:off x="9326880" y="4530852"/>
            <a:ext cx="169164" cy="169164"/>
          </a:xfrm>
          <a:prstGeom prst="rect">
            <a:avLst/>
          </a:prstGeom>
          <a:solidFill>
            <a:srgbClr val="9A3B3B"/>
          </a:solidFill>
          <a:ln w="12700">
            <a:solidFill>
              <a:srgbClr val="333333"/>
            </a:solidFill>
            <a:prstDash val="solid"/>
          </a:ln>
        </p:spPr>
      </p:sp>
      <p:sp>
        <p:nvSpPr>
          <p:cNvPr id="80" name="Shape 78"/>
          <p:cNvSpPr/>
          <p:nvPr/>
        </p:nvSpPr>
        <p:spPr>
          <a:xfrm>
            <a:off x="9541764" y="4530852"/>
            <a:ext cx="169164" cy="169164"/>
          </a:xfrm>
          <a:prstGeom prst="rect">
            <a:avLst/>
          </a:prstGeom>
          <a:solidFill>
            <a:srgbClr val="9A3B3B"/>
          </a:solidFill>
          <a:ln w="12700">
            <a:solidFill>
              <a:srgbClr val="333333"/>
            </a:solidFill>
            <a:prstDash val="solid"/>
          </a:ln>
        </p:spPr>
      </p:sp>
      <p:sp>
        <p:nvSpPr>
          <p:cNvPr id="81" name="Shape 79"/>
          <p:cNvSpPr/>
          <p:nvPr/>
        </p:nvSpPr>
        <p:spPr>
          <a:xfrm>
            <a:off x="9756648" y="4530852"/>
            <a:ext cx="169164" cy="169164"/>
          </a:xfrm>
          <a:prstGeom prst="rect">
            <a:avLst/>
          </a:prstGeom>
          <a:solidFill>
            <a:srgbClr val="9A3B3B"/>
          </a:solidFill>
          <a:ln w="12700">
            <a:solidFill>
              <a:srgbClr val="333333"/>
            </a:solidFill>
            <a:prstDash val="solid"/>
          </a:ln>
        </p:spPr>
      </p:sp>
      <p:sp>
        <p:nvSpPr>
          <p:cNvPr id="82" name="Shape 80"/>
          <p:cNvSpPr/>
          <p:nvPr/>
        </p:nvSpPr>
        <p:spPr>
          <a:xfrm>
            <a:off x="9971532" y="4530852"/>
            <a:ext cx="169164" cy="169164"/>
          </a:xfrm>
          <a:prstGeom prst="rect">
            <a:avLst/>
          </a:prstGeom>
          <a:solidFill>
            <a:srgbClr val="9A3B3B"/>
          </a:solidFill>
          <a:ln w="12700">
            <a:solidFill>
              <a:srgbClr val="333333"/>
            </a:solidFill>
            <a:prstDash val="solid"/>
          </a:ln>
        </p:spPr>
      </p:sp>
      <p:sp>
        <p:nvSpPr>
          <p:cNvPr id="83" name="Shape 81"/>
          <p:cNvSpPr/>
          <p:nvPr/>
        </p:nvSpPr>
        <p:spPr>
          <a:xfrm>
            <a:off x="10186416" y="4530852"/>
            <a:ext cx="169164" cy="169164"/>
          </a:xfrm>
          <a:prstGeom prst="rect">
            <a:avLst/>
          </a:prstGeom>
          <a:solidFill>
            <a:srgbClr val="9A3B3B"/>
          </a:solidFill>
          <a:ln w="12700">
            <a:solidFill>
              <a:srgbClr val="333333"/>
            </a:solidFill>
            <a:prstDash val="solid"/>
          </a:ln>
        </p:spPr>
      </p:sp>
      <p:sp>
        <p:nvSpPr>
          <p:cNvPr id="84" name="Shape 82"/>
          <p:cNvSpPr/>
          <p:nvPr/>
        </p:nvSpPr>
        <p:spPr>
          <a:xfrm>
            <a:off x="10401300" y="4530852"/>
            <a:ext cx="169164" cy="169164"/>
          </a:xfrm>
          <a:prstGeom prst="rect">
            <a:avLst/>
          </a:prstGeom>
          <a:solidFill>
            <a:srgbClr val="9A3B3B"/>
          </a:solidFill>
          <a:ln w="12700">
            <a:solidFill>
              <a:srgbClr val="333333"/>
            </a:solidFill>
            <a:prstDash val="solid"/>
          </a:ln>
        </p:spPr>
      </p:sp>
      <p:sp>
        <p:nvSpPr>
          <p:cNvPr id="85" name="Shape 83"/>
          <p:cNvSpPr/>
          <p:nvPr/>
        </p:nvSpPr>
        <p:spPr>
          <a:xfrm>
            <a:off x="8037576" y="4745736"/>
            <a:ext cx="169164" cy="169164"/>
          </a:xfrm>
          <a:prstGeom prst="rect">
            <a:avLst/>
          </a:prstGeom>
          <a:solidFill>
            <a:srgbClr val="9A3B3B"/>
          </a:solidFill>
          <a:ln w="12700">
            <a:solidFill>
              <a:srgbClr val="333333"/>
            </a:solidFill>
            <a:prstDash val="solid"/>
          </a:ln>
        </p:spPr>
      </p:sp>
      <p:sp>
        <p:nvSpPr>
          <p:cNvPr id="86" name="Shape 84"/>
          <p:cNvSpPr/>
          <p:nvPr/>
        </p:nvSpPr>
        <p:spPr>
          <a:xfrm>
            <a:off x="8252460" y="4745736"/>
            <a:ext cx="169164" cy="169164"/>
          </a:xfrm>
          <a:prstGeom prst="rect">
            <a:avLst/>
          </a:prstGeom>
          <a:solidFill>
            <a:srgbClr val="9A3B3B"/>
          </a:solidFill>
          <a:ln w="12700">
            <a:solidFill>
              <a:srgbClr val="333333"/>
            </a:solidFill>
            <a:prstDash val="solid"/>
          </a:ln>
        </p:spPr>
      </p:sp>
      <p:sp>
        <p:nvSpPr>
          <p:cNvPr id="87" name="Shape 85"/>
          <p:cNvSpPr/>
          <p:nvPr/>
        </p:nvSpPr>
        <p:spPr>
          <a:xfrm>
            <a:off x="8467344" y="4745736"/>
            <a:ext cx="169164" cy="169164"/>
          </a:xfrm>
          <a:prstGeom prst="rect">
            <a:avLst/>
          </a:prstGeom>
          <a:solidFill>
            <a:srgbClr val="9A3B3B"/>
          </a:solidFill>
          <a:ln w="12700">
            <a:solidFill>
              <a:srgbClr val="333333"/>
            </a:solidFill>
            <a:prstDash val="solid"/>
          </a:ln>
        </p:spPr>
      </p:sp>
      <p:sp>
        <p:nvSpPr>
          <p:cNvPr id="88" name="Shape 86"/>
          <p:cNvSpPr/>
          <p:nvPr/>
        </p:nvSpPr>
        <p:spPr>
          <a:xfrm>
            <a:off x="8682228" y="4745736"/>
            <a:ext cx="169164" cy="169164"/>
          </a:xfrm>
          <a:prstGeom prst="rect">
            <a:avLst/>
          </a:prstGeom>
          <a:solidFill>
            <a:srgbClr val="9A3B3B"/>
          </a:solidFill>
          <a:ln w="12700">
            <a:solidFill>
              <a:srgbClr val="333333"/>
            </a:solidFill>
            <a:prstDash val="solid"/>
          </a:ln>
        </p:spPr>
      </p:sp>
      <p:sp>
        <p:nvSpPr>
          <p:cNvPr id="89" name="Shape 87"/>
          <p:cNvSpPr/>
          <p:nvPr/>
        </p:nvSpPr>
        <p:spPr>
          <a:xfrm>
            <a:off x="8897112" y="4745736"/>
            <a:ext cx="169164" cy="169164"/>
          </a:xfrm>
          <a:prstGeom prst="rect">
            <a:avLst/>
          </a:prstGeom>
          <a:solidFill>
            <a:srgbClr val="9A3B3B"/>
          </a:solidFill>
          <a:ln w="12700">
            <a:solidFill>
              <a:srgbClr val="333333"/>
            </a:solidFill>
            <a:prstDash val="solid"/>
          </a:ln>
        </p:spPr>
      </p:sp>
      <p:sp>
        <p:nvSpPr>
          <p:cNvPr id="90" name="Shape 88"/>
          <p:cNvSpPr/>
          <p:nvPr/>
        </p:nvSpPr>
        <p:spPr>
          <a:xfrm>
            <a:off x="9111996" y="4745736"/>
            <a:ext cx="169164" cy="169164"/>
          </a:xfrm>
          <a:prstGeom prst="rect">
            <a:avLst/>
          </a:prstGeom>
          <a:solidFill>
            <a:srgbClr val="9A3B3B"/>
          </a:solidFill>
          <a:ln w="12700">
            <a:solidFill>
              <a:srgbClr val="333333"/>
            </a:solidFill>
            <a:prstDash val="solid"/>
          </a:ln>
        </p:spPr>
      </p:sp>
      <p:sp>
        <p:nvSpPr>
          <p:cNvPr id="91" name="Shape 89"/>
          <p:cNvSpPr/>
          <p:nvPr/>
        </p:nvSpPr>
        <p:spPr>
          <a:xfrm>
            <a:off x="9326880" y="4745736"/>
            <a:ext cx="169164" cy="169164"/>
          </a:xfrm>
          <a:prstGeom prst="rect">
            <a:avLst/>
          </a:prstGeom>
          <a:solidFill>
            <a:srgbClr val="9A3B3B"/>
          </a:solidFill>
          <a:ln w="12700">
            <a:solidFill>
              <a:srgbClr val="333333"/>
            </a:solidFill>
            <a:prstDash val="solid"/>
          </a:ln>
        </p:spPr>
      </p:sp>
      <p:sp>
        <p:nvSpPr>
          <p:cNvPr id="92" name="Shape 90"/>
          <p:cNvSpPr/>
          <p:nvPr/>
        </p:nvSpPr>
        <p:spPr>
          <a:xfrm>
            <a:off x="9541764" y="4745736"/>
            <a:ext cx="169164" cy="169164"/>
          </a:xfrm>
          <a:prstGeom prst="rect">
            <a:avLst/>
          </a:prstGeom>
          <a:solidFill>
            <a:srgbClr val="9A3B3B"/>
          </a:solidFill>
          <a:ln w="12700">
            <a:solidFill>
              <a:srgbClr val="333333"/>
            </a:solidFill>
            <a:prstDash val="solid"/>
          </a:ln>
        </p:spPr>
      </p:sp>
      <p:sp>
        <p:nvSpPr>
          <p:cNvPr id="93" name="Shape 91"/>
          <p:cNvSpPr/>
          <p:nvPr/>
        </p:nvSpPr>
        <p:spPr>
          <a:xfrm>
            <a:off x="9756648" y="4745736"/>
            <a:ext cx="169164" cy="169164"/>
          </a:xfrm>
          <a:prstGeom prst="rect">
            <a:avLst/>
          </a:prstGeom>
          <a:solidFill>
            <a:srgbClr val="9A3B3B"/>
          </a:solidFill>
          <a:ln w="12700">
            <a:solidFill>
              <a:srgbClr val="333333"/>
            </a:solidFill>
            <a:prstDash val="solid"/>
          </a:ln>
        </p:spPr>
      </p:sp>
      <p:sp>
        <p:nvSpPr>
          <p:cNvPr id="94" name="Shape 92"/>
          <p:cNvSpPr/>
          <p:nvPr/>
        </p:nvSpPr>
        <p:spPr>
          <a:xfrm>
            <a:off x="9971532" y="4745736"/>
            <a:ext cx="169164" cy="169164"/>
          </a:xfrm>
          <a:prstGeom prst="rect">
            <a:avLst/>
          </a:prstGeom>
          <a:solidFill>
            <a:srgbClr val="9A3B3B"/>
          </a:solidFill>
          <a:ln w="12700">
            <a:solidFill>
              <a:srgbClr val="333333"/>
            </a:solidFill>
            <a:prstDash val="solid"/>
          </a:ln>
        </p:spPr>
      </p:sp>
      <p:sp>
        <p:nvSpPr>
          <p:cNvPr id="95" name="Shape 93"/>
          <p:cNvSpPr/>
          <p:nvPr/>
        </p:nvSpPr>
        <p:spPr>
          <a:xfrm>
            <a:off x="10186416" y="4745736"/>
            <a:ext cx="169164" cy="169164"/>
          </a:xfrm>
          <a:prstGeom prst="rect">
            <a:avLst/>
          </a:prstGeom>
          <a:solidFill>
            <a:srgbClr val="9A3B3B"/>
          </a:solidFill>
          <a:ln w="12700">
            <a:solidFill>
              <a:srgbClr val="333333"/>
            </a:solidFill>
            <a:prstDash val="solid"/>
          </a:ln>
        </p:spPr>
      </p:sp>
      <p:sp>
        <p:nvSpPr>
          <p:cNvPr id="96" name="Shape 94"/>
          <p:cNvSpPr/>
          <p:nvPr/>
        </p:nvSpPr>
        <p:spPr>
          <a:xfrm>
            <a:off x="10401300" y="4745736"/>
            <a:ext cx="169164" cy="169164"/>
          </a:xfrm>
          <a:prstGeom prst="rect">
            <a:avLst/>
          </a:prstGeom>
          <a:solidFill>
            <a:srgbClr val="9A3B3B"/>
          </a:solidFill>
          <a:ln w="12700">
            <a:solidFill>
              <a:srgbClr val="333333"/>
            </a:solidFill>
            <a:prstDash val="solid"/>
          </a:ln>
        </p:spPr>
      </p:sp>
      <p:sp>
        <p:nvSpPr>
          <p:cNvPr id="97" name="Shape 95"/>
          <p:cNvSpPr/>
          <p:nvPr/>
        </p:nvSpPr>
        <p:spPr>
          <a:xfrm>
            <a:off x="8037576" y="4960620"/>
            <a:ext cx="169164" cy="169164"/>
          </a:xfrm>
          <a:prstGeom prst="rect">
            <a:avLst/>
          </a:prstGeom>
          <a:solidFill>
            <a:srgbClr val="9A3B3B"/>
          </a:solidFill>
          <a:ln w="12700">
            <a:solidFill>
              <a:srgbClr val="333333"/>
            </a:solidFill>
            <a:prstDash val="solid"/>
          </a:ln>
        </p:spPr>
      </p:sp>
      <p:sp>
        <p:nvSpPr>
          <p:cNvPr id="98" name="Shape 96"/>
          <p:cNvSpPr/>
          <p:nvPr/>
        </p:nvSpPr>
        <p:spPr>
          <a:xfrm>
            <a:off x="8252460" y="4960620"/>
            <a:ext cx="169164" cy="169164"/>
          </a:xfrm>
          <a:prstGeom prst="rect">
            <a:avLst/>
          </a:prstGeom>
          <a:solidFill>
            <a:srgbClr val="9A3B3B"/>
          </a:solidFill>
          <a:ln w="12700">
            <a:solidFill>
              <a:srgbClr val="333333"/>
            </a:solidFill>
            <a:prstDash val="solid"/>
          </a:ln>
        </p:spPr>
      </p:sp>
      <p:sp>
        <p:nvSpPr>
          <p:cNvPr id="99" name="Shape 97"/>
          <p:cNvSpPr/>
          <p:nvPr/>
        </p:nvSpPr>
        <p:spPr>
          <a:xfrm>
            <a:off x="8467344" y="4960620"/>
            <a:ext cx="169164" cy="169164"/>
          </a:xfrm>
          <a:prstGeom prst="rect">
            <a:avLst/>
          </a:prstGeom>
          <a:solidFill>
            <a:srgbClr val="9A3B3B"/>
          </a:solidFill>
          <a:ln w="12700">
            <a:solidFill>
              <a:srgbClr val="333333"/>
            </a:solidFill>
            <a:prstDash val="solid"/>
          </a:ln>
        </p:spPr>
      </p:sp>
      <p:sp>
        <p:nvSpPr>
          <p:cNvPr id="100" name="Shape 98"/>
          <p:cNvSpPr/>
          <p:nvPr/>
        </p:nvSpPr>
        <p:spPr>
          <a:xfrm>
            <a:off x="8682228" y="4960620"/>
            <a:ext cx="169164" cy="169164"/>
          </a:xfrm>
          <a:prstGeom prst="rect">
            <a:avLst/>
          </a:prstGeom>
          <a:solidFill>
            <a:srgbClr val="9A3B3B"/>
          </a:solidFill>
          <a:ln w="12700">
            <a:solidFill>
              <a:srgbClr val="333333"/>
            </a:solidFill>
            <a:prstDash val="solid"/>
          </a:ln>
        </p:spPr>
      </p:sp>
      <p:sp>
        <p:nvSpPr>
          <p:cNvPr id="101" name="Shape 99"/>
          <p:cNvSpPr/>
          <p:nvPr/>
        </p:nvSpPr>
        <p:spPr>
          <a:xfrm>
            <a:off x="8897112" y="4960620"/>
            <a:ext cx="169164" cy="169164"/>
          </a:xfrm>
          <a:prstGeom prst="rect">
            <a:avLst/>
          </a:prstGeom>
          <a:solidFill>
            <a:srgbClr val="9A3B3B"/>
          </a:solidFill>
          <a:ln w="12700">
            <a:solidFill>
              <a:srgbClr val="333333"/>
            </a:solidFill>
            <a:prstDash val="solid"/>
          </a:ln>
        </p:spPr>
      </p:sp>
      <p:sp>
        <p:nvSpPr>
          <p:cNvPr id="102" name="Shape 100"/>
          <p:cNvSpPr/>
          <p:nvPr/>
        </p:nvSpPr>
        <p:spPr>
          <a:xfrm>
            <a:off x="9111996" y="4960620"/>
            <a:ext cx="169164" cy="169164"/>
          </a:xfrm>
          <a:prstGeom prst="rect">
            <a:avLst/>
          </a:prstGeom>
          <a:solidFill>
            <a:srgbClr val="9A3B3B"/>
          </a:solidFill>
          <a:ln w="12700">
            <a:solidFill>
              <a:srgbClr val="333333"/>
            </a:solidFill>
            <a:prstDash val="solid"/>
          </a:ln>
        </p:spPr>
      </p:sp>
      <p:sp>
        <p:nvSpPr>
          <p:cNvPr id="103" name="Shape 101"/>
          <p:cNvSpPr/>
          <p:nvPr/>
        </p:nvSpPr>
        <p:spPr>
          <a:xfrm>
            <a:off x="9326880" y="4960620"/>
            <a:ext cx="169164" cy="169164"/>
          </a:xfrm>
          <a:prstGeom prst="rect">
            <a:avLst/>
          </a:prstGeom>
          <a:solidFill>
            <a:srgbClr val="9A3B3B"/>
          </a:solidFill>
          <a:ln w="12700">
            <a:solidFill>
              <a:srgbClr val="333333"/>
            </a:solidFill>
            <a:prstDash val="solid"/>
          </a:ln>
        </p:spPr>
      </p:sp>
      <p:sp>
        <p:nvSpPr>
          <p:cNvPr id="104" name="Shape 102"/>
          <p:cNvSpPr/>
          <p:nvPr/>
        </p:nvSpPr>
        <p:spPr>
          <a:xfrm>
            <a:off x="9541764" y="4960620"/>
            <a:ext cx="169164" cy="169164"/>
          </a:xfrm>
          <a:prstGeom prst="rect">
            <a:avLst/>
          </a:prstGeom>
          <a:solidFill>
            <a:srgbClr val="9A3B3B"/>
          </a:solidFill>
          <a:ln w="12700">
            <a:solidFill>
              <a:srgbClr val="333333"/>
            </a:solidFill>
            <a:prstDash val="solid"/>
          </a:ln>
        </p:spPr>
      </p:sp>
      <p:sp>
        <p:nvSpPr>
          <p:cNvPr id="105" name="Shape 103"/>
          <p:cNvSpPr/>
          <p:nvPr/>
        </p:nvSpPr>
        <p:spPr>
          <a:xfrm>
            <a:off x="9756648" y="4960620"/>
            <a:ext cx="169164" cy="169164"/>
          </a:xfrm>
          <a:prstGeom prst="rect">
            <a:avLst/>
          </a:prstGeom>
          <a:solidFill>
            <a:srgbClr val="9A3B3B"/>
          </a:solidFill>
          <a:ln w="12700">
            <a:solidFill>
              <a:srgbClr val="333333"/>
            </a:solidFill>
            <a:prstDash val="solid"/>
          </a:ln>
        </p:spPr>
      </p:sp>
      <p:sp>
        <p:nvSpPr>
          <p:cNvPr id="106" name="Shape 104"/>
          <p:cNvSpPr/>
          <p:nvPr/>
        </p:nvSpPr>
        <p:spPr>
          <a:xfrm>
            <a:off x="9971532" y="4960620"/>
            <a:ext cx="169164" cy="169164"/>
          </a:xfrm>
          <a:prstGeom prst="rect">
            <a:avLst/>
          </a:prstGeom>
          <a:solidFill>
            <a:srgbClr val="9A3B3B"/>
          </a:solidFill>
          <a:ln w="12700">
            <a:solidFill>
              <a:srgbClr val="333333"/>
            </a:solidFill>
            <a:prstDash val="solid"/>
          </a:ln>
        </p:spPr>
      </p:sp>
      <p:sp>
        <p:nvSpPr>
          <p:cNvPr id="107" name="Shape 105"/>
          <p:cNvSpPr/>
          <p:nvPr/>
        </p:nvSpPr>
        <p:spPr>
          <a:xfrm>
            <a:off x="10186416" y="4960620"/>
            <a:ext cx="169164" cy="169164"/>
          </a:xfrm>
          <a:prstGeom prst="rect">
            <a:avLst/>
          </a:prstGeom>
          <a:solidFill>
            <a:srgbClr val="9A3B3B"/>
          </a:solidFill>
          <a:ln w="12700">
            <a:solidFill>
              <a:srgbClr val="333333"/>
            </a:solidFill>
            <a:prstDash val="solid"/>
          </a:ln>
        </p:spPr>
      </p:sp>
      <p:sp>
        <p:nvSpPr>
          <p:cNvPr id="108" name="Shape 106"/>
          <p:cNvSpPr/>
          <p:nvPr/>
        </p:nvSpPr>
        <p:spPr>
          <a:xfrm>
            <a:off x="10401300" y="4960620"/>
            <a:ext cx="169164" cy="169164"/>
          </a:xfrm>
          <a:prstGeom prst="rect">
            <a:avLst/>
          </a:prstGeom>
          <a:solidFill>
            <a:srgbClr val="9A3B3B"/>
          </a:solidFill>
          <a:ln w="12700">
            <a:solidFill>
              <a:srgbClr val="333333"/>
            </a:solidFill>
            <a:prstDash val="solid"/>
          </a:ln>
        </p:spPr>
      </p:sp>
      <p:sp>
        <p:nvSpPr>
          <p:cNvPr id="109" name="Shape 107"/>
          <p:cNvSpPr/>
          <p:nvPr/>
        </p:nvSpPr>
        <p:spPr>
          <a:xfrm>
            <a:off x="8037576" y="5175504"/>
            <a:ext cx="169164" cy="169164"/>
          </a:xfrm>
          <a:prstGeom prst="rect">
            <a:avLst/>
          </a:prstGeom>
          <a:solidFill>
            <a:srgbClr val="9A3B3B"/>
          </a:solidFill>
          <a:ln w="12700">
            <a:solidFill>
              <a:srgbClr val="333333"/>
            </a:solidFill>
            <a:prstDash val="solid"/>
          </a:ln>
        </p:spPr>
      </p:sp>
      <p:sp>
        <p:nvSpPr>
          <p:cNvPr id="110" name="Shape 108"/>
          <p:cNvSpPr/>
          <p:nvPr/>
        </p:nvSpPr>
        <p:spPr>
          <a:xfrm>
            <a:off x="8252460" y="5175504"/>
            <a:ext cx="169164" cy="169164"/>
          </a:xfrm>
          <a:prstGeom prst="rect">
            <a:avLst/>
          </a:prstGeom>
          <a:solidFill>
            <a:srgbClr val="9A3B3B"/>
          </a:solidFill>
          <a:ln w="12700">
            <a:solidFill>
              <a:srgbClr val="333333"/>
            </a:solidFill>
            <a:prstDash val="solid"/>
          </a:ln>
        </p:spPr>
      </p:sp>
      <p:sp>
        <p:nvSpPr>
          <p:cNvPr id="111" name="Shape 109"/>
          <p:cNvSpPr/>
          <p:nvPr/>
        </p:nvSpPr>
        <p:spPr>
          <a:xfrm>
            <a:off x="8467344" y="5175504"/>
            <a:ext cx="169164" cy="169164"/>
          </a:xfrm>
          <a:prstGeom prst="rect">
            <a:avLst/>
          </a:prstGeom>
          <a:solidFill>
            <a:srgbClr val="9A3B3B"/>
          </a:solidFill>
          <a:ln w="12700">
            <a:solidFill>
              <a:srgbClr val="333333"/>
            </a:solidFill>
            <a:prstDash val="solid"/>
          </a:ln>
        </p:spPr>
      </p:sp>
      <p:sp>
        <p:nvSpPr>
          <p:cNvPr id="112" name="Shape 110"/>
          <p:cNvSpPr/>
          <p:nvPr/>
        </p:nvSpPr>
        <p:spPr>
          <a:xfrm>
            <a:off x="8682228" y="5175504"/>
            <a:ext cx="169164" cy="169164"/>
          </a:xfrm>
          <a:prstGeom prst="rect">
            <a:avLst/>
          </a:prstGeom>
          <a:solidFill>
            <a:srgbClr val="9A3B3B"/>
          </a:solidFill>
          <a:ln w="12700">
            <a:solidFill>
              <a:srgbClr val="333333"/>
            </a:solidFill>
            <a:prstDash val="solid"/>
          </a:ln>
        </p:spPr>
      </p:sp>
      <p:sp>
        <p:nvSpPr>
          <p:cNvPr id="113" name="Shape 111"/>
          <p:cNvSpPr/>
          <p:nvPr/>
        </p:nvSpPr>
        <p:spPr>
          <a:xfrm>
            <a:off x="8897112" y="5175504"/>
            <a:ext cx="169164" cy="169164"/>
          </a:xfrm>
          <a:prstGeom prst="rect">
            <a:avLst/>
          </a:prstGeom>
          <a:solidFill>
            <a:srgbClr val="9A3B3B"/>
          </a:solidFill>
          <a:ln w="12700">
            <a:solidFill>
              <a:srgbClr val="333333"/>
            </a:solidFill>
            <a:prstDash val="solid"/>
          </a:ln>
        </p:spPr>
      </p:sp>
      <p:sp>
        <p:nvSpPr>
          <p:cNvPr id="114" name="Shape 112"/>
          <p:cNvSpPr/>
          <p:nvPr/>
        </p:nvSpPr>
        <p:spPr>
          <a:xfrm>
            <a:off x="9111996" y="5175504"/>
            <a:ext cx="169164" cy="169164"/>
          </a:xfrm>
          <a:prstGeom prst="rect">
            <a:avLst/>
          </a:prstGeom>
          <a:solidFill>
            <a:srgbClr val="9A3B3B"/>
          </a:solidFill>
          <a:ln w="12700">
            <a:solidFill>
              <a:srgbClr val="333333"/>
            </a:solidFill>
            <a:prstDash val="solid"/>
          </a:ln>
        </p:spPr>
      </p:sp>
      <p:sp>
        <p:nvSpPr>
          <p:cNvPr id="115" name="Shape 113"/>
          <p:cNvSpPr/>
          <p:nvPr/>
        </p:nvSpPr>
        <p:spPr>
          <a:xfrm>
            <a:off x="9326880" y="5175504"/>
            <a:ext cx="169164" cy="169164"/>
          </a:xfrm>
          <a:prstGeom prst="rect">
            <a:avLst/>
          </a:prstGeom>
          <a:solidFill>
            <a:srgbClr val="9A3B3B"/>
          </a:solidFill>
          <a:ln w="12700">
            <a:solidFill>
              <a:srgbClr val="333333"/>
            </a:solidFill>
            <a:prstDash val="solid"/>
          </a:ln>
        </p:spPr>
      </p:sp>
      <p:sp>
        <p:nvSpPr>
          <p:cNvPr id="116" name="Shape 114"/>
          <p:cNvSpPr/>
          <p:nvPr/>
        </p:nvSpPr>
        <p:spPr>
          <a:xfrm>
            <a:off x="9541764" y="5175504"/>
            <a:ext cx="169164" cy="169164"/>
          </a:xfrm>
          <a:prstGeom prst="rect">
            <a:avLst/>
          </a:prstGeom>
          <a:solidFill>
            <a:srgbClr val="9A3B3B"/>
          </a:solidFill>
          <a:ln w="12700">
            <a:solidFill>
              <a:srgbClr val="333333"/>
            </a:solidFill>
            <a:prstDash val="solid"/>
          </a:ln>
        </p:spPr>
      </p:sp>
      <p:sp>
        <p:nvSpPr>
          <p:cNvPr id="117" name="Shape 115"/>
          <p:cNvSpPr/>
          <p:nvPr/>
        </p:nvSpPr>
        <p:spPr>
          <a:xfrm>
            <a:off x="9756648" y="5175504"/>
            <a:ext cx="169164" cy="169164"/>
          </a:xfrm>
          <a:prstGeom prst="rect">
            <a:avLst/>
          </a:prstGeom>
          <a:solidFill>
            <a:srgbClr val="9A3B3B"/>
          </a:solidFill>
          <a:ln w="12700">
            <a:solidFill>
              <a:srgbClr val="333333"/>
            </a:solidFill>
            <a:prstDash val="solid"/>
          </a:ln>
        </p:spPr>
      </p:sp>
      <p:sp>
        <p:nvSpPr>
          <p:cNvPr id="118" name="Shape 116"/>
          <p:cNvSpPr/>
          <p:nvPr/>
        </p:nvSpPr>
        <p:spPr>
          <a:xfrm>
            <a:off x="9971532" y="5175504"/>
            <a:ext cx="169164" cy="169164"/>
          </a:xfrm>
          <a:prstGeom prst="rect">
            <a:avLst/>
          </a:prstGeom>
          <a:solidFill>
            <a:srgbClr val="9A3B3B"/>
          </a:solidFill>
          <a:ln w="12700">
            <a:solidFill>
              <a:srgbClr val="333333"/>
            </a:solidFill>
            <a:prstDash val="solid"/>
          </a:ln>
        </p:spPr>
      </p:sp>
      <p:sp>
        <p:nvSpPr>
          <p:cNvPr id="119" name="Shape 117"/>
          <p:cNvSpPr/>
          <p:nvPr/>
        </p:nvSpPr>
        <p:spPr>
          <a:xfrm>
            <a:off x="10186416" y="5175504"/>
            <a:ext cx="169164" cy="169164"/>
          </a:xfrm>
          <a:prstGeom prst="rect">
            <a:avLst/>
          </a:prstGeom>
          <a:solidFill>
            <a:srgbClr val="9A3B3B"/>
          </a:solidFill>
          <a:ln w="12700">
            <a:solidFill>
              <a:srgbClr val="333333"/>
            </a:solidFill>
            <a:prstDash val="solid"/>
          </a:ln>
        </p:spPr>
      </p:sp>
      <p:sp>
        <p:nvSpPr>
          <p:cNvPr id="120" name="Shape 118"/>
          <p:cNvSpPr/>
          <p:nvPr/>
        </p:nvSpPr>
        <p:spPr>
          <a:xfrm>
            <a:off x="10401300" y="5175504"/>
            <a:ext cx="169164" cy="169164"/>
          </a:xfrm>
          <a:prstGeom prst="rect">
            <a:avLst/>
          </a:prstGeom>
          <a:solidFill>
            <a:srgbClr val="9A3B3B"/>
          </a:solidFill>
          <a:ln w="12700">
            <a:solidFill>
              <a:srgbClr val="333333"/>
            </a:solidFill>
            <a:prstDash val="solid"/>
          </a:ln>
        </p:spPr>
      </p:sp>
      <p:sp>
        <p:nvSpPr>
          <p:cNvPr id="121" name="Shape 119"/>
          <p:cNvSpPr/>
          <p:nvPr/>
        </p:nvSpPr>
        <p:spPr>
          <a:xfrm>
            <a:off x="8037576" y="5390388"/>
            <a:ext cx="169164" cy="169164"/>
          </a:xfrm>
          <a:prstGeom prst="rect">
            <a:avLst/>
          </a:prstGeom>
          <a:solidFill>
            <a:srgbClr val="9A3B3B"/>
          </a:solidFill>
          <a:ln w="12700">
            <a:solidFill>
              <a:srgbClr val="333333"/>
            </a:solidFill>
            <a:prstDash val="solid"/>
          </a:ln>
        </p:spPr>
      </p:sp>
      <p:sp>
        <p:nvSpPr>
          <p:cNvPr id="122" name="Shape 120"/>
          <p:cNvSpPr/>
          <p:nvPr/>
        </p:nvSpPr>
        <p:spPr>
          <a:xfrm>
            <a:off x="8252460" y="5390388"/>
            <a:ext cx="169164" cy="169164"/>
          </a:xfrm>
          <a:prstGeom prst="rect">
            <a:avLst/>
          </a:prstGeom>
          <a:solidFill>
            <a:srgbClr val="9A3B3B"/>
          </a:solidFill>
          <a:ln w="12700">
            <a:solidFill>
              <a:srgbClr val="333333"/>
            </a:solidFill>
            <a:prstDash val="solid"/>
          </a:ln>
        </p:spPr>
      </p:sp>
      <p:sp>
        <p:nvSpPr>
          <p:cNvPr id="123" name="Shape 121"/>
          <p:cNvSpPr/>
          <p:nvPr/>
        </p:nvSpPr>
        <p:spPr>
          <a:xfrm>
            <a:off x="8467344" y="5390388"/>
            <a:ext cx="169164" cy="169164"/>
          </a:xfrm>
          <a:prstGeom prst="rect">
            <a:avLst/>
          </a:prstGeom>
          <a:solidFill>
            <a:srgbClr val="9A3B3B"/>
          </a:solidFill>
          <a:ln w="12700">
            <a:solidFill>
              <a:srgbClr val="333333"/>
            </a:solidFill>
            <a:prstDash val="solid"/>
          </a:ln>
        </p:spPr>
      </p:sp>
      <p:sp>
        <p:nvSpPr>
          <p:cNvPr id="124" name="Shape 122"/>
          <p:cNvSpPr/>
          <p:nvPr/>
        </p:nvSpPr>
        <p:spPr>
          <a:xfrm>
            <a:off x="8682228" y="5390388"/>
            <a:ext cx="169164" cy="169164"/>
          </a:xfrm>
          <a:prstGeom prst="rect">
            <a:avLst/>
          </a:prstGeom>
          <a:solidFill>
            <a:srgbClr val="9A3B3B"/>
          </a:solidFill>
          <a:ln w="12700">
            <a:solidFill>
              <a:srgbClr val="333333"/>
            </a:solidFill>
            <a:prstDash val="solid"/>
          </a:ln>
        </p:spPr>
      </p:sp>
      <p:sp>
        <p:nvSpPr>
          <p:cNvPr id="125" name="Shape 123"/>
          <p:cNvSpPr/>
          <p:nvPr/>
        </p:nvSpPr>
        <p:spPr>
          <a:xfrm>
            <a:off x="8897112" y="5390388"/>
            <a:ext cx="169164" cy="169164"/>
          </a:xfrm>
          <a:prstGeom prst="rect">
            <a:avLst/>
          </a:prstGeom>
          <a:solidFill>
            <a:srgbClr val="9A3B3B"/>
          </a:solidFill>
          <a:ln w="12700">
            <a:solidFill>
              <a:srgbClr val="333333"/>
            </a:solidFill>
            <a:prstDash val="solid"/>
          </a:ln>
        </p:spPr>
      </p:sp>
      <p:sp>
        <p:nvSpPr>
          <p:cNvPr id="126" name="Shape 124"/>
          <p:cNvSpPr/>
          <p:nvPr/>
        </p:nvSpPr>
        <p:spPr>
          <a:xfrm>
            <a:off x="9111996" y="5390388"/>
            <a:ext cx="169164" cy="169164"/>
          </a:xfrm>
          <a:prstGeom prst="rect">
            <a:avLst/>
          </a:prstGeom>
          <a:solidFill>
            <a:srgbClr val="9A3B3B"/>
          </a:solidFill>
          <a:ln w="12700">
            <a:solidFill>
              <a:srgbClr val="333333"/>
            </a:solidFill>
            <a:prstDash val="solid"/>
          </a:ln>
        </p:spPr>
      </p:sp>
      <p:sp>
        <p:nvSpPr>
          <p:cNvPr id="127" name="Shape 125"/>
          <p:cNvSpPr/>
          <p:nvPr/>
        </p:nvSpPr>
        <p:spPr>
          <a:xfrm>
            <a:off x="9326880" y="5390388"/>
            <a:ext cx="169164" cy="169164"/>
          </a:xfrm>
          <a:prstGeom prst="rect">
            <a:avLst/>
          </a:prstGeom>
          <a:solidFill>
            <a:srgbClr val="9A3B3B"/>
          </a:solidFill>
          <a:ln w="12700">
            <a:solidFill>
              <a:srgbClr val="333333"/>
            </a:solidFill>
            <a:prstDash val="solid"/>
          </a:ln>
        </p:spPr>
      </p:sp>
      <p:sp>
        <p:nvSpPr>
          <p:cNvPr id="128" name="Shape 126"/>
          <p:cNvSpPr/>
          <p:nvPr/>
        </p:nvSpPr>
        <p:spPr>
          <a:xfrm>
            <a:off x="9541764" y="5390388"/>
            <a:ext cx="169164" cy="169164"/>
          </a:xfrm>
          <a:prstGeom prst="rect">
            <a:avLst/>
          </a:prstGeom>
          <a:solidFill>
            <a:srgbClr val="9A3B3B"/>
          </a:solidFill>
          <a:ln w="12700">
            <a:solidFill>
              <a:srgbClr val="333333"/>
            </a:solidFill>
            <a:prstDash val="solid"/>
          </a:ln>
        </p:spPr>
      </p:sp>
      <p:sp>
        <p:nvSpPr>
          <p:cNvPr id="129" name="Shape 127"/>
          <p:cNvSpPr/>
          <p:nvPr/>
        </p:nvSpPr>
        <p:spPr>
          <a:xfrm>
            <a:off x="9756648" y="5390388"/>
            <a:ext cx="169164" cy="169164"/>
          </a:xfrm>
          <a:prstGeom prst="rect">
            <a:avLst/>
          </a:prstGeom>
          <a:solidFill>
            <a:srgbClr val="9A3B3B"/>
          </a:solidFill>
          <a:ln w="12700">
            <a:solidFill>
              <a:srgbClr val="333333"/>
            </a:solidFill>
            <a:prstDash val="solid"/>
          </a:ln>
        </p:spPr>
      </p:sp>
      <p:sp>
        <p:nvSpPr>
          <p:cNvPr id="130" name="Shape 128"/>
          <p:cNvSpPr/>
          <p:nvPr/>
        </p:nvSpPr>
        <p:spPr>
          <a:xfrm>
            <a:off x="9971532" y="5390388"/>
            <a:ext cx="169164" cy="169164"/>
          </a:xfrm>
          <a:prstGeom prst="rect">
            <a:avLst/>
          </a:prstGeom>
          <a:solidFill>
            <a:srgbClr val="9A3B3B"/>
          </a:solidFill>
          <a:ln w="12700">
            <a:solidFill>
              <a:srgbClr val="333333"/>
            </a:solidFill>
            <a:prstDash val="solid"/>
          </a:ln>
        </p:spPr>
      </p:sp>
      <p:sp>
        <p:nvSpPr>
          <p:cNvPr id="131" name="Shape 129"/>
          <p:cNvSpPr/>
          <p:nvPr/>
        </p:nvSpPr>
        <p:spPr>
          <a:xfrm>
            <a:off x="10186416" y="5390388"/>
            <a:ext cx="169164" cy="169164"/>
          </a:xfrm>
          <a:prstGeom prst="rect">
            <a:avLst/>
          </a:prstGeom>
          <a:solidFill>
            <a:srgbClr val="9A3B3B"/>
          </a:solidFill>
          <a:ln w="12700">
            <a:solidFill>
              <a:srgbClr val="333333"/>
            </a:solidFill>
            <a:prstDash val="solid"/>
          </a:ln>
        </p:spPr>
      </p:sp>
      <p:sp>
        <p:nvSpPr>
          <p:cNvPr id="132" name="Shape 130"/>
          <p:cNvSpPr/>
          <p:nvPr/>
        </p:nvSpPr>
        <p:spPr>
          <a:xfrm>
            <a:off x="10401300" y="5390388"/>
            <a:ext cx="169164" cy="169164"/>
          </a:xfrm>
          <a:prstGeom prst="rect">
            <a:avLst/>
          </a:prstGeom>
          <a:solidFill>
            <a:srgbClr val="9A3B3B"/>
          </a:solidFill>
          <a:ln w="12700">
            <a:solidFill>
              <a:srgbClr val="333333"/>
            </a:solidFill>
            <a:prstDash val="solid"/>
          </a:ln>
        </p:spPr>
      </p:sp>
      <p:sp>
        <p:nvSpPr>
          <p:cNvPr id="133" name="Shape 131"/>
          <p:cNvSpPr/>
          <p:nvPr/>
        </p:nvSpPr>
        <p:spPr>
          <a:xfrm>
            <a:off x="8037576" y="5605272"/>
            <a:ext cx="169164" cy="169164"/>
          </a:xfrm>
          <a:prstGeom prst="rect">
            <a:avLst/>
          </a:prstGeom>
          <a:solidFill>
            <a:srgbClr val="9A3B3B"/>
          </a:solidFill>
          <a:ln w="12700">
            <a:solidFill>
              <a:srgbClr val="333333"/>
            </a:solidFill>
            <a:prstDash val="solid"/>
          </a:ln>
        </p:spPr>
      </p:sp>
      <p:sp>
        <p:nvSpPr>
          <p:cNvPr id="134" name="Shape 132"/>
          <p:cNvSpPr/>
          <p:nvPr/>
        </p:nvSpPr>
        <p:spPr>
          <a:xfrm>
            <a:off x="8252460" y="5605272"/>
            <a:ext cx="169164" cy="169164"/>
          </a:xfrm>
          <a:prstGeom prst="rect">
            <a:avLst/>
          </a:prstGeom>
          <a:solidFill>
            <a:srgbClr val="9A3B3B"/>
          </a:solidFill>
          <a:ln w="12700">
            <a:solidFill>
              <a:srgbClr val="333333"/>
            </a:solidFill>
            <a:prstDash val="solid"/>
          </a:ln>
        </p:spPr>
      </p:sp>
      <p:sp>
        <p:nvSpPr>
          <p:cNvPr id="135" name="Shape 133"/>
          <p:cNvSpPr/>
          <p:nvPr/>
        </p:nvSpPr>
        <p:spPr>
          <a:xfrm>
            <a:off x="8467344" y="5605272"/>
            <a:ext cx="169164" cy="169164"/>
          </a:xfrm>
          <a:prstGeom prst="rect">
            <a:avLst/>
          </a:prstGeom>
          <a:solidFill>
            <a:srgbClr val="9A3B3B"/>
          </a:solidFill>
          <a:ln w="12700">
            <a:solidFill>
              <a:srgbClr val="333333"/>
            </a:solidFill>
            <a:prstDash val="solid"/>
          </a:ln>
        </p:spPr>
      </p:sp>
      <p:sp>
        <p:nvSpPr>
          <p:cNvPr id="136" name="Shape 134"/>
          <p:cNvSpPr/>
          <p:nvPr/>
        </p:nvSpPr>
        <p:spPr>
          <a:xfrm>
            <a:off x="8682228" y="5605272"/>
            <a:ext cx="169164" cy="169164"/>
          </a:xfrm>
          <a:prstGeom prst="rect">
            <a:avLst/>
          </a:prstGeom>
          <a:solidFill>
            <a:srgbClr val="9A3B3B"/>
          </a:solidFill>
          <a:ln w="12700">
            <a:solidFill>
              <a:srgbClr val="333333"/>
            </a:solidFill>
            <a:prstDash val="solid"/>
          </a:ln>
        </p:spPr>
      </p:sp>
      <p:sp>
        <p:nvSpPr>
          <p:cNvPr id="137" name="Shape 135"/>
          <p:cNvSpPr/>
          <p:nvPr/>
        </p:nvSpPr>
        <p:spPr>
          <a:xfrm>
            <a:off x="8897112" y="5605272"/>
            <a:ext cx="169164" cy="169164"/>
          </a:xfrm>
          <a:prstGeom prst="rect">
            <a:avLst/>
          </a:prstGeom>
          <a:solidFill>
            <a:srgbClr val="9A3B3B"/>
          </a:solidFill>
          <a:ln w="12700">
            <a:solidFill>
              <a:srgbClr val="333333"/>
            </a:solidFill>
            <a:prstDash val="solid"/>
          </a:ln>
        </p:spPr>
      </p:sp>
      <p:sp>
        <p:nvSpPr>
          <p:cNvPr id="138" name="Shape 136"/>
          <p:cNvSpPr/>
          <p:nvPr/>
        </p:nvSpPr>
        <p:spPr>
          <a:xfrm>
            <a:off x="9111996" y="5605272"/>
            <a:ext cx="169164" cy="169164"/>
          </a:xfrm>
          <a:prstGeom prst="rect">
            <a:avLst/>
          </a:prstGeom>
          <a:solidFill>
            <a:srgbClr val="9A3B3B"/>
          </a:solidFill>
          <a:ln w="12700">
            <a:solidFill>
              <a:srgbClr val="333333"/>
            </a:solidFill>
            <a:prstDash val="solid"/>
          </a:ln>
        </p:spPr>
      </p:sp>
      <p:sp>
        <p:nvSpPr>
          <p:cNvPr id="139" name="Shape 137"/>
          <p:cNvSpPr/>
          <p:nvPr/>
        </p:nvSpPr>
        <p:spPr>
          <a:xfrm>
            <a:off x="9326880" y="5605272"/>
            <a:ext cx="169164" cy="169164"/>
          </a:xfrm>
          <a:prstGeom prst="rect">
            <a:avLst/>
          </a:prstGeom>
          <a:solidFill>
            <a:srgbClr val="9A3B3B"/>
          </a:solidFill>
          <a:ln w="12700">
            <a:solidFill>
              <a:srgbClr val="333333"/>
            </a:solidFill>
            <a:prstDash val="solid"/>
          </a:ln>
        </p:spPr>
      </p:sp>
      <p:sp>
        <p:nvSpPr>
          <p:cNvPr id="140" name="Shape 138"/>
          <p:cNvSpPr/>
          <p:nvPr/>
        </p:nvSpPr>
        <p:spPr>
          <a:xfrm>
            <a:off x="9541764" y="5605272"/>
            <a:ext cx="169164" cy="169164"/>
          </a:xfrm>
          <a:prstGeom prst="rect">
            <a:avLst/>
          </a:prstGeom>
          <a:solidFill>
            <a:srgbClr val="9A3B3B"/>
          </a:solidFill>
          <a:ln w="12700">
            <a:solidFill>
              <a:srgbClr val="333333"/>
            </a:solidFill>
            <a:prstDash val="solid"/>
          </a:ln>
        </p:spPr>
      </p:sp>
      <p:sp>
        <p:nvSpPr>
          <p:cNvPr id="141" name="Shape 139"/>
          <p:cNvSpPr/>
          <p:nvPr/>
        </p:nvSpPr>
        <p:spPr>
          <a:xfrm>
            <a:off x="9756648" y="5605272"/>
            <a:ext cx="169164" cy="169164"/>
          </a:xfrm>
          <a:prstGeom prst="rect">
            <a:avLst/>
          </a:prstGeom>
          <a:solidFill>
            <a:srgbClr val="9A3B3B"/>
          </a:solidFill>
          <a:ln w="12700">
            <a:solidFill>
              <a:srgbClr val="333333"/>
            </a:solidFill>
            <a:prstDash val="solid"/>
          </a:ln>
        </p:spPr>
      </p:sp>
      <p:sp>
        <p:nvSpPr>
          <p:cNvPr id="142" name="Shape 140"/>
          <p:cNvSpPr/>
          <p:nvPr/>
        </p:nvSpPr>
        <p:spPr>
          <a:xfrm>
            <a:off x="9971532" y="5605272"/>
            <a:ext cx="169164" cy="169164"/>
          </a:xfrm>
          <a:prstGeom prst="rect">
            <a:avLst/>
          </a:prstGeom>
          <a:solidFill>
            <a:srgbClr val="9A3B3B"/>
          </a:solidFill>
          <a:ln w="12700">
            <a:solidFill>
              <a:srgbClr val="333333"/>
            </a:solidFill>
            <a:prstDash val="solid"/>
          </a:ln>
        </p:spPr>
      </p:sp>
      <p:sp>
        <p:nvSpPr>
          <p:cNvPr id="143" name="Shape 141"/>
          <p:cNvSpPr/>
          <p:nvPr/>
        </p:nvSpPr>
        <p:spPr>
          <a:xfrm>
            <a:off x="10186416" y="5605272"/>
            <a:ext cx="169164" cy="169164"/>
          </a:xfrm>
          <a:prstGeom prst="rect">
            <a:avLst/>
          </a:prstGeom>
          <a:solidFill>
            <a:srgbClr val="9A3B3B"/>
          </a:solidFill>
          <a:ln w="12700">
            <a:solidFill>
              <a:srgbClr val="333333"/>
            </a:solidFill>
            <a:prstDash val="solid"/>
          </a:ln>
        </p:spPr>
      </p:sp>
      <p:sp>
        <p:nvSpPr>
          <p:cNvPr id="144" name="Shape 142"/>
          <p:cNvSpPr/>
          <p:nvPr/>
        </p:nvSpPr>
        <p:spPr>
          <a:xfrm>
            <a:off x="10401300" y="5605272"/>
            <a:ext cx="169164" cy="169164"/>
          </a:xfrm>
          <a:prstGeom prst="rect">
            <a:avLst/>
          </a:prstGeom>
          <a:solidFill>
            <a:srgbClr val="9A3B3B"/>
          </a:solidFill>
          <a:ln w="12700">
            <a:solidFill>
              <a:srgbClr val="333333"/>
            </a:solidFill>
            <a:prstDash val="solid"/>
          </a:ln>
        </p:spPr>
      </p:sp>
      <p:sp>
        <p:nvSpPr>
          <p:cNvPr id="145" name="Shape 143"/>
          <p:cNvSpPr/>
          <p:nvPr/>
        </p:nvSpPr>
        <p:spPr>
          <a:xfrm>
            <a:off x="8037576" y="5820156"/>
            <a:ext cx="169164" cy="169164"/>
          </a:xfrm>
          <a:prstGeom prst="rect">
            <a:avLst/>
          </a:prstGeom>
          <a:solidFill>
            <a:srgbClr val="9A3B3B"/>
          </a:solidFill>
          <a:ln w="12700">
            <a:solidFill>
              <a:srgbClr val="333333"/>
            </a:solidFill>
            <a:prstDash val="solid"/>
          </a:ln>
        </p:spPr>
      </p:sp>
      <p:sp>
        <p:nvSpPr>
          <p:cNvPr id="146" name="Shape 144"/>
          <p:cNvSpPr/>
          <p:nvPr/>
        </p:nvSpPr>
        <p:spPr>
          <a:xfrm>
            <a:off x="8252460" y="5820156"/>
            <a:ext cx="169164" cy="169164"/>
          </a:xfrm>
          <a:prstGeom prst="rect">
            <a:avLst/>
          </a:prstGeom>
          <a:solidFill>
            <a:srgbClr val="9A3B3B"/>
          </a:solidFill>
          <a:ln w="12700">
            <a:solidFill>
              <a:srgbClr val="333333"/>
            </a:solidFill>
            <a:prstDash val="solid"/>
          </a:ln>
        </p:spPr>
      </p:sp>
      <p:sp>
        <p:nvSpPr>
          <p:cNvPr id="147" name="Shape 145"/>
          <p:cNvSpPr/>
          <p:nvPr/>
        </p:nvSpPr>
        <p:spPr>
          <a:xfrm>
            <a:off x="8467344" y="5820156"/>
            <a:ext cx="169164" cy="169164"/>
          </a:xfrm>
          <a:prstGeom prst="rect">
            <a:avLst/>
          </a:prstGeom>
          <a:solidFill>
            <a:srgbClr val="9A3B3B"/>
          </a:solidFill>
          <a:ln w="12700">
            <a:solidFill>
              <a:srgbClr val="333333"/>
            </a:solidFill>
            <a:prstDash val="solid"/>
          </a:ln>
        </p:spPr>
      </p:sp>
      <p:sp>
        <p:nvSpPr>
          <p:cNvPr id="148" name="Shape 146"/>
          <p:cNvSpPr/>
          <p:nvPr/>
        </p:nvSpPr>
        <p:spPr>
          <a:xfrm>
            <a:off x="8682228" y="5820156"/>
            <a:ext cx="169164" cy="169164"/>
          </a:xfrm>
          <a:prstGeom prst="rect">
            <a:avLst/>
          </a:prstGeom>
          <a:solidFill>
            <a:srgbClr val="9A3B3B"/>
          </a:solidFill>
          <a:ln w="12700">
            <a:solidFill>
              <a:srgbClr val="333333"/>
            </a:solidFill>
            <a:prstDash val="solid"/>
          </a:ln>
        </p:spPr>
      </p:sp>
      <p:sp>
        <p:nvSpPr>
          <p:cNvPr id="149" name="Shape 147"/>
          <p:cNvSpPr/>
          <p:nvPr/>
        </p:nvSpPr>
        <p:spPr>
          <a:xfrm>
            <a:off x="8897112" y="5820156"/>
            <a:ext cx="169164" cy="169164"/>
          </a:xfrm>
          <a:prstGeom prst="rect">
            <a:avLst/>
          </a:prstGeom>
          <a:solidFill>
            <a:srgbClr val="9A3B3B"/>
          </a:solidFill>
          <a:ln w="12700">
            <a:solidFill>
              <a:srgbClr val="333333"/>
            </a:solidFill>
            <a:prstDash val="solid"/>
          </a:ln>
        </p:spPr>
      </p:sp>
      <p:sp>
        <p:nvSpPr>
          <p:cNvPr id="150" name="Shape 148"/>
          <p:cNvSpPr/>
          <p:nvPr/>
        </p:nvSpPr>
        <p:spPr>
          <a:xfrm>
            <a:off x="9111996" y="5820156"/>
            <a:ext cx="169164" cy="169164"/>
          </a:xfrm>
          <a:prstGeom prst="rect">
            <a:avLst/>
          </a:prstGeom>
          <a:solidFill>
            <a:srgbClr val="9A3B3B"/>
          </a:solidFill>
          <a:ln w="12700">
            <a:solidFill>
              <a:srgbClr val="333333"/>
            </a:solidFill>
            <a:prstDash val="solid"/>
          </a:ln>
        </p:spPr>
      </p:sp>
      <p:sp>
        <p:nvSpPr>
          <p:cNvPr id="151" name="Shape 149"/>
          <p:cNvSpPr/>
          <p:nvPr/>
        </p:nvSpPr>
        <p:spPr>
          <a:xfrm>
            <a:off x="9326880" y="5820156"/>
            <a:ext cx="169164" cy="169164"/>
          </a:xfrm>
          <a:prstGeom prst="rect">
            <a:avLst/>
          </a:prstGeom>
          <a:solidFill>
            <a:srgbClr val="9A3B3B"/>
          </a:solidFill>
          <a:ln w="12700">
            <a:solidFill>
              <a:srgbClr val="333333"/>
            </a:solidFill>
            <a:prstDash val="solid"/>
          </a:ln>
        </p:spPr>
      </p:sp>
      <p:sp>
        <p:nvSpPr>
          <p:cNvPr id="152" name="Shape 150"/>
          <p:cNvSpPr/>
          <p:nvPr/>
        </p:nvSpPr>
        <p:spPr>
          <a:xfrm>
            <a:off x="9541764" y="5820156"/>
            <a:ext cx="169164" cy="169164"/>
          </a:xfrm>
          <a:prstGeom prst="rect">
            <a:avLst/>
          </a:prstGeom>
          <a:solidFill>
            <a:srgbClr val="9A3B3B"/>
          </a:solidFill>
          <a:ln w="12700">
            <a:solidFill>
              <a:srgbClr val="333333"/>
            </a:solidFill>
            <a:prstDash val="solid"/>
          </a:ln>
        </p:spPr>
      </p:sp>
      <p:sp>
        <p:nvSpPr>
          <p:cNvPr id="153" name="Shape 151"/>
          <p:cNvSpPr/>
          <p:nvPr/>
        </p:nvSpPr>
        <p:spPr>
          <a:xfrm>
            <a:off x="9756648" y="5820156"/>
            <a:ext cx="169164" cy="169164"/>
          </a:xfrm>
          <a:prstGeom prst="rect">
            <a:avLst/>
          </a:prstGeom>
          <a:solidFill>
            <a:srgbClr val="9A3B3B"/>
          </a:solidFill>
          <a:ln w="12700">
            <a:solidFill>
              <a:srgbClr val="333333"/>
            </a:solidFill>
            <a:prstDash val="solid"/>
          </a:ln>
        </p:spPr>
      </p:sp>
      <p:sp>
        <p:nvSpPr>
          <p:cNvPr id="154" name="Shape 152"/>
          <p:cNvSpPr/>
          <p:nvPr/>
        </p:nvSpPr>
        <p:spPr>
          <a:xfrm>
            <a:off x="9971532" y="5820156"/>
            <a:ext cx="169164" cy="169164"/>
          </a:xfrm>
          <a:prstGeom prst="rect">
            <a:avLst/>
          </a:prstGeom>
          <a:solidFill>
            <a:srgbClr val="9A3B3B"/>
          </a:solidFill>
          <a:ln w="12700">
            <a:solidFill>
              <a:srgbClr val="333333"/>
            </a:solidFill>
            <a:prstDash val="solid"/>
          </a:ln>
        </p:spPr>
      </p:sp>
      <p:sp>
        <p:nvSpPr>
          <p:cNvPr id="155" name="Shape 153"/>
          <p:cNvSpPr/>
          <p:nvPr/>
        </p:nvSpPr>
        <p:spPr>
          <a:xfrm>
            <a:off x="10186416" y="5820156"/>
            <a:ext cx="169164" cy="169164"/>
          </a:xfrm>
          <a:prstGeom prst="rect">
            <a:avLst/>
          </a:prstGeom>
          <a:solidFill>
            <a:srgbClr val="9A3B3B"/>
          </a:solidFill>
          <a:ln w="12700">
            <a:solidFill>
              <a:srgbClr val="333333"/>
            </a:solidFill>
            <a:prstDash val="solid"/>
          </a:ln>
        </p:spPr>
      </p:sp>
      <p:sp>
        <p:nvSpPr>
          <p:cNvPr id="156" name="Shape 154"/>
          <p:cNvSpPr/>
          <p:nvPr/>
        </p:nvSpPr>
        <p:spPr>
          <a:xfrm>
            <a:off x="10401300" y="5820156"/>
            <a:ext cx="169164" cy="169164"/>
          </a:xfrm>
          <a:prstGeom prst="rect">
            <a:avLst/>
          </a:prstGeom>
          <a:solidFill>
            <a:srgbClr val="9A3B3B"/>
          </a:solidFill>
          <a:ln w="12700">
            <a:solidFill>
              <a:srgbClr val="333333"/>
            </a:solidFill>
            <a:prstDash val="solid"/>
          </a:ln>
        </p:spPr>
      </p:sp>
      <p:sp>
        <p:nvSpPr>
          <p:cNvPr id="157" name="Text 155"/>
          <p:cNvSpPr txBox="1"/>
          <p:nvPr/>
        </p:nvSpPr>
        <p:spPr>
          <a:xfrm>
            <a:off x="6995160" y="6089904"/>
            <a:ext cx="4663440" cy="237744"/>
          </a:xfrm>
          <a:prstGeom prst="rect">
            <a:avLst/>
          </a:prstGeom>
          <a:noFill/>
          <a:ln/>
        </p:spPr>
        <p:txBody>
          <a:bodyPr wrap="square" lIns="0" tIns="0" rIns="0" bIns="0" rtlCol="0" anchor="ctr"/>
          <a:lstStyle/>
          <a:p>
            <a:pPr algn="ctr" indent="0" marL="0">
              <a:buNone/>
            </a:pPr>
            <a:r>
              <a:rPr lang="en-US" sz="1100" i="1" dirty="0">
                <a:solidFill>
                  <a:srgbClr val="6B7480"/>
                </a:solidFill>
                <a:latin typeface="Calibri" pitchFamily="34" charset="0"/>
                <a:ea typeface="Calibri" pitchFamily="34" charset="-122"/>
                <a:cs typeface="Calibri" pitchFamily="34" charset="-120"/>
              </a:rPr>
              <a:t>e.g. BERT-base: 12 layers × 12 heads — all of it, every time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WHERE THIS SITS</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Everyone else picks one architecture, once</a:t>
            </a:r>
            <a:endParaRPr lang="en-US" sz="3200" dirty="0"/>
          </a:p>
        </p:txBody>
      </p:sp>
      <p:sp>
        <p:nvSpPr>
          <p:cNvPr id="4" name="Shape 2"/>
          <p:cNvSpPr/>
          <p:nvPr/>
        </p:nvSpPr>
        <p:spPr>
          <a:xfrm>
            <a:off x="566928" y="1591056"/>
            <a:ext cx="365760" cy="365760"/>
          </a:xfrm>
          <a:prstGeom prst="ellipse">
            <a:avLst/>
          </a:prstGeom>
          <a:solidFill>
            <a:srgbClr val="FFFFFF"/>
          </a:solidFill>
          <a:ln w="12700">
            <a:solidFill>
              <a:srgbClr val="1F2933"/>
            </a:solidFill>
            <a:prstDash val="solid"/>
          </a:ln>
        </p:spPr>
      </p:sp>
      <p:sp>
        <p:nvSpPr>
          <p:cNvPr id="5" name="Text 3"/>
          <p:cNvSpPr txBox="1"/>
          <p:nvPr/>
        </p:nvSpPr>
        <p:spPr>
          <a:xfrm>
            <a:off x="566928" y="1591056"/>
            <a:ext cx="365760" cy="36576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15568" y="1554480"/>
            <a:ext cx="6446520" cy="274320"/>
          </a:xfrm>
          <a:prstGeom prst="rect">
            <a:avLst/>
          </a:prstGeom>
          <a:noFill/>
          <a:ln/>
        </p:spPr>
        <p:txBody>
          <a:bodyPr wrap="square" lIns="0" tIns="0" rIns="0" bIns="0" rtlCol="0" anchor="ctr"/>
          <a:lstStyle/>
          <a:p>
            <a:pPr indent="0" marL="0">
              <a:buNone/>
            </a:pPr>
            <a:r>
              <a:rPr lang="en-US" sz="1600" b="1" dirty="0">
                <a:solidFill>
                  <a:srgbClr val="1F2933"/>
                </a:solidFill>
                <a:latin typeface="Cambria" pitchFamily="34" charset="0"/>
                <a:ea typeface="Cambria" pitchFamily="34" charset="-122"/>
                <a:cs typeface="Cambria" pitchFamily="34" charset="-120"/>
              </a:rPr>
              <a:t>Knowledge distillation</a:t>
            </a:r>
            <a:endParaRPr lang="en-US" sz="1600" dirty="0"/>
          </a:p>
        </p:txBody>
      </p:sp>
      <p:sp>
        <p:nvSpPr>
          <p:cNvPr id="7" name="Text 5"/>
          <p:cNvSpPr txBox="1"/>
          <p:nvPr/>
        </p:nvSpPr>
        <p:spPr>
          <a:xfrm>
            <a:off x="1115568" y="1837944"/>
            <a:ext cx="6446520" cy="566928"/>
          </a:xfrm>
          <a:prstGeom prst="rect">
            <a:avLst/>
          </a:prstGeom>
          <a:noFill/>
          <a:ln/>
        </p:spPr>
        <p:txBody>
          <a:bodyPr wrap="square" lIns="0" tIns="0" rIns="0" bIns="0" rtlCol="0" anchor="ctr"/>
          <a:lstStyle/>
          <a:p>
            <a:pPr indent="0" marL="0">
              <a:lnSpc>
                <a:spcPct val="110000"/>
              </a:lnSpc>
              <a:buNone/>
            </a:pPr>
            <a:r>
              <a:rPr lang="en-US" sz="1250" dirty="0">
                <a:solidFill>
                  <a:srgbClr val="3A4350"/>
                </a:solidFill>
                <a:latin typeface="Calibri" pitchFamily="34" charset="0"/>
                <a:ea typeface="Calibri" pitchFamily="34" charset="-122"/>
                <a:cs typeface="Calibri" pitchFamily="34" charset="-120"/>
              </a:rPr>
              <a:t>DistilBERT trains one smaller student model. Cheaper for everything — including inputs that needed the capacity.</a:t>
            </a:r>
            <a:endParaRPr lang="en-US" sz="1250" dirty="0"/>
          </a:p>
        </p:txBody>
      </p:sp>
      <p:sp>
        <p:nvSpPr>
          <p:cNvPr id="8" name="Shape 6"/>
          <p:cNvSpPr/>
          <p:nvPr/>
        </p:nvSpPr>
        <p:spPr>
          <a:xfrm>
            <a:off x="566928" y="2724912"/>
            <a:ext cx="365760" cy="365760"/>
          </a:xfrm>
          <a:prstGeom prst="ellipse">
            <a:avLst/>
          </a:prstGeom>
          <a:solidFill>
            <a:srgbClr val="FFFFFF"/>
          </a:solidFill>
          <a:ln w="12700">
            <a:solidFill>
              <a:srgbClr val="1F2933"/>
            </a:solidFill>
            <a:prstDash val="solid"/>
          </a:ln>
        </p:spPr>
      </p:sp>
      <p:sp>
        <p:nvSpPr>
          <p:cNvPr id="9" name="Text 7"/>
          <p:cNvSpPr txBox="1"/>
          <p:nvPr/>
        </p:nvSpPr>
        <p:spPr>
          <a:xfrm>
            <a:off x="566928" y="2724912"/>
            <a:ext cx="365760" cy="36576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115568" y="2688336"/>
            <a:ext cx="6446520" cy="274320"/>
          </a:xfrm>
          <a:prstGeom prst="rect">
            <a:avLst/>
          </a:prstGeom>
          <a:noFill/>
          <a:ln/>
        </p:spPr>
        <p:txBody>
          <a:bodyPr wrap="square" lIns="0" tIns="0" rIns="0" bIns="0" rtlCol="0" anchor="ctr"/>
          <a:lstStyle/>
          <a:p>
            <a:pPr indent="0" marL="0">
              <a:buNone/>
            </a:pPr>
            <a:r>
              <a:rPr lang="en-US" sz="1600" b="1" dirty="0">
                <a:solidFill>
                  <a:srgbClr val="1F2933"/>
                </a:solidFill>
                <a:latin typeface="Cambria" pitchFamily="34" charset="0"/>
                <a:ea typeface="Cambria" pitchFamily="34" charset="-122"/>
                <a:cs typeface="Cambria" pitchFamily="34" charset="-120"/>
              </a:rPr>
              <a:t>Head / structured pruning</a:t>
            </a:r>
            <a:endParaRPr lang="en-US" sz="1600" dirty="0"/>
          </a:p>
        </p:txBody>
      </p:sp>
      <p:sp>
        <p:nvSpPr>
          <p:cNvPr id="11" name="Text 9"/>
          <p:cNvSpPr txBox="1"/>
          <p:nvPr/>
        </p:nvSpPr>
        <p:spPr>
          <a:xfrm>
            <a:off x="1115568" y="2971800"/>
            <a:ext cx="6446520" cy="566928"/>
          </a:xfrm>
          <a:prstGeom prst="rect">
            <a:avLst/>
          </a:prstGeom>
          <a:noFill/>
          <a:ln/>
        </p:spPr>
        <p:txBody>
          <a:bodyPr wrap="square" lIns="0" tIns="0" rIns="0" bIns="0" rtlCol="0" anchor="ctr"/>
          <a:lstStyle/>
          <a:p>
            <a:pPr indent="0" marL="0">
              <a:lnSpc>
                <a:spcPct val="110000"/>
              </a:lnSpc>
              <a:buNone/>
            </a:pPr>
            <a:r>
              <a:rPr lang="en-US" sz="1250" dirty="0">
                <a:solidFill>
                  <a:srgbClr val="3A4350"/>
                </a:solidFill>
                <a:latin typeface="Calibri" pitchFamily="34" charset="0"/>
                <a:ea typeface="Calibri" pitchFamily="34" charset="-122"/>
                <a:cs typeface="Calibri" pitchFamily="34" charset="-120"/>
              </a:rPr>
              <a:t>Rank heads by importance and delete them globally. A head useless on average may be the one that matters here.</a:t>
            </a:r>
            <a:endParaRPr lang="en-US" sz="1250" dirty="0"/>
          </a:p>
        </p:txBody>
      </p:sp>
      <p:sp>
        <p:nvSpPr>
          <p:cNvPr id="12" name="Shape 10"/>
          <p:cNvSpPr/>
          <p:nvPr/>
        </p:nvSpPr>
        <p:spPr>
          <a:xfrm>
            <a:off x="566928" y="3858768"/>
            <a:ext cx="365760" cy="365760"/>
          </a:xfrm>
          <a:prstGeom prst="ellipse">
            <a:avLst/>
          </a:prstGeom>
          <a:solidFill>
            <a:srgbClr val="FFFFFF"/>
          </a:solidFill>
          <a:ln w="12700">
            <a:solidFill>
              <a:srgbClr val="3D5A73"/>
            </a:solidFill>
            <a:prstDash val="solid"/>
          </a:ln>
        </p:spPr>
      </p:sp>
      <p:sp>
        <p:nvSpPr>
          <p:cNvPr id="13" name="Text 11"/>
          <p:cNvSpPr txBox="1"/>
          <p:nvPr/>
        </p:nvSpPr>
        <p:spPr>
          <a:xfrm>
            <a:off x="566928" y="3858768"/>
            <a:ext cx="365760" cy="365760"/>
          </a:xfrm>
          <a:prstGeom prst="rect">
            <a:avLst/>
          </a:prstGeom>
          <a:noFill/>
          <a:ln/>
        </p:spPr>
        <p:txBody>
          <a:bodyPr wrap="square" lIns="0" tIns="0" rIns="0" bIns="0" rtlCol="0" anchor="ctr"/>
          <a:lstStyle/>
          <a:p>
            <a:pPr algn="ctr" indent="0" marL="0">
              <a:buNone/>
            </a:pPr>
            <a:r>
              <a:rPr lang="en-US" sz="1200" b="1" dirty="0">
                <a:solidFill>
                  <a:srgbClr val="3D5A73"/>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115568" y="3822192"/>
            <a:ext cx="6446520" cy="274320"/>
          </a:xfrm>
          <a:prstGeom prst="rect">
            <a:avLst/>
          </a:prstGeom>
          <a:noFill/>
          <a:ln/>
        </p:spPr>
        <p:txBody>
          <a:bodyPr wrap="square" lIns="0" tIns="0" rIns="0" bIns="0" rtlCol="0" anchor="ctr"/>
          <a:lstStyle/>
          <a:p>
            <a:pPr indent="0" marL="0">
              <a:buNone/>
            </a:pPr>
            <a:r>
              <a:rPr lang="en-US" sz="1600" b="1" dirty="0">
                <a:solidFill>
                  <a:srgbClr val="1F2933"/>
                </a:solidFill>
                <a:latin typeface="Cambria" pitchFamily="34" charset="0"/>
                <a:ea typeface="Cambria" pitchFamily="34" charset="-122"/>
                <a:cs typeface="Cambria" pitchFamily="34" charset="-120"/>
              </a:rPr>
              <a:t>Early exit</a:t>
            </a:r>
            <a:endParaRPr lang="en-US" sz="1600" dirty="0"/>
          </a:p>
        </p:txBody>
      </p:sp>
      <p:sp>
        <p:nvSpPr>
          <p:cNvPr id="15" name="Text 13"/>
          <p:cNvSpPr txBox="1"/>
          <p:nvPr/>
        </p:nvSpPr>
        <p:spPr>
          <a:xfrm>
            <a:off x="1115568" y="4105656"/>
            <a:ext cx="6446520" cy="566928"/>
          </a:xfrm>
          <a:prstGeom prst="rect">
            <a:avLst/>
          </a:prstGeom>
          <a:noFill/>
          <a:ln/>
        </p:spPr>
        <p:txBody>
          <a:bodyPr wrap="square" lIns="0" tIns="0" rIns="0" bIns="0" rtlCol="0" anchor="ctr"/>
          <a:lstStyle/>
          <a:p>
            <a:pPr indent="0" marL="0">
              <a:lnSpc>
                <a:spcPct val="110000"/>
              </a:lnSpc>
              <a:buNone/>
            </a:pPr>
            <a:r>
              <a:rPr lang="en-US" sz="1250" dirty="0">
                <a:solidFill>
                  <a:srgbClr val="3A4350"/>
                </a:solidFill>
                <a:latin typeface="Calibri" pitchFamily="34" charset="0"/>
                <a:ea typeface="Calibri" pitchFamily="34" charset="-122"/>
                <a:cs typeface="Calibri" pitchFamily="34" charset="-120"/>
              </a:rPr>
              <a:t>FastBERT stops when a classifier is confident. Genuinely per-sample — but adapts depth only, never head identity.</a:t>
            </a:r>
            <a:endParaRPr lang="en-US" sz="1250" dirty="0"/>
          </a:p>
        </p:txBody>
      </p:sp>
      <p:sp>
        <p:nvSpPr>
          <p:cNvPr id="16" name="Shape 14"/>
          <p:cNvSpPr/>
          <p:nvPr/>
        </p:nvSpPr>
        <p:spPr>
          <a:xfrm>
            <a:off x="566928" y="4992624"/>
            <a:ext cx="365760" cy="365760"/>
          </a:xfrm>
          <a:prstGeom prst="ellipse">
            <a:avLst/>
          </a:prstGeom>
          <a:solidFill>
            <a:srgbClr val="FFFFFF"/>
          </a:solidFill>
          <a:ln w="12700">
            <a:solidFill>
              <a:srgbClr val="1F2933"/>
            </a:solidFill>
            <a:prstDash val="solid"/>
          </a:ln>
        </p:spPr>
      </p:sp>
      <p:sp>
        <p:nvSpPr>
          <p:cNvPr id="17" name="Text 15"/>
          <p:cNvSpPr txBox="1"/>
          <p:nvPr/>
        </p:nvSpPr>
        <p:spPr>
          <a:xfrm>
            <a:off x="566928" y="4992624"/>
            <a:ext cx="365760" cy="36576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115568" y="4956048"/>
            <a:ext cx="6446520" cy="274320"/>
          </a:xfrm>
          <a:prstGeom prst="rect">
            <a:avLst/>
          </a:prstGeom>
          <a:noFill/>
          <a:ln/>
        </p:spPr>
        <p:txBody>
          <a:bodyPr wrap="square" lIns="0" tIns="0" rIns="0" bIns="0" rtlCol="0" anchor="ctr"/>
          <a:lstStyle/>
          <a:p>
            <a:pPr indent="0" marL="0">
              <a:buNone/>
            </a:pPr>
            <a:r>
              <a:rPr lang="en-US" sz="1600" b="1" dirty="0">
                <a:solidFill>
                  <a:srgbClr val="1F2933"/>
                </a:solidFill>
                <a:latin typeface="Cambria" pitchFamily="34" charset="0"/>
                <a:ea typeface="Cambria" pitchFamily="34" charset="-122"/>
                <a:cs typeface="Cambria" pitchFamily="34" charset="-120"/>
              </a:rPr>
              <a:t>Neural architecture search</a:t>
            </a:r>
            <a:endParaRPr lang="en-US" sz="1600" dirty="0"/>
          </a:p>
        </p:txBody>
      </p:sp>
      <p:sp>
        <p:nvSpPr>
          <p:cNvPr id="19" name="Text 17"/>
          <p:cNvSpPr txBox="1"/>
          <p:nvPr/>
        </p:nvSpPr>
        <p:spPr>
          <a:xfrm>
            <a:off x="1115568" y="5239512"/>
            <a:ext cx="6446520" cy="566928"/>
          </a:xfrm>
          <a:prstGeom prst="rect">
            <a:avLst/>
          </a:prstGeom>
          <a:noFill/>
          <a:ln/>
        </p:spPr>
        <p:txBody>
          <a:bodyPr wrap="square" lIns="0" tIns="0" rIns="0" bIns="0" rtlCol="0" anchor="ctr"/>
          <a:lstStyle/>
          <a:p>
            <a:pPr indent="0" marL="0">
              <a:lnSpc>
                <a:spcPct val="110000"/>
              </a:lnSpc>
              <a:buNone/>
            </a:pPr>
            <a:r>
              <a:rPr lang="en-US" sz="1250" dirty="0">
                <a:solidFill>
                  <a:srgbClr val="3A4350"/>
                </a:solidFill>
                <a:latin typeface="Calibri" pitchFamily="34" charset="0"/>
                <a:ea typeface="Calibri" pitchFamily="34" charset="-122"/>
                <a:cs typeface="Calibri" pitchFamily="34" charset="-120"/>
              </a:rPr>
              <a:t>Searches the space properly, but trains an extra controller network and still emits one architecture for all inputs.</a:t>
            </a:r>
            <a:endParaRPr lang="en-US" sz="1250" dirty="0"/>
          </a:p>
        </p:txBody>
      </p:sp>
      <p:sp>
        <p:nvSpPr>
          <p:cNvPr id="20" name="Shape 18"/>
          <p:cNvSpPr/>
          <p:nvPr/>
        </p:nvSpPr>
        <p:spPr>
          <a:xfrm>
            <a:off x="7818120" y="1554480"/>
            <a:ext cx="3803904" cy="4197096"/>
          </a:xfrm>
          <a:prstGeom prst="rect">
            <a:avLst/>
          </a:prstGeom>
          <a:solidFill>
            <a:srgbClr val="EEF1F4"/>
          </a:solidFill>
          <a:ln w="9525">
            <a:solidFill>
              <a:srgbClr val="D5DAE0"/>
            </a:solidFill>
            <a:prstDash val="solid"/>
          </a:ln>
        </p:spPr>
      </p:sp>
      <p:sp>
        <p:nvSpPr>
          <p:cNvPr id="21" name="Text 19"/>
          <p:cNvSpPr txBox="1"/>
          <p:nvPr/>
        </p:nvSpPr>
        <p:spPr>
          <a:xfrm>
            <a:off x="8092440" y="1828800"/>
            <a:ext cx="3255264" cy="237744"/>
          </a:xfrm>
          <a:prstGeom prst="rect">
            <a:avLst/>
          </a:prstGeom>
          <a:noFill/>
          <a:ln/>
        </p:spPr>
        <p:txBody>
          <a:bodyPr wrap="square" lIns="0" tIns="0" rIns="0" bIns="0" rtlCol="0" anchor="ctr"/>
          <a:lstStyle/>
          <a:p>
            <a:pPr indent="0" marL="0">
              <a:buNone/>
            </a:pPr>
            <a:r>
              <a:rPr lang="en-US" sz="1100" b="1" spc="200" kern="0" dirty="0">
                <a:solidFill>
                  <a:srgbClr val="9A3B3B"/>
                </a:solidFill>
                <a:latin typeface="Calibri" pitchFamily="34" charset="0"/>
                <a:ea typeface="Calibri" pitchFamily="34" charset="-122"/>
                <a:cs typeface="Calibri" pitchFamily="34" charset="-120"/>
              </a:rPr>
              <a:t>THE GAP</a:t>
            </a:r>
            <a:endParaRPr lang="en-US" sz="1100" dirty="0"/>
          </a:p>
        </p:txBody>
      </p:sp>
      <p:sp>
        <p:nvSpPr>
          <p:cNvPr id="22" name="Text 20"/>
          <p:cNvSpPr txBox="1"/>
          <p:nvPr/>
        </p:nvSpPr>
        <p:spPr>
          <a:xfrm>
            <a:off x="8092440" y="2157984"/>
            <a:ext cx="3255264" cy="3383280"/>
          </a:xfrm>
          <a:prstGeom prst="rect">
            <a:avLst/>
          </a:prstGeom>
          <a:noFill/>
          <a:ln/>
        </p:spPr>
        <p:txBody>
          <a:bodyPr wrap="square" lIns="0" tIns="0" rIns="0" bIns="0" rtlCol="0" anchor="ctr"/>
          <a:lstStyle/>
          <a:p>
            <a:pPr indent="0" marL="0">
              <a:lnSpc>
                <a:spcPct val="122000"/>
              </a:lnSpc>
              <a:buNone/>
            </a:pPr>
            <a:r>
              <a:rPr lang="en-US" sz="1400" dirty="0">
                <a:solidFill>
                  <a:srgbClr val="1F2933"/>
                </a:solidFill>
                <a:latin typeface="Calibri" pitchFamily="34" charset="0"/>
                <a:ea typeface="Calibri" pitchFamily="34" charset="-122"/>
                <a:cs typeface="Calibri" pitchFamily="34" charset="-120"/>
              </a:rPr>
              <a:t>Nothing chooses both how deep and which heads, per sample, without training a second network to do it.</a:t>
            </a:r>
            <a:endParaRPr lang="en-US" sz="1400" dirty="0"/>
          </a:p>
          <a:p>
            <a:pPr indent="0" marL="0">
              <a:lnSpc>
                <a:spcPct val="122000"/>
              </a:lnSpc>
              <a:buNone/>
            </a:pPr>
            <a:r>
              <a:rPr lang="en-US" sz="800" dirty="0">
                <a:solidFill>
                  <a:srgbClr val="000000"/>
                </a:solidFill>
                <a:latin typeface="Calibri" pitchFamily="34" charset="0"/>
                <a:ea typeface="Calibri" pitchFamily="34" charset="-122"/>
                <a:cs typeface="Calibri" pitchFamily="34" charset="-120"/>
              </a:rPr>
              <a:t xml:space="preserve"> </a:t>
            </a:r>
            <a:endParaRPr lang="en-US" sz="1400" dirty="0"/>
          </a:p>
          <a:p>
            <a:pPr indent="0" marL="0">
              <a:lnSpc>
                <a:spcPct val="122000"/>
              </a:lnSpc>
              <a:buNone/>
            </a:pPr>
            <a:r>
              <a:rPr lang="en-US" sz="1400" dirty="0">
                <a:solidFill>
                  <a:srgbClr val="3A4350"/>
                </a:solidFill>
                <a:latin typeface="Calibri" pitchFamily="34" charset="0"/>
                <a:ea typeface="Calibri" pitchFamily="34" charset="-122"/>
                <a:cs typeface="Calibri" pitchFamily="34" charset="-120"/>
              </a:rPr>
              <a:t>DHT's answer: a contextual bandit. No auxiliary controller, no differentiable relaxation — just an online statistical model that scores discrete choices.</a:t>
            </a:r>
            <a:endParaRPr lang="en-US" sz="1400" dirty="0"/>
          </a:p>
        </p:txBody>
      </p:sp>
      <p:sp>
        <p:nvSpPr>
          <p:cNvPr id="23" name="Text 21"/>
          <p:cNvSpPr txBox="1"/>
          <p:nvPr/>
        </p:nvSpPr>
        <p:spPr>
          <a:xfrm>
            <a:off x="566928" y="6419088"/>
            <a:ext cx="11057839" cy="219456"/>
          </a:xfrm>
          <a:prstGeom prst="rect">
            <a:avLst/>
          </a:prstGeom>
          <a:noFill/>
          <a:ln/>
        </p:spPr>
        <p:txBody>
          <a:bodyPr wrap="square" lIns="0" tIns="0" rIns="0" bIns="0" rtlCol="0" anchor="ctr"/>
          <a:lstStyle/>
          <a:p>
            <a:pPr indent="0" marL="0">
              <a:buNone/>
            </a:pPr>
            <a:r>
              <a:rPr lang="en-US" sz="950" i="1" dirty="0">
                <a:solidFill>
                  <a:srgbClr val="6B7480"/>
                </a:solidFill>
                <a:latin typeface="Calibri" pitchFamily="34" charset="0"/>
                <a:ea typeface="Calibri" pitchFamily="34" charset="-122"/>
                <a:cs typeface="Calibri" pitchFamily="34" charset="-120"/>
              </a:rPr>
              <a:t>Baselines the paper compares against (Tables 1–2, p. 447): 12-layer vanilla BERT, 1/3/6-layer DistilBERT, FastBERT.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THE METHOD</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Three bandits, arranged as a hierarchy</a:t>
            </a:r>
            <a:endParaRPr lang="en-US" sz="3200" dirty="0"/>
          </a:p>
        </p:txBody>
      </p:sp>
      <p:sp>
        <p:nvSpPr>
          <p:cNvPr id="4" name="Text 2"/>
          <p:cNvSpPr txBox="1"/>
          <p:nvPr/>
        </p:nvSpPr>
        <p:spPr>
          <a:xfrm>
            <a:off x="566928" y="1371600"/>
            <a:ext cx="7315200" cy="219456"/>
          </a:xfrm>
          <a:prstGeom prst="rect">
            <a:avLst/>
          </a:prstGeom>
          <a:noFill/>
          <a:ln/>
        </p:spPr>
        <p:txBody>
          <a:bodyPr wrap="square" lIns="0" tIns="0" rIns="0" bIns="0" rtlCol="0" anchor="ctr"/>
          <a:lstStyle/>
          <a:p>
            <a:pPr indent="0" marL="0">
              <a:buNone/>
            </a:pPr>
            <a:r>
              <a:rPr lang="en-US" sz="1050" b="1" spc="140" kern="0" dirty="0">
                <a:solidFill>
                  <a:srgbClr val="6B7480"/>
                </a:solidFill>
                <a:latin typeface="Calibri" pitchFamily="34" charset="0"/>
                <a:ea typeface="Calibri" pitchFamily="34" charset="-122"/>
                <a:cs typeface="Calibri" pitchFamily="34" charset="-120"/>
              </a:rPr>
              <a:t>STAGE 1 · DECIDE HOW DEEP</a:t>
            </a:r>
            <a:endParaRPr lang="en-US" sz="1050" dirty="0"/>
          </a:p>
        </p:txBody>
      </p:sp>
      <p:sp>
        <p:nvSpPr>
          <p:cNvPr id="5" name="Shape 3"/>
          <p:cNvSpPr/>
          <p:nvPr/>
        </p:nvSpPr>
        <p:spPr>
          <a:xfrm>
            <a:off x="566928" y="1645920"/>
            <a:ext cx="914400" cy="502920"/>
          </a:xfrm>
          <a:prstGeom prst="rect">
            <a:avLst/>
          </a:prstGeom>
          <a:solidFill>
            <a:srgbClr val="F8F9FA"/>
          </a:solidFill>
          <a:ln w="9525">
            <a:solidFill>
              <a:srgbClr val="D5DAE0"/>
            </a:solidFill>
            <a:prstDash val="solid"/>
          </a:ln>
        </p:spPr>
      </p:sp>
      <p:sp>
        <p:nvSpPr>
          <p:cNvPr id="6" name="Text 4"/>
          <p:cNvSpPr txBox="1"/>
          <p:nvPr/>
        </p:nvSpPr>
        <p:spPr>
          <a:xfrm>
            <a:off x="566928" y="1645920"/>
            <a:ext cx="91440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sample x</a:t>
            </a:r>
            <a:endParaRPr lang="en-US" sz="1100" dirty="0"/>
          </a:p>
        </p:txBody>
      </p:sp>
      <p:sp>
        <p:nvSpPr>
          <p:cNvPr id="7" name="Text 5"/>
          <p:cNvSpPr txBox="1"/>
          <p:nvPr/>
        </p:nvSpPr>
        <p:spPr>
          <a:xfrm>
            <a:off x="1481328" y="1645920"/>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1709928" y="1645920"/>
            <a:ext cx="2148840" cy="502920"/>
          </a:xfrm>
          <a:prstGeom prst="rect">
            <a:avLst/>
          </a:prstGeom>
          <a:solidFill>
            <a:srgbClr val="F8F9FA"/>
          </a:solidFill>
          <a:ln w="9525">
            <a:solidFill>
              <a:srgbClr val="D5DAE0"/>
            </a:solidFill>
            <a:prstDash val="solid"/>
          </a:ln>
        </p:spPr>
      </p:sp>
      <p:sp>
        <p:nvSpPr>
          <p:cNvPr id="9" name="Text 7"/>
          <p:cNvSpPr txBox="1"/>
          <p:nvPr/>
        </p:nvSpPr>
        <p:spPr>
          <a:xfrm>
            <a:off x="1709928" y="1645920"/>
            <a:ext cx="214884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b = 3 prefix layers, no gradients</a:t>
            </a:r>
            <a:endParaRPr lang="en-US" sz="1100" dirty="0"/>
          </a:p>
        </p:txBody>
      </p:sp>
      <p:sp>
        <p:nvSpPr>
          <p:cNvPr id="10" name="Text 8"/>
          <p:cNvSpPr txBox="1"/>
          <p:nvPr/>
        </p:nvSpPr>
        <p:spPr>
          <a:xfrm>
            <a:off x="3858768" y="1645920"/>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087368" y="1645920"/>
            <a:ext cx="1051560" cy="502920"/>
          </a:xfrm>
          <a:prstGeom prst="rect">
            <a:avLst/>
          </a:prstGeom>
          <a:solidFill>
            <a:srgbClr val="FFFFFF"/>
          </a:solidFill>
          <a:ln w="15875">
            <a:solidFill>
              <a:srgbClr val="9A3B3B"/>
            </a:solidFill>
            <a:prstDash val="solid"/>
          </a:ln>
        </p:spPr>
      </p:sp>
      <p:sp>
        <p:nvSpPr>
          <p:cNvPr id="12" name="Text 10"/>
          <p:cNvSpPr txBox="1"/>
          <p:nvPr/>
        </p:nvSpPr>
        <p:spPr>
          <a:xfrm>
            <a:off x="4087368" y="1645920"/>
            <a:ext cx="1051560" cy="502920"/>
          </a:xfrm>
          <a:prstGeom prst="rect">
            <a:avLst/>
          </a:prstGeom>
          <a:noFill/>
          <a:ln/>
        </p:spPr>
        <p:txBody>
          <a:bodyPr wrap="square" lIns="508" tIns="508" rIns="508" bIns="508" rtlCol="0" anchor="ctr"/>
          <a:lstStyle/>
          <a:p>
            <a:pPr algn="ctr" indent="0" marL="0">
              <a:buNone/>
            </a:pPr>
            <a:r>
              <a:rPr lang="en-US" sz="1250" b="1" dirty="0">
                <a:solidFill>
                  <a:srgbClr val="9A3B3B"/>
                </a:solidFill>
                <a:latin typeface="Calibri" pitchFamily="34" charset="0"/>
                <a:ea typeface="Calibri" pitchFamily="34" charset="-122"/>
                <a:cs typeface="Calibri" pitchFamily="34" charset="-120"/>
              </a:rPr>
              <a:t>UCB_L</a:t>
            </a:r>
            <a:endParaRPr lang="en-US" sz="1250" dirty="0"/>
          </a:p>
        </p:txBody>
      </p:sp>
      <p:sp>
        <p:nvSpPr>
          <p:cNvPr id="13" name="Text 11"/>
          <p:cNvSpPr txBox="1"/>
          <p:nvPr/>
        </p:nvSpPr>
        <p:spPr>
          <a:xfrm>
            <a:off x="4087368" y="2194560"/>
            <a:ext cx="1051560" cy="384048"/>
          </a:xfrm>
          <a:prstGeom prst="rect">
            <a:avLst/>
          </a:prstGeom>
          <a:noFill/>
          <a:ln/>
        </p:spPr>
        <p:txBody>
          <a:bodyPr wrap="square" lIns="0" tIns="0" rIns="0" bIns="0" rtlCol="0" anchor="ctr"/>
          <a:lstStyle/>
          <a:p>
            <a:pPr algn="ctr" indent="0" marL="0">
              <a:lnSpc>
                <a:spcPct val="105000"/>
              </a:lnSpc>
              <a:buNone/>
            </a:pPr>
            <a:r>
              <a:rPr lang="en-US" sz="1000" i="1" dirty="0">
                <a:solidFill>
                  <a:srgbClr val="6B7480"/>
                </a:solidFill>
                <a:latin typeface="Calibri" pitchFamily="34" charset="0"/>
                <a:ea typeface="Calibri" pitchFamily="34" charset="-122"/>
                <a:cs typeface="Calibri" pitchFamily="34" charset="-120"/>
              </a:rPr>
              <a:t>bandit 1</a:t>
            </a:r>
            <a:endParaRPr lang="en-US" sz="1000" dirty="0"/>
          </a:p>
        </p:txBody>
      </p:sp>
      <p:sp>
        <p:nvSpPr>
          <p:cNvPr id="14" name="Text 12"/>
          <p:cNvSpPr txBox="1"/>
          <p:nvPr/>
        </p:nvSpPr>
        <p:spPr>
          <a:xfrm>
            <a:off x="5138928" y="1645920"/>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367528" y="1645920"/>
            <a:ext cx="2103120" cy="502920"/>
          </a:xfrm>
          <a:prstGeom prst="rect">
            <a:avLst/>
          </a:prstGeom>
          <a:solidFill>
            <a:srgbClr val="F8F9FA"/>
          </a:solidFill>
          <a:ln w="9525">
            <a:solidFill>
              <a:srgbClr val="D5DAE0"/>
            </a:solidFill>
            <a:prstDash val="solid"/>
          </a:ln>
        </p:spPr>
      </p:sp>
      <p:sp>
        <p:nvSpPr>
          <p:cNvPr id="16" name="Text 14"/>
          <p:cNvSpPr txBox="1"/>
          <p:nvPr/>
        </p:nvSpPr>
        <p:spPr>
          <a:xfrm>
            <a:off x="5367528" y="1645920"/>
            <a:ext cx="210312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depth L: 3, 6, 9 or 12</a:t>
            </a:r>
            <a:endParaRPr lang="en-US" sz="1100" dirty="0"/>
          </a:p>
        </p:txBody>
      </p:sp>
      <p:sp>
        <p:nvSpPr>
          <p:cNvPr id="17" name="Text 15"/>
          <p:cNvSpPr txBox="1"/>
          <p:nvPr/>
        </p:nvSpPr>
        <p:spPr>
          <a:xfrm>
            <a:off x="566928" y="2724912"/>
            <a:ext cx="7315200" cy="219456"/>
          </a:xfrm>
          <a:prstGeom prst="rect">
            <a:avLst/>
          </a:prstGeom>
          <a:noFill/>
          <a:ln/>
        </p:spPr>
        <p:txBody>
          <a:bodyPr wrap="square" lIns="0" tIns="0" rIns="0" bIns="0" rtlCol="0" anchor="ctr"/>
          <a:lstStyle/>
          <a:p>
            <a:pPr indent="0" marL="0">
              <a:buNone/>
            </a:pPr>
            <a:r>
              <a:rPr lang="en-US" sz="1050" b="1" spc="140" kern="0" dirty="0">
                <a:solidFill>
                  <a:srgbClr val="6B7480"/>
                </a:solidFill>
                <a:latin typeface="Calibri" pitchFamily="34" charset="0"/>
                <a:ea typeface="Calibri" pitchFamily="34" charset="-122"/>
                <a:cs typeface="Calibri" pitchFamily="34" charset="-120"/>
              </a:rPr>
              <a:t>STAGE 2 · BUILD THE NETWORK, GROUP BY GROUP, THEN TRAIN</a:t>
            </a:r>
            <a:endParaRPr lang="en-US" sz="1050" dirty="0"/>
          </a:p>
        </p:txBody>
      </p:sp>
      <p:sp>
        <p:nvSpPr>
          <p:cNvPr id="18" name="Shape 16"/>
          <p:cNvSpPr/>
          <p:nvPr/>
        </p:nvSpPr>
        <p:spPr>
          <a:xfrm>
            <a:off x="566928" y="2999232"/>
            <a:ext cx="914400" cy="502920"/>
          </a:xfrm>
          <a:prstGeom prst="rect">
            <a:avLst/>
          </a:prstGeom>
          <a:solidFill>
            <a:srgbClr val="F8F9FA"/>
          </a:solidFill>
          <a:ln w="9525">
            <a:solidFill>
              <a:srgbClr val="D5DAE0"/>
            </a:solidFill>
            <a:prstDash val="solid"/>
          </a:ln>
        </p:spPr>
      </p:sp>
      <p:sp>
        <p:nvSpPr>
          <p:cNvPr id="19" name="Text 17"/>
          <p:cNvSpPr txBox="1"/>
          <p:nvPr/>
        </p:nvSpPr>
        <p:spPr>
          <a:xfrm>
            <a:off x="566928" y="2999232"/>
            <a:ext cx="91440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sample x</a:t>
            </a:r>
            <a:endParaRPr lang="en-US" sz="1100" dirty="0"/>
          </a:p>
        </p:txBody>
      </p:sp>
      <p:sp>
        <p:nvSpPr>
          <p:cNvPr id="20" name="Text 18"/>
          <p:cNvSpPr txBox="1"/>
          <p:nvPr/>
        </p:nvSpPr>
        <p:spPr>
          <a:xfrm>
            <a:off x="1481328" y="2999232"/>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1709928" y="2999232"/>
            <a:ext cx="1874520" cy="502920"/>
          </a:xfrm>
          <a:prstGeom prst="rect">
            <a:avLst/>
          </a:prstGeom>
          <a:solidFill>
            <a:srgbClr val="F8F9FA"/>
          </a:solidFill>
          <a:ln w="9525">
            <a:solidFill>
              <a:srgbClr val="D5DAE0"/>
            </a:solidFill>
            <a:prstDash val="solid"/>
          </a:ln>
        </p:spPr>
      </p:sp>
      <p:sp>
        <p:nvSpPr>
          <p:cNvPr id="22" name="Text 20"/>
          <p:cNvSpPr txBox="1"/>
          <p:nvPr/>
        </p:nvSpPr>
        <p:spPr>
          <a:xfrm>
            <a:off x="1709928" y="2999232"/>
            <a:ext cx="187452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b prefix layers, with gradients</a:t>
            </a:r>
            <a:endParaRPr lang="en-US" sz="1100" dirty="0"/>
          </a:p>
        </p:txBody>
      </p:sp>
      <p:sp>
        <p:nvSpPr>
          <p:cNvPr id="23" name="Text 21"/>
          <p:cNvSpPr txBox="1"/>
          <p:nvPr/>
        </p:nvSpPr>
        <p:spPr>
          <a:xfrm>
            <a:off x="3584448" y="2999232"/>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3813048" y="2999232"/>
            <a:ext cx="960120" cy="502920"/>
          </a:xfrm>
          <a:prstGeom prst="rect">
            <a:avLst/>
          </a:prstGeom>
          <a:solidFill>
            <a:srgbClr val="FFFFFF"/>
          </a:solidFill>
          <a:ln w="15875">
            <a:solidFill>
              <a:srgbClr val="9A3B3B"/>
            </a:solidFill>
            <a:prstDash val="solid"/>
          </a:ln>
        </p:spPr>
      </p:sp>
      <p:sp>
        <p:nvSpPr>
          <p:cNvPr id="25" name="Text 23"/>
          <p:cNvSpPr txBox="1"/>
          <p:nvPr/>
        </p:nvSpPr>
        <p:spPr>
          <a:xfrm>
            <a:off x="3813048" y="2999232"/>
            <a:ext cx="960120" cy="502920"/>
          </a:xfrm>
          <a:prstGeom prst="rect">
            <a:avLst/>
          </a:prstGeom>
          <a:noFill/>
          <a:ln/>
        </p:spPr>
        <p:txBody>
          <a:bodyPr wrap="square" lIns="508" tIns="508" rIns="508" bIns="508" rtlCol="0" anchor="ctr"/>
          <a:lstStyle/>
          <a:p>
            <a:pPr algn="ctr" indent="0" marL="0">
              <a:buNone/>
            </a:pPr>
            <a:r>
              <a:rPr lang="en-US" sz="1250" b="1" dirty="0">
                <a:solidFill>
                  <a:srgbClr val="9A3B3B"/>
                </a:solidFill>
                <a:latin typeface="Calibri" pitchFamily="34" charset="0"/>
                <a:ea typeface="Calibri" pitchFamily="34" charset="-122"/>
                <a:cs typeface="Calibri" pitchFamily="34" charset="-120"/>
              </a:rPr>
              <a:t>UCB_H</a:t>
            </a:r>
            <a:endParaRPr lang="en-US" sz="1250" dirty="0"/>
          </a:p>
        </p:txBody>
      </p:sp>
      <p:sp>
        <p:nvSpPr>
          <p:cNvPr id="26" name="Text 24"/>
          <p:cNvSpPr txBox="1"/>
          <p:nvPr/>
        </p:nvSpPr>
        <p:spPr>
          <a:xfrm>
            <a:off x="3813048" y="3547872"/>
            <a:ext cx="960120" cy="384048"/>
          </a:xfrm>
          <a:prstGeom prst="rect">
            <a:avLst/>
          </a:prstGeom>
          <a:noFill/>
          <a:ln/>
        </p:spPr>
        <p:txBody>
          <a:bodyPr wrap="square" lIns="0" tIns="0" rIns="0" bIns="0" rtlCol="0" anchor="ctr"/>
          <a:lstStyle/>
          <a:p>
            <a:pPr algn="ctr" indent="0" marL="0">
              <a:lnSpc>
                <a:spcPct val="105000"/>
              </a:lnSpc>
              <a:buNone/>
            </a:pPr>
            <a:r>
              <a:rPr lang="en-US" sz="1000" i="1" dirty="0">
                <a:solidFill>
                  <a:srgbClr val="6B7480"/>
                </a:solidFill>
                <a:latin typeface="Calibri" pitchFamily="34" charset="0"/>
                <a:ea typeface="Calibri" pitchFamily="34" charset="-122"/>
                <a:cs typeface="Calibri" pitchFamily="34" charset="-120"/>
              </a:rPr>
              <a:t>bandit 2 · how many</a:t>
            </a:r>
            <a:endParaRPr lang="en-US" sz="1000" dirty="0"/>
          </a:p>
        </p:txBody>
      </p:sp>
      <p:sp>
        <p:nvSpPr>
          <p:cNvPr id="27" name="Text 25"/>
          <p:cNvSpPr txBox="1"/>
          <p:nvPr/>
        </p:nvSpPr>
        <p:spPr>
          <a:xfrm>
            <a:off x="4773168" y="2999232"/>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5001768" y="2999232"/>
            <a:ext cx="868680" cy="502920"/>
          </a:xfrm>
          <a:prstGeom prst="rect">
            <a:avLst/>
          </a:prstGeom>
          <a:solidFill>
            <a:srgbClr val="FFFFFF"/>
          </a:solidFill>
          <a:ln w="15875">
            <a:solidFill>
              <a:srgbClr val="9A3B3B"/>
            </a:solidFill>
            <a:prstDash val="solid"/>
          </a:ln>
        </p:spPr>
      </p:sp>
      <p:sp>
        <p:nvSpPr>
          <p:cNvPr id="29" name="Text 27"/>
          <p:cNvSpPr txBox="1"/>
          <p:nvPr/>
        </p:nvSpPr>
        <p:spPr>
          <a:xfrm>
            <a:off x="5001768" y="2999232"/>
            <a:ext cx="868680" cy="502920"/>
          </a:xfrm>
          <a:prstGeom prst="rect">
            <a:avLst/>
          </a:prstGeom>
          <a:noFill/>
          <a:ln/>
        </p:spPr>
        <p:txBody>
          <a:bodyPr wrap="square" lIns="508" tIns="508" rIns="508" bIns="508" rtlCol="0" anchor="ctr"/>
          <a:lstStyle/>
          <a:p>
            <a:pPr algn="ctr" indent="0" marL="0">
              <a:buNone/>
            </a:pPr>
            <a:r>
              <a:rPr lang="en-US" sz="1250" b="1" dirty="0">
                <a:solidFill>
                  <a:srgbClr val="9A3B3B"/>
                </a:solidFill>
                <a:latin typeface="Calibri" pitchFamily="34" charset="0"/>
                <a:ea typeface="Calibri" pitchFamily="34" charset="-122"/>
                <a:cs typeface="Calibri" pitchFamily="34" charset="-120"/>
              </a:rPr>
              <a:t>TSB</a:t>
            </a:r>
            <a:endParaRPr lang="en-US" sz="1250" dirty="0"/>
          </a:p>
        </p:txBody>
      </p:sp>
      <p:sp>
        <p:nvSpPr>
          <p:cNvPr id="30" name="Text 28"/>
          <p:cNvSpPr txBox="1"/>
          <p:nvPr/>
        </p:nvSpPr>
        <p:spPr>
          <a:xfrm>
            <a:off x="5001768" y="3547872"/>
            <a:ext cx="868680" cy="384048"/>
          </a:xfrm>
          <a:prstGeom prst="rect">
            <a:avLst/>
          </a:prstGeom>
          <a:noFill/>
          <a:ln/>
        </p:spPr>
        <p:txBody>
          <a:bodyPr wrap="square" lIns="0" tIns="0" rIns="0" bIns="0" rtlCol="0" anchor="ctr"/>
          <a:lstStyle/>
          <a:p>
            <a:pPr algn="ctr" indent="0" marL="0">
              <a:lnSpc>
                <a:spcPct val="105000"/>
              </a:lnSpc>
              <a:buNone/>
            </a:pPr>
            <a:r>
              <a:rPr lang="en-US" sz="1000" i="1" dirty="0">
                <a:solidFill>
                  <a:srgbClr val="6B7480"/>
                </a:solidFill>
                <a:latin typeface="Calibri" pitchFamily="34" charset="0"/>
                <a:ea typeface="Calibri" pitchFamily="34" charset="-122"/>
                <a:cs typeface="Calibri" pitchFamily="34" charset="-120"/>
              </a:rPr>
              <a:t>bandit 3 · which</a:t>
            </a:r>
            <a:endParaRPr lang="en-US" sz="1000" dirty="0"/>
          </a:p>
        </p:txBody>
      </p:sp>
      <p:sp>
        <p:nvSpPr>
          <p:cNvPr id="31" name="Text 29"/>
          <p:cNvSpPr txBox="1"/>
          <p:nvPr/>
        </p:nvSpPr>
        <p:spPr>
          <a:xfrm>
            <a:off x="5870448" y="2999232"/>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6099048" y="2999232"/>
            <a:ext cx="1828800" cy="502920"/>
          </a:xfrm>
          <a:prstGeom prst="rect">
            <a:avLst/>
          </a:prstGeom>
          <a:solidFill>
            <a:srgbClr val="F8F9FA"/>
          </a:solidFill>
          <a:ln w="9525">
            <a:solidFill>
              <a:srgbClr val="D5DAE0"/>
            </a:solidFill>
            <a:prstDash val="solid"/>
          </a:ln>
        </p:spPr>
      </p:sp>
      <p:sp>
        <p:nvSpPr>
          <p:cNvPr id="33" name="Text 31"/>
          <p:cNvSpPr txBox="1"/>
          <p:nvPr/>
        </p:nvSpPr>
        <p:spPr>
          <a:xfrm>
            <a:off x="6099048" y="2999232"/>
            <a:ext cx="182880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c = 3 layers, those H heads</a:t>
            </a:r>
            <a:endParaRPr lang="en-US" sz="1100" dirty="0"/>
          </a:p>
        </p:txBody>
      </p:sp>
      <p:sp>
        <p:nvSpPr>
          <p:cNvPr id="34" name="Text 32"/>
          <p:cNvSpPr txBox="1"/>
          <p:nvPr/>
        </p:nvSpPr>
        <p:spPr>
          <a:xfrm>
            <a:off x="7927848" y="2999232"/>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35" name="Shape 33"/>
          <p:cNvSpPr/>
          <p:nvPr/>
        </p:nvSpPr>
        <p:spPr>
          <a:xfrm>
            <a:off x="8156448" y="2999232"/>
            <a:ext cx="1417320" cy="502920"/>
          </a:xfrm>
          <a:prstGeom prst="rect">
            <a:avLst/>
          </a:prstGeom>
          <a:solidFill>
            <a:srgbClr val="F8F9FA"/>
          </a:solidFill>
          <a:ln w="9525">
            <a:solidFill>
              <a:srgbClr val="D5DAE0"/>
            </a:solidFill>
            <a:prstDash val="solid"/>
          </a:ln>
        </p:spPr>
      </p:sp>
      <p:sp>
        <p:nvSpPr>
          <p:cNvPr id="36" name="Text 34"/>
          <p:cNvSpPr txBox="1"/>
          <p:nvPr/>
        </p:nvSpPr>
        <p:spPr>
          <a:xfrm>
            <a:off x="8156448" y="2999232"/>
            <a:ext cx="141732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repeat until depth L</a:t>
            </a:r>
            <a:endParaRPr lang="en-US" sz="1100" dirty="0"/>
          </a:p>
        </p:txBody>
      </p:sp>
      <p:sp>
        <p:nvSpPr>
          <p:cNvPr id="37" name="Text 35"/>
          <p:cNvSpPr txBox="1"/>
          <p:nvPr/>
        </p:nvSpPr>
        <p:spPr>
          <a:xfrm>
            <a:off x="9573768" y="2999232"/>
            <a:ext cx="228600" cy="502920"/>
          </a:xfrm>
          <a:prstGeom prst="rect">
            <a:avLst/>
          </a:prstGeom>
          <a:noFill/>
          <a:ln/>
        </p:spPr>
        <p:txBody>
          <a:bodyPr wrap="square" lIns="0" tIns="0" rIns="0" bIns="0" rtlCol="0" anchor="ctr"/>
          <a:lstStyle/>
          <a:p>
            <a:pPr algn="ctr" indent="0" marL="0">
              <a:buNone/>
            </a:pPr>
            <a:r>
              <a:rPr lang="en-US" sz="1400" dirty="0">
                <a:solidFill>
                  <a:srgbClr val="6B7480"/>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9802368" y="2999232"/>
            <a:ext cx="1097280" cy="502920"/>
          </a:xfrm>
          <a:prstGeom prst="rect">
            <a:avLst/>
          </a:prstGeom>
          <a:solidFill>
            <a:srgbClr val="F8F9FA"/>
          </a:solidFill>
          <a:ln w="9525">
            <a:solidFill>
              <a:srgbClr val="D5DAE0"/>
            </a:solidFill>
            <a:prstDash val="solid"/>
          </a:ln>
        </p:spPr>
      </p:sp>
      <p:sp>
        <p:nvSpPr>
          <p:cNvPr id="39" name="Text 37"/>
          <p:cNvSpPr txBox="1"/>
          <p:nvPr/>
        </p:nvSpPr>
        <p:spPr>
          <a:xfrm>
            <a:off x="9802368" y="2999232"/>
            <a:ext cx="1097280" cy="502920"/>
          </a:xfrm>
          <a:prstGeom prst="rect">
            <a:avLst/>
          </a:prstGeom>
          <a:noFill/>
          <a:ln/>
        </p:spPr>
        <p:txBody>
          <a:bodyPr wrap="square" lIns="508" tIns="508" rIns="508" bIns="508" rtlCol="0" anchor="ctr"/>
          <a:lstStyle/>
          <a:p>
            <a:pPr algn="ctr" indent="0" marL="0">
              <a:buNone/>
            </a:pPr>
            <a:r>
              <a:rPr lang="en-US" sz="1100" dirty="0">
                <a:solidFill>
                  <a:srgbClr val="1F2933"/>
                </a:solidFill>
                <a:latin typeface="Calibri" pitchFamily="34" charset="0"/>
                <a:ea typeface="Calibri" pitchFamily="34" charset="-122"/>
                <a:cs typeface="Calibri" pitchFamily="34" charset="-120"/>
              </a:rPr>
              <a:t>classifier</a:t>
            </a:r>
            <a:endParaRPr lang="en-US" sz="1100" dirty="0"/>
          </a:p>
        </p:txBody>
      </p:sp>
      <p:sp>
        <p:nvSpPr>
          <p:cNvPr id="40" name="Text 38"/>
          <p:cNvSpPr txBox="1"/>
          <p:nvPr/>
        </p:nvSpPr>
        <p:spPr>
          <a:xfrm>
            <a:off x="3813048" y="3931920"/>
            <a:ext cx="5760720" cy="219456"/>
          </a:xfrm>
          <a:prstGeom prst="rect">
            <a:avLst/>
          </a:prstGeom>
          <a:noFill/>
          <a:ln/>
        </p:spPr>
        <p:txBody>
          <a:bodyPr wrap="square" lIns="0" tIns="0" rIns="0" bIns="0" rtlCol="0" anchor="ctr"/>
          <a:lstStyle/>
          <a:p>
            <a:pPr indent="0" marL="0">
              <a:buNone/>
            </a:pPr>
            <a:r>
              <a:rPr lang="en-US" sz="1000" i="1" dirty="0">
                <a:solidFill>
                  <a:srgbClr val="6B7480"/>
                </a:solidFill>
                <a:latin typeface="Calibri" pitchFamily="34" charset="0"/>
                <a:ea typeface="Calibri" pitchFamily="34" charset="-122"/>
                <a:cs typeface="Calibri" pitchFamily="34" charset="-120"/>
              </a:rPr>
              <a:t>one group — repeated (L − b) / c times, each time from the current hidden state</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4315968"/>
          <a:ext cx="11057839" cy="914400"/>
        </p:xfrm>
        <a:graphic>
          <a:graphicData uri="http://schemas.openxmlformats.org/drawingml/2006/table">
            <a:tbl>
              <a:tblPr/>
              <a:tblGrid>
                <a:gridCol w="914400"/>
                <a:gridCol w="2743200"/>
                <a:gridCol w="5934456"/>
                <a:gridCol w="1463040"/>
              </a:tblGrid>
              <a:tr h="274320">
                <a:tc>
                  <a:txBody>
                    <a:bodyPr/>
                    <a:lstStyle/>
                    <a:p>
                      <a:pPr indent="0" marL="0">
                        <a:buNone/>
                      </a:pP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Decides</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What it looks at (the context)</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How often</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384048">
                <a:tc>
                  <a:txBody>
                    <a:bodyPr/>
                    <a:lstStyle/>
                    <a:p>
                      <a:pPr indent="0" marL="0">
                        <a:buNone/>
                      </a:pPr>
                      <a:r>
                        <a:rPr lang="en-US" sz="1050" b="1" dirty="0">
                          <a:solidFill>
                            <a:srgbClr val="9A3B3B"/>
                          </a:solidFill>
                          <a:latin typeface="Calibri" pitchFamily="34" charset="0"/>
                          <a:ea typeface="Calibri" pitchFamily="34" charset="-122"/>
                          <a:cs typeface="Calibri" pitchFamily="34" charset="-120"/>
                        </a:rPr>
                        <a:t>UCB_L</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how many layers, L</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prefix output of x, joined to the average prefix output seen at depth L during calibration</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once per sample</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9A3B3B"/>
                          </a:solidFill>
                          <a:latin typeface="Calibri" pitchFamily="34" charset="0"/>
                          <a:ea typeface="Calibri" pitchFamily="34" charset="-122"/>
                          <a:cs typeface="Calibri" pitchFamily="34" charset="-120"/>
                        </a:rPr>
                        <a:t>UCB_H</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how many heads, H, for the next c layers</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current hidden state, joined to the average state seen with H heads, plus a marker for which group this is</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once per group</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9A3B3B"/>
                          </a:solidFill>
                          <a:latin typeface="Calibri" pitchFamily="34" charset="0"/>
                          <a:ea typeface="Calibri" pitchFamily="34" charset="-122"/>
                          <a:cs typeface="Calibri" pitchFamily="34" charset="-120"/>
                        </a:rPr>
                        <a:t>TSB</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which H heads to keep</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current hidden state, joined to one feature per head (that head's slice of the embedding)</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3A4350"/>
                          </a:solidFill>
                          <a:latin typeface="Calibri" pitchFamily="34" charset="0"/>
                          <a:ea typeface="Calibri" pitchFamily="34" charset="-122"/>
                          <a:cs typeface="Calibri" pitchFamily="34" charset="-120"/>
                        </a:rPr>
                        <a:t>once per group</a:t>
                      </a:r>
                      <a:endParaRPr lang="en-US" sz="1050" dirty="0">
                        <a:latin typeface="Calibri" charset="0"/>
                        <a:ea typeface="Calibri" charset="0"/>
                        <a:cs typeface="Calibri" charset="0"/>
                      </a:endParaRPr>
                    </a:p>
                  </a:txBody>
                  <a:tcPr marL="91440" marR="91440"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42" name="Text 39"/>
          <p:cNvSpPr txBox="1"/>
          <p:nvPr/>
        </p:nvSpPr>
        <p:spPr>
          <a:xfrm>
            <a:off x="566928" y="5888736"/>
            <a:ext cx="11057839" cy="438912"/>
          </a:xfrm>
          <a:prstGeom prst="rect">
            <a:avLst/>
          </a:prstGeom>
          <a:noFill/>
          <a:ln/>
        </p:spPr>
        <p:txBody>
          <a:bodyPr wrap="square" lIns="0" tIns="0" rIns="0" bIns="0" rtlCol="0" anchor="ctr"/>
          <a:lstStyle/>
          <a:p>
            <a:pPr indent="0" marL="0">
              <a:lnSpc>
                <a:spcPct val="112000"/>
              </a:lnSpc>
              <a:buNone/>
            </a:pPr>
            <a:r>
              <a:rPr lang="en-US" sz="1100" b="1" dirty="0">
                <a:solidFill>
                  <a:srgbClr val="1F2933"/>
                </a:solidFill>
                <a:latin typeface="Calibri" pitchFamily="34" charset="0"/>
                <a:ea typeface="Calibri" pitchFamily="34" charset="-122"/>
                <a:cs typeface="Calibri" pitchFamily="34" charset="-120"/>
              </a:rPr>
              <a:t xml:space="preserve">Integrated mode: </a:t>
            </a:r>
            <a:pPr indent="0" marL="0">
              <a:lnSpc>
                <a:spcPct val="112000"/>
              </a:lnSpc>
              <a:buNone/>
            </a:pPr>
            <a:r>
              <a:rPr lang="en-US" sz="1100" dirty="0">
                <a:solidFill>
                  <a:srgbClr val="3A4350"/>
                </a:solidFill>
                <a:latin typeface="Calibri" pitchFamily="34" charset="0"/>
                <a:ea typeface="Calibri" pitchFamily="34" charset="-122"/>
                <a:cs typeface="Calibri" pitchFamily="34" charset="-120"/>
              </a:rPr>
              <a:t>one UCB (UCB_cp) picks L and H together at stage 1; TSB still picks which heads, group by group. The prefix runs twice on purpose — once to decide, once to learn — and is never frozen.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BANDITS 1 AND 2</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Linear UCB, used twice: for depth, then for head count</a:t>
            </a:r>
            <a:endParaRPr lang="en-US" sz="3200" dirty="0"/>
          </a:p>
        </p:txBody>
      </p:sp>
      <p:sp>
        <p:nvSpPr>
          <p:cNvPr id="4" name="Text 2"/>
          <p:cNvSpPr txBox="1"/>
          <p:nvPr/>
        </p:nvSpPr>
        <p:spPr>
          <a:xfrm>
            <a:off x="566928" y="1499616"/>
            <a:ext cx="5943600" cy="420624"/>
          </a:xfrm>
          <a:prstGeom prst="rect">
            <a:avLst/>
          </a:prstGeom>
          <a:noFill/>
          <a:ln/>
        </p:spPr>
        <p:txBody>
          <a:bodyPr wrap="square" lIns="0" tIns="0" rIns="0" bIns="0" rtlCol="0" anchor="ctr"/>
          <a:lstStyle/>
          <a:p>
            <a:pPr indent="0" marL="0">
              <a:buNone/>
            </a:pPr>
            <a:r>
              <a:rPr lang="en-US" sz="1900" b="1" dirty="0">
                <a:solidFill>
                  <a:srgbClr val="1F2933"/>
                </a:solidFill>
                <a:latin typeface="Courier New" pitchFamily="34" charset="0"/>
                <a:ea typeface="Courier New" pitchFamily="34" charset="-122"/>
                <a:cs typeface="Courier New" pitchFamily="34" charset="-120"/>
              </a:rPr>
              <a:t>score</a:t>
            </a:r>
            <a:pPr indent="0" marL="0">
              <a:buNone/>
            </a:pPr>
            <a:r>
              <a:rPr lang="en-US" sz="1900" b="1" baseline="-40000" dirty="0">
                <a:solidFill>
                  <a:srgbClr val="1F2933"/>
                </a:solidFill>
                <a:latin typeface="Courier New" pitchFamily="34" charset="0"/>
                <a:ea typeface="Courier New" pitchFamily="34" charset="-122"/>
                <a:cs typeface="Courier New" pitchFamily="34" charset="-120"/>
              </a:rPr>
              <a:t>a</a:t>
            </a:r>
            <a:pPr indent="0" marL="0">
              <a:buNone/>
            </a:pPr>
            <a:r>
              <a:rPr lang="en-US" sz="1900" b="1" dirty="0">
                <a:solidFill>
                  <a:srgbClr val="1F2933"/>
                </a:solidFill>
                <a:latin typeface="Courier New" pitchFamily="34" charset="0"/>
                <a:ea typeface="Courier New" pitchFamily="34" charset="-122"/>
                <a:cs typeface="Courier New" pitchFamily="34" charset="-120"/>
              </a:rPr>
              <a:t xml:space="preserve">  =  w</a:t>
            </a:r>
            <a:pPr indent="0" marL="0">
              <a:buNone/>
            </a:pPr>
            <a:r>
              <a:rPr lang="en-US" sz="1900" b="1" baseline="30000" dirty="0">
                <a:solidFill>
                  <a:srgbClr val="1F2933"/>
                </a:solidFill>
                <a:latin typeface="Courier New" pitchFamily="34" charset="0"/>
                <a:ea typeface="Courier New" pitchFamily="34" charset="-122"/>
                <a:cs typeface="Courier New" pitchFamily="34" charset="-120"/>
              </a:rPr>
              <a:t>T</a:t>
            </a:r>
            <a:pPr indent="0" marL="0">
              <a:buNone/>
            </a:pPr>
            <a:r>
              <a:rPr lang="en-US" sz="1900" b="1" dirty="0">
                <a:solidFill>
                  <a:srgbClr val="1F2933"/>
                </a:solidFill>
                <a:latin typeface="Courier New" pitchFamily="34" charset="0"/>
                <a:ea typeface="Courier New" pitchFamily="34" charset="-122"/>
                <a:cs typeface="Courier New" pitchFamily="34" charset="-120"/>
              </a:rPr>
              <a:t>θ</a:t>
            </a:r>
            <a:pPr indent="0" marL="0">
              <a:buNone/>
            </a:pPr>
            <a:r>
              <a:rPr lang="en-US" sz="1900" b="1" baseline="-40000" dirty="0">
                <a:solidFill>
                  <a:srgbClr val="1F2933"/>
                </a:solidFill>
                <a:latin typeface="Courier New" pitchFamily="34" charset="0"/>
                <a:ea typeface="Courier New" pitchFamily="34" charset="-122"/>
                <a:cs typeface="Courier New" pitchFamily="34" charset="-120"/>
              </a:rPr>
              <a:t>a</a:t>
            </a:r>
            <a:pPr indent="0" marL="0">
              <a:buNone/>
            </a:pPr>
            <a:r>
              <a:rPr lang="en-US" sz="1900" b="1" dirty="0">
                <a:solidFill>
                  <a:srgbClr val="9A3B3B"/>
                </a:solidFill>
                <a:latin typeface="Courier New" pitchFamily="34" charset="0"/>
                <a:ea typeface="Courier New" pitchFamily="34" charset="-122"/>
                <a:cs typeface="Courier New" pitchFamily="34" charset="-120"/>
              </a:rPr>
              <a:t xml:space="preserve">   +   α √( w</a:t>
            </a:r>
            <a:pPr indent="0" marL="0">
              <a:buNone/>
            </a:pPr>
            <a:r>
              <a:rPr lang="en-US" sz="1900" b="1" baseline="30000" dirty="0">
                <a:solidFill>
                  <a:srgbClr val="9A3B3B"/>
                </a:solidFill>
                <a:latin typeface="Courier New" pitchFamily="34" charset="0"/>
                <a:ea typeface="Courier New" pitchFamily="34" charset="-122"/>
                <a:cs typeface="Courier New" pitchFamily="34" charset="-120"/>
              </a:rPr>
              <a:t>T</a:t>
            </a:r>
            <a:pPr indent="0" marL="0">
              <a:buNone/>
            </a:pPr>
            <a:r>
              <a:rPr lang="en-US" sz="1900" b="1" dirty="0">
                <a:solidFill>
                  <a:srgbClr val="9A3B3B"/>
                </a:solidFill>
                <a:latin typeface="Courier New" pitchFamily="34" charset="0"/>
                <a:ea typeface="Courier New" pitchFamily="34" charset="-122"/>
                <a:cs typeface="Courier New" pitchFamily="34" charset="-120"/>
              </a:rPr>
              <a:t xml:space="preserve"> A</a:t>
            </a:r>
            <a:pPr indent="0" marL="0">
              <a:buNone/>
            </a:pPr>
            <a:r>
              <a:rPr lang="en-US" sz="1900" b="1" baseline="-40000" dirty="0">
                <a:solidFill>
                  <a:srgbClr val="9A3B3B"/>
                </a:solidFill>
                <a:latin typeface="Courier New" pitchFamily="34" charset="0"/>
                <a:ea typeface="Courier New" pitchFamily="34" charset="-122"/>
                <a:cs typeface="Courier New" pitchFamily="34" charset="-120"/>
              </a:rPr>
              <a:t>a</a:t>
            </a:r>
            <a:pPr indent="0" marL="0">
              <a:buNone/>
            </a:pPr>
            <a:r>
              <a:rPr lang="en-US" sz="1900" b="1" baseline="30000" dirty="0">
                <a:solidFill>
                  <a:srgbClr val="9A3B3B"/>
                </a:solidFill>
                <a:latin typeface="Courier New" pitchFamily="34" charset="0"/>
                <a:ea typeface="Courier New" pitchFamily="34" charset="-122"/>
                <a:cs typeface="Courier New" pitchFamily="34" charset="-120"/>
              </a:rPr>
              <a:t>-1</a:t>
            </a:r>
            <a:pPr indent="0" marL="0">
              <a:buNone/>
            </a:pPr>
            <a:r>
              <a:rPr lang="en-US" sz="1900" b="1" dirty="0">
                <a:solidFill>
                  <a:srgbClr val="9A3B3B"/>
                </a:solidFill>
                <a:latin typeface="Courier New" pitchFamily="34" charset="0"/>
                <a:ea typeface="Courier New" pitchFamily="34" charset="-122"/>
                <a:cs typeface="Courier New" pitchFamily="34" charset="-120"/>
              </a:rPr>
              <a:t xml:space="preserve"> w )</a:t>
            </a:r>
            <a:endParaRPr lang="en-US" sz="1900" dirty="0"/>
          </a:p>
        </p:txBody>
      </p:sp>
      <p:sp>
        <p:nvSpPr>
          <p:cNvPr id="5" name="Text 3"/>
          <p:cNvSpPr txBox="1"/>
          <p:nvPr/>
        </p:nvSpPr>
        <p:spPr>
          <a:xfrm>
            <a:off x="566928" y="1920240"/>
            <a:ext cx="5943600" cy="237744"/>
          </a:xfrm>
          <a:prstGeom prst="rect">
            <a:avLst/>
          </a:prstGeom>
          <a:noFill/>
          <a:ln/>
        </p:spPr>
        <p:txBody>
          <a:bodyPr wrap="square" lIns="0" tIns="0" rIns="0" bIns="0" rtlCol="0" anchor="ctr"/>
          <a:lstStyle/>
          <a:p>
            <a:pPr indent="0" marL="0">
              <a:buNone/>
            </a:pPr>
            <a:r>
              <a:rPr lang="en-US" sz="1150" i="1" dirty="0">
                <a:solidFill>
                  <a:srgbClr val="6B7480"/>
                </a:solidFill>
                <a:latin typeface="Calibri" pitchFamily="34" charset="0"/>
                <a:ea typeface="Calibri" pitchFamily="34" charset="-122"/>
                <a:cs typeface="Calibri" pitchFamily="34" charset="-120"/>
              </a:rPr>
              <a:t>expected reward</a:t>
            </a:r>
            <a:pPr indent="0" marL="0">
              <a:buNone/>
            </a:pPr>
            <a:r>
              <a:rPr lang="en-US" sz="1150" i="1" dirty="0">
                <a:solidFill>
                  <a:srgbClr val="9A3B3B"/>
                </a:solidFill>
                <a:latin typeface="Calibri" pitchFamily="34" charset="0"/>
                <a:ea typeface="Calibri" pitchFamily="34" charset="-122"/>
                <a:cs typeface="Calibri" pitchFamily="34" charset="-120"/>
              </a:rPr>
              <a:t xml:space="preserve">                    exploration bonus</a:t>
            </a:r>
            <a:endParaRPr lang="en-US" sz="1150" dirty="0"/>
          </a:p>
        </p:txBody>
      </p:sp>
      <p:sp>
        <p:nvSpPr>
          <p:cNvPr id="6" name="Text 4"/>
          <p:cNvSpPr txBox="1"/>
          <p:nvPr/>
        </p:nvSpPr>
        <p:spPr>
          <a:xfrm>
            <a:off x="566928" y="2286000"/>
            <a:ext cx="5943600" cy="2468880"/>
          </a:xfrm>
          <a:prstGeom prst="rect">
            <a:avLst/>
          </a:prstGeom>
          <a:noFill/>
          <a:ln/>
        </p:spPr>
        <p:txBody>
          <a:bodyPr wrap="square" lIns="0" tIns="0" rIns="0" bIns="0" rtlCol="0" anchor="ctr"/>
          <a:lstStyle/>
          <a:p>
            <a:pPr indent="0" marL="0">
              <a:lnSpc>
                <a:spcPct val="114000"/>
              </a:lnSpc>
              <a:buNone/>
            </a:pPr>
            <a:r>
              <a:rPr lang="en-US" sz="1200" b="1" dirty="0">
                <a:solidFill>
                  <a:srgbClr val="1F2933"/>
                </a:solidFill>
                <a:latin typeface="Calibri" pitchFamily="34" charset="0"/>
                <a:ea typeface="Calibri" pitchFamily="34" charset="-122"/>
                <a:cs typeface="Calibri" pitchFamily="34" charset="-120"/>
              </a:rPr>
              <a:t xml:space="preserve">The vocabulary. </a:t>
            </a:r>
            <a:pPr indent="0" marL="0">
              <a:lnSpc>
                <a:spcPct val="114000"/>
              </a:lnSpc>
              <a:buNone/>
            </a:pPr>
            <a:r>
              <a:rPr lang="en-US" sz="1200" dirty="0">
                <a:solidFill>
                  <a:srgbClr val="3A4350"/>
                </a:solidFill>
                <a:latin typeface="Calibri" pitchFamily="34" charset="0"/>
                <a:ea typeface="Calibri" pitchFamily="34" charset="-122"/>
                <a:cs typeface="Calibri" pitchFamily="34" charset="-120"/>
              </a:rPr>
              <a:t>An arm is one option on a menu. The context w is a list of numbers describing this sample (pooled activations), joined to a list describing the option. Each arm keeps its own small linear model θ</a:t>
            </a:r>
            <a:pPr indent="0" marL="0">
              <a:lnSpc>
                <a:spcPct val="114000"/>
              </a:lnSpc>
              <a:buNone/>
            </a:pPr>
            <a:r>
              <a:rPr lang="en-US" sz="1200" baseline="-40000" dirty="0">
                <a:solidFill>
                  <a:srgbClr val="3A4350"/>
                </a:solidFill>
                <a:latin typeface="Calibri" pitchFamily="34" charset="0"/>
                <a:ea typeface="Calibri" pitchFamily="34" charset="-122"/>
                <a:cs typeface="Calibri" pitchFamily="34" charset="-120"/>
              </a:rPr>
              <a:t>a</a:t>
            </a:r>
            <a:pPr indent="0" marL="0">
              <a:lnSpc>
                <a:spcPct val="114000"/>
              </a:lnSpc>
              <a:buNone/>
            </a:pPr>
            <a:r>
              <a:rPr lang="en-US" sz="1200" dirty="0">
                <a:solidFill>
                  <a:srgbClr val="3A4350"/>
                </a:solidFill>
                <a:latin typeface="Calibri" pitchFamily="34" charset="0"/>
                <a:ea typeface="Calibri" pitchFamily="34" charset="-122"/>
                <a:cs typeface="Calibri" pitchFamily="34" charset="-120"/>
              </a:rPr>
              <a:t xml:space="preserve"> that predicts how good that option will be for inputs like this one.</a:t>
            </a:r>
            <a:endParaRPr lang="en-US" sz="1200" dirty="0"/>
          </a:p>
          <a:p>
            <a:pPr indent="0" marL="0">
              <a:lnSpc>
                <a:spcPct val="114000"/>
              </a:lnSpc>
              <a:buNone/>
            </a:pPr>
            <a:r>
              <a:rPr lang="en-US" sz="700" dirty="0">
                <a:solidFill>
                  <a:srgbClr val="000000"/>
                </a:solidFill>
                <a:latin typeface="Calibri" pitchFamily="34" charset="0"/>
                <a:ea typeface="Calibri" pitchFamily="34" charset="-122"/>
                <a:cs typeface="Calibri" pitchFamily="34" charset="-120"/>
              </a:rPr>
              <a:t xml:space="preserve"> </a:t>
            </a:r>
            <a:endParaRPr lang="en-US" sz="1200" dirty="0"/>
          </a:p>
          <a:p>
            <a:pPr indent="0" marL="0">
              <a:lnSpc>
                <a:spcPct val="114000"/>
              </a:lnSpc>
              <a:buNone/>
            </a:pPr>
            <a:r>
              <a:rPr lang="en-US" sz="1200" b="1" dirty="0">
                <a:solidFill>
                  <a:srgbClr val="1F2933"/>
                </a:solidFill>
                <a:latin typeface="Calibri" pitchFamily="34" charset="0"/>
                <a:ea typeface="Calibri" pitchFamily="34" charset="-122"/>
                <a:cs typeface="Calibri" pitchFamily="34" charset="-120"/>
              </a:rPr>
              <a:t xml:space="preserve">Choosing. </a:t>
            </a:r>
            <a:pPr indent="0" marL="0">
              <a:lnSpc>
                <a:spcPct val="114000"/>
              </a:lnSpc>
              <a:buNone/>
            </a:pPr>
            <a:r>
              <a:rPr lang="en-US" sz="1200" dirty="0">
                <a:solidFill>
                  <a:srgbClr val="3A4350"/>
                </a:solidFill>
                <a:latin typeface="Calibri" pitchFamily="34" charset="0"/>
                <a:ea typeface="Calibri" pitchFamily="34" charset="-122"/>
                <a:cs typeface="Calibri" pitchFamily="34" charset="-120"/>
              </a:rPr>
              <a:t>Score every arm and take the highest. The first term is the model's best guess; the second is a bonus that is large when this arm has rarely been tried on inputs like this, so the bandit keeps checking options it is unsure about — and the bonus shrinks as evidence comes in.</a:t>
            </a:r>
            <a:endParaRPr lang="en-US" sz="1200" dirty="0"/>
          </a:p>
          <a:p>
            <a:pPr indent="0" marL="0">
              <a:lnSpc>
                <a:spcPct val="114000"/>
              </a:lnSpc>
              <a:buNone/>
            </a:pPr>
            <a:r>
              <a:rPr lang="en-US" sz="700" dirty="0">
                <a:solidFill>
                  <a:srgbClr val="000000"/>
                </a:solidFill>
                <a:latin typeface="Calibri" pitchFamily="34" charset="0"/>
                <a:ea typeface="Calibri" pitchFamily="34" charset="-122"/>
                <a:cs typeface="Calibri" pitchFamily="34" charset="-120"/>
              </a:rPr>
              <a:t xml:space="preserve"> </a:t>
            </a:r>
            <a:endParaRPr lang="en-US" sz="1200" dirty="0"/>
          </a:p>
          <a:p>
            <a:pPr indent="0" marL="0">
              <a:lnSpc>
                <a:spcPct val="114000"/>
              </a:lnSpc>
              <a:buNone/>
            </a:pPr>
            <a:r>
              <a:rPr lang="en-US" sz="1200" b="1" dirty="0">
                <a:solidFill>
                  <a:srgbClr val="1F2933"/>
                </a:solidFill>
                <a:latin typeface="Calibri" pitchFamily="34" charset="0"/>
                <a:ea typeface="Calibri" pitchFamily="34" charset="-122"/>
                <a:cs typeface="Calibri" pitchFamily="34" charset="-120"/>
              </a:rPr>
              <a:t xml:space="preserve">Learning. </a:t>
            </a:r>
            <a:pPr indent="0" marL="0">
              <a:lnSpc>
                <a:spcPct val="114000"/>
              </a:lnSpc>
              <a:buNone/>
            </a:pPr>
            <a:r>
              <a:rPr lang="en-US" sz="1200" dirty="0">
                <a:solidFill>
                  <a:srgbClr val="3A4350"/>
                </a:solidFill>
                <a:latin typeface="Calibri" pitchFamily="34" charset="0"/>
                <a:ea typeface="Calibri" pitchFamily="34" charset="-122"/>
                <a:cs typeface="Calibri" pitchFamily="34" charset="-120"/>
              </a:rPr>
              <a:t>Once the reward is known, only the chosen arm is updated — ridge regression, one observation at a time. At evaluation the bonus is off, so inference is deterministic.</a:t>
            </a:r>
            <a:endParaRPr lang="en-US" sz="1200" dirty="0"/>
          </a:p>
        </p:txBody>
      </p:sp>
      <p:sp>
        <p:nvSpPr>
          <p:cNvPr id="7" name="Shape 5"/>
          <p:cNvSpPr/>
          <p:nvPr/>
        </p:nvSpPr>
        <p:spPr>
          <a:xfrm>
            <a:off x="566928" y="4846320"/>
            <a:ext cx="5943600" cy="1097280"/>
          </a:xfrm>
          <a:prstGeom prst="rect">
            <a:avLst/>
          </a:prstGeom>
          <a:solidFill>
            <a:srgbClr val="F8F9FA"/>
          </a:solidFill>
          <a:ln w="9525">
            <a:solidFill>
              <a:srgbClr val="D5DAE0"/>
            </a:solidFill>
            <a:prstDash val="solid"/>
          </a:ln>
        </p:spPr>
      </p:sp>
      <p:sp>
        <p:nvSpPr>
          <p:cNvPr id="8" name="Text 6"/>
          <p:cNvSpPr txBox="1"/>
          <p:nvPr/>
        </p:nvSpPr>
        <p:spPr>
          <a:xfrm>
            <a:off x="822960" y="4956048"/>
            <a:ext cx="5431536" cy="914400"/>
          </a:xfrm>
          <a:prstGeom prst="rect">
            <a:avLst/>
          </a:prstGeom>
          <a:noFill/>
          <a:ln/>
        </p:spPr>
        <p:txBody>
          <a:bodyPr wrap="square" lIns="0" tIns="0" rIns="0" bIns="0" rtlCol="0" anchor="ctr"/>
          <a:lstStyle/>
          <a:p>
            <a:pPr indent="0" marL="0">
              <a:lnSpc>
                <a:spcPct val="112000"/>
              </a:lnSpc>
              <a:buNone/>
            </a:pPr>
            <a:r>
              <a:rPr lang="en-US" sz="1100" b="1" dirty="0">
                <a:solidFill>
                  <a:srgbClr val="1F2933"/>
                </a:solidFill>
                <a:latin typeface="Calibri" pitchFamily="34" charset="0"/>
                <a:ea typeface="Calibri" pitchFamily="34" charset="-122"/>
                <a:cs typeface="Calibri" pitchFamily="34" charset="-120"/>
              </a:rPr>
              <a:t xml:space="preserve">Same algorithm, two menus.  </a:t>
            </a:r>
            <a:pPr indent="0" marL="0">
              <a:lnSpc>
                <a:spcPct val="112000"/>
              </a:lnSpc>
              <a:buNone/>
            </a:pPr>
            <a:r>
              <a:rPr lang="en-US" sz="1100" b="1" dirty="0">
                <a:solidFill>
                  <a:srgbClr val="9A3B3B"/>
                </a:solidFill>
                <a:latin typeface="Calibri" pitchFamily="34" charset="0"/>
                <a:ea typeface="Calibri" pitchFamily="34" charset="-122"/>
                <a:cs typeface="Calibri" pitchFamily="34" charset="-120"/>
              </a:rPr>
              <a:t>UCB_L</a:t>
            </a:r>
            <a:pPr indent="0" marL="0">
              <a:lnSpc>
                <a:spcPct val="112000"/>
              </a:lnSpc>
              <a:buNone/>
            </a:pPr>
            <a:r>
              <a:rPr lang="en-US" sz="1100" dirty="0">
                <a:solidFill>
                  <a:srgbClr val="3A4350"/>
                </a:solidFill>
                <a:latin typeface="Calibri" pitchFamily="34" charset="0"/>
                <a:ea typeface="Calibri" pitchFamily="34" charset="-122"/>
                <a:cs typeface="Calibri" pitchFamily="34" charset="-120"/>
              </a:rPr>
              <a:t xml:space="preserve">: arms are the depths {3, 6, 9, 12}; context is the prefix output; chosen once per sample.  </a:t>
            </a:r>
            <a:pPr indent="0" marL="0">
              <a:lnSpc>
                <a:spcPct val="112000"/>
              </a:lnSpc>
              <a:buNone/>
            </a:pPr>
            <a:r>
              <a:rPr lang="en-US" sz="1100" b="1" dirty="0">
                <a:solidFill>
                  <a:srgbClr val="9A3B3B"/>
                </a:solidFill>
                <a:latin typeface="Calibri" pitchFamily="34" charset="0"/>
                <a:ea typeface="Calibri" pitchFamily="34" charset="-122"/>
                <a:cs typeface="Calibri" pitchFamily="34" charset="-120"/>
              </a:rPr>
              <a:t>UCB_H</a:t>
            </a:r>
            <a:pPr indent="0" marL="0">
              <a:lnSpc>
                <a:spcPct val="112000"/>
              </a:lnSpc>
              <a:buNone/>
            </a:pPr>
            <a:r>
              <a:rPr lang="en-US" sz="1100" dirty="0">
                <a:solidFill>
                  <a:srgbClr val="3A4350"/>
                </a:solidFill>
                <a:latin typeface="Calibri" pitchFamily="34" charset="0"/>
                <a:ea typeface="Calibri" pitchFamily="34" charset="-122"/>
                <a:cs typeface="Calibri" pitchFamily="34" charset="-120"/>
              </a:rPr>
              <a:t>: arms are the head counts {8, 10, 12}; context is the hidden state at the start of the group plus a marker for which group; chosen once per group. They keep separate statistics.</a:t>
            </a:r>
            <a:endParaRPr lang="en-US" sz="1100" dirty="0"/>
          </a:p>
        </p:txBody>
      </p:sp>
      <p:sp>
        <p:nvSpPr>
          <p:cNvPr id="9" name="Shape 7"/>
          <p:cNvSpPr/>
          <p:nvPr/>
        </p:nvSpPr>
        <p:spPr>
          <a:xfrm>
            <a:off x="6720840" y="1481328"/>
            <a:ext cx="4901184" cy="4114800"/>
          </a:xfrm>
          <a:prstGeom prst="roundRect">
            <a:avLst>
              <a:gd name="adj" fmla="val 667"/>
            </a:avLst>
          </a:prstGeom>
          <a:solidFill>
            <a:srgbClr val="F5F6F8"/>
          </a:solidFill>
          <a:ln w="9525">
            <a:solidFill>
              <a:srgbClr val="D5DAE0"/>
            </a:solidFill>
            <a:prstDash val="solid"/>
          </a:ln>
        </p:spPr>
      </p:sp>
      <p:sp>
        <p:nvSpPr>
          <p:cNvPr id="10" name="Text 8"/>
          <p:cNvSpPr txBox="1"/>
          <p:nvPr/>
        </p:nvSpPr>
        <p:spPr>
          <a:xfrm>
            <a:off x="6922008" y="1609344"/>
            <a:ext cx="4498848" cy="3858768"/>
          </a:xfrm>
          <a:prstGeom prst="rect">
            <a:avLst/>
          </a:prstGeom>
          <a:noFill/>
          <a:ln/>
        </p:spPr>
        <p:txBody>
          <a:bodyPr wrap="square" lIns="0" tIns="0" rIns="0" bIns="0" rtlCol="0" anchor="t"/>
          <a:lstStyle/>
          <a:p>
            <a:pPr indent="0" marL="0">
              <a:lnSpc>
                <a:spcPct val="108000"/>
              </a:lnSpc>
              <a:buNone/>
            </a:pPr>
            <a:r>
              <a:rPr lang="en-US" sz="1100" dirty="0">
                <a:solidFill>
                  <a:srgbClr val="7A8390"/>
                </a:solidFill>
                <a:latin typeface="Courier New" pitchFamily="34" charset="0"/>
                <a:ea typeface="Courier New" pitchFamily="34" charset="-122"/>
                <a:cs typeface="Courier New" pitchFamily="34" charset="-120"/>
              </a:rPr>
              <a:t># src/dht/bandits/linear_ucb.py</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def scores(self, features, *, explore=True):</a:t>
            </a:r>
            <a:endParaRPr lang="en-US" sz="1100" dirty="0"/>
          </a:p>
          <a:p>
            <a:pPr indent="0" marL="0">
              <a:lnSpc>
                <a:spcPct val="108000"/>
              </a:lnSpc>
              <a:buNone/>
            </a:pPr>
            <a:r>
              <a:rPr lang="en-US" sz="1100" dirty="0">
                <a:solidFill>
                  <a:srgbClr val="7A8390"/>
                </a:solidFill>
                <a:latin typeface="Courier New" pitchFamily="34" charset="0"/>
                <a:ea typeface="Courier New" pitchFamily="34" charset="-122"/>
                <a:cs typeface="Courier New" pitchFamily="34" charset="-120"/>
              </a:rPr>
              <a:t xml:space="preserve">    # A = lambda*I + sum(w wT)    b = sum(reward*w)</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theta = solve(self.A, self.b)</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mean = (w * theta).sum(-1)</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if not explore:          # evaluation: mean only</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return mean</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inv_w = solve(self.A, w)</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variance = (w * inv_w).sum(-1)     # w' Ainv w</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return mean + self.exploration * variance.sqrt()</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def update(self, arm, features, reward):</a:t>
            </a:r>
            <a:endParaRPr lang="en-US" sz="1100" dirty="0"/>
          </a:p>
          <a:p>
            <a:pPr indent="0" marL="0">
              <a:lnSpc>
                <a:spcPct val="108000"/>
              </a:lnSpc>
              <a:buNone/>
            </a:pPr>
            <a:r>
              <a:rPr lang="en-US" sz="1100" dirty="0">
                <a:solidFill>
                  <a:srgbClr val="7A8390"/>
                </a:solidFill>
                <a:latin typeface="Courier New" pitchFamily="34" charset="0"/>
                <a:ea typeface="Courier New" pitchFamily="34" charset="-122"/>
                <a:cs typeface="Courier New" pitchFamily="34" charset="-120"/>
              </a:rPr>
              <a:t xml:space="preserve">    # ONLY the arm that actually executed</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self.A[arm] += torch.outer(w, w)</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self.b[arm] += reward * w</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self.counts[arm] += 1</a:t>
            </a:r>
            <a:endParaRPr lang="en-US" sz="1100" dirty="0"/>
          </a:p>
        </p:txBody>
      </p:sp>
      <p:sp>
        <p:nvSpPr>
          <p:cNvPr id="11" name="Text 9"/>
          <p:cNvSpPr txBox="1"/>
          <p:nvPr/>
        </p:nvSpPr>
        <p:spPr>
          <a:xfrm>
            <a:off x="566928" y="6419088"/>
            <a:ext cx="11057839" cy="219456"/>
          </a:xfrm>
          <a:prstGeom prst="rect">
            <a:avLst/>
          </a:prstGeom>
          <a:noFill/>
          <a:ln/>
        </p:spPr>
        <p:txBody>
          <a:bodyPr wrap="square" lIns="0" tIns="0" rIns="0" bIns="0" rtlCol="0" anchor="ctr"/>
          <a:lstStyle/>
          <a:p>
            <a:pPr indent="0" marL="0">
              <a:buNone/>
            </a:pPr>
            <a:r>
              <a:rPr lang="en-US" sz="950" i="1" dirty="0">
                <a:solidFill>
                  <a:srgbClr val="6B7480"/>
                </a:solidFill>
                <a:latin typeface="Calibri" pitchFamily="34" charset="0"/>
                <a:ea typeface="Calibri" pitchFamily="34" charset="-122"/>
                <a:cs typeface="Calibri" pitchFamily="34" charset="-120"/>
              </a:rPr>
              <a:t>Paper: §3.1 and Algorithm 1, p. 441.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BANDIT 3</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Thompson sampling picks which of the H heads to keep</a:t>
            </a:r>
            <a:endParaRPr lang="en-US" sz="3200" dirty="0"/>
          </a:p>
        </p:txBody>
      </p:sp>
      <p:sp>
        <p:nvSpPr>
          <p:cNvPr id="4" name="Shape 2"/>
          <p:cNvSpPr/>
          <p:nvPr/>
        </p:nvSpPr>
        <p:spPr>
          <a:xfrm>
            <a:off x="566928" y="1481328"/>
            <a:ext cx="5742432" cy="2651760"/>
          </a:xfrm>
          <a:prstGeom prst="roundRect">
            <a:avLst>
              <a:gd name="adj" fmla="val 1034"/>
            </a:avLst>
          </a:prstGeom>
          <a:solidFill>
            <a:srgbClr val="F5F6F8"/>
          </a:solidFill>
          <a:ln w="9525">
            <a:solidFill>
              <a:srgbClr val="D5DAE0"/>
            </a:solidFill>
            <a:prstDash val="solid"/>
          </a:ln>
        </p:spPr>
      </p:sp>
      <p:sp>
        <p:nvSpPr>
          <p:cNvPr id="5" name="Text 3"/>
          <p:cNvSpPr txBox="1"/>
          <p:nvPr/>
        </p:nvSpPr>
        <p:spPr>
          <a:xfrm>
            <a:off x="768096" y="1609344"/>
            <a:ext cx="5340096" cy="2395728"/>
          </a:xfrm>
          <a:prstGeom prst="rect">
            <a:avLst/>
          </a:prstGeom>
          <a:noFill/>
          <a:ln/>
        </p:spPr>
        <p:txBody>
          <a:bodyPr wrap="square" lIns="0" tIns="0" rIns="0" bIns="0" rtlCol="0" anchor="t"/>
          <a:lstStyle/>
          <a:p>
            <a:pPr indent="0" marL="0">
              <a:lnSpc>
                <a:spcPct val="108000"/>
              </a:lnSpc>
              <a:buNone/>
            </a:pPr>
            <a:r>
              <a:rPr lang="en-US" sz="1100" dirty="0">
                <a:solidFill>
                  <a:srgbClr val="7A8390"/>
                </a:solidFill>
                <a:latin typeface="Courier New" pitchFamily="34" charset="0"/>
                <a:ea typeface="Courier New" pitchFamily="34" charset="-122"/>
                <a:cs typeface="Courier New" pitchFamily="34" charset="-120"/>
              </a:rPr>
              <a:t># src/dht/bandits/logistic_ts.py</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def sample_parameters(self):</a:t>
            </a:r>
            <a:endParaRPr lang="en-US" sz="1100" dirty="0"/>
          </a:p>
          <a:p>
            <a:pPr indent="0" marL="0">
              <a:lnSpc>
                <a:spcPct val="108000"/>
              </a:lnSpc>
              <a:buNone/>
            </a:pPr>
            <a:r>
              <a:rPr lang="en-US" sz="1100" dirty="0">
                <a:solidFill>
                  <a:srgbClr val="7A8390"/>
                </a:solidFill>
                <a:latin typeface="Courier New" pitchFamily="34" charset="0"/>
                <a:ea typeface="Courier New" pitchFamily="34" charset="-122"/>
                <a:cs typeface="Courier New" pitchFamily="34" charset="-120"/>
              </a:rPr>
              <a:t xml:space="preserve">    # theta_h ~ N(mean_h, diag(1 / precision_h))</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noise = torch.randn(self.mean.shape,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return self.mean + noise / self.precision.sqrt()</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def select(self, features, count, *, explore=True):</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theta = self.sample_parameters() if explore \</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else self.mean          # frozen at eval</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prob = (w * theta).sum(-1).sigmoid()   # sigmoid</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top = argsort(prob, descending=True)[:count]</a:t>
            </a:r>
            <a:endParaRPr lang="en-US" sz="1100" dirty="0"/>
          </a:p>
          <a:p>
            <a:pPr indent="0" marL="0">
              <a:lnSpc>
                <a:spcPct val="108000"/>
              </a:lnSpc>
              <a:buNone/>
            </a:pPr>
            <a:r>
              <a:rPr lang="en-US" sz="1100" dirty="0">
                <a:solidFill>
                  <a:srgbClr val="1F2933"/>
                </a:solidFill>
                <a:latin typeface="Courier New" pitchFamily="34" charset="0"/>
                <a:ea typeface="Courier New" pitchFamily="34" charset="-122"/>
                <a:cs typeface="Courier New" pitchFamily="34" charset="-120"/>
              </a:rPr>
              <a:t xml:space="preserve">    return tuple(sorted(top))   # ORIGINAL head positions</a:t>
            </a:r>
            <a:endParaRPr lang="en-US" sz="1100" dirty="0"/>
          </a:p>
        </p:txBody>
      </p:sp>
      <p:sp>
        <p:nvSpPr>
          <p:cNvPr id="6" name="Shape 4"/>
          <p:cNvSpPr/>
          <p:nvPr/>
        </p:nvSpPr>
        <p:spPr>
          <a:xfrm>
            <a:off x="566928" y="4315968"/>
            <a:ext cx="5742432" cy="1572768"/>
          </a:xfrm>
          <a:prstGeom prst="rect">
            <a:avLst/>
          </a:prstGeom>
          <a:solidFill>
            <a:srgbClr val="F8F9FA"/>
          </a:solidFill>
          <a:ln w="9525">
            <a:solidFill>
              <a:srgbClr val="D5DAE0"/>
            </a:solidFill>
            <a:prstDash val="solid"/>
          </a:ln>
        </p:spPr>
      </p:sp>
      <p:sp>
        <p:nvSpPr>
          <p:cNvPr id="7" name="Text 5"/>
          <p:cNvSpPr txBox="1"/>
          <p:nvPr/>
        </p:nvSpPr>
        <p:spPr>
          <a:xfrm>
            <a:off x="822960" y="4517136"/>
            <a:ext cx="5230368" cy="1188720"/>
          </a:xfrm>
          <a:prstGeom prst="rect">
            <a:avLst/>
          </a:prstGeom>
          <a:noFill/>
          <a:ln/>
        </p:spPr>
        <p:txBody>
          <a:bodyPr wrap="square" lIns="0" tIns="0" rIns="0" bIns="0" rtlCol="0" anchor="ctr"/>
          <a:lstStyle/>
          <a:p>
            <a:pPr indent="0" marL="0">
              <a:lnSpc>
                <a:spcPct val="112000"/>
              </a:lnSpc>
              <a:buNone/>
            </a:pPr>
            <a:r>
              <a:rPr lang="en-US" sz="1250" b="1" dirty="0">
                <a:solidFill>
                  <a:srgbClr val="1F2933"/>
                </a:solidFill>
                <a:latin typeface="Calibri" pitchFamily="34" charset="0"/>
                <a:ea typeface="Calibri" pitchFamily="34" charset="-122"/>
                <a:cs typeface="Calibri" pitchFamily="34" charset="-120"/>
              </a:rPr>
              <a:t xml:space="preserve">Why not use UCB here too?  </a:t>
            </a:r>
            <a:pPr indent="0" marL="0">
              <a:lnSpc>
                <a:spcPct val="112000"/>
              </a:lnSpc>
              <a:buNone/>
            </a:pPr>
            <a:r>
              <a:rPr lang="en-US" sz="1250" dirty="0">
                <a:solidFill>
                  <a:srgbClr val="3A4350"/>
                </a:solidFill>
                <a:latin typeface="Calibri" pitchFamily="34" charset="0"/>
                <a:ea typeface="Calibri" pitchFamily="34" charset="-122"/>
                <a:cs typeface="Calibri" pitchFamily="34" charset="-120"/>
              </a:rPr>
              <a:t>UCB_H has just said 'keep 8 heads'. Choosing 8 of 12 means 495 possible subsets — far too many to treat each as an arm. Instead every head is its own arm, each gets a score, and we keep the K = H highest, where H is whatever UCB_H just chose for this group.</a:t>
            </a:r>
            <a:endParaRPr lang="en-US" sz="1250" dirty="0"/>
          </a:p>
        </p:txBody>
      </p:sp>
      <p:sp>
        <p:nvSpPr>
          <p:cNvPr id="8" name="Text 6"/>
          <p:cNvSpPr txBox="1"/>
          <p:nvPr/>
        </p:nvSpPr>
        <p:spPr>
          <a:xfrm>
            <a:off x="6656832" y="1481328"/>
            <a:ext cx="4965192" cy="292608"/>
          </a:xfrm>
          <a:prstGeom prst="rect">
            <a:avLst/>
          </a:prstGeom>
          <a:noFill/>
          <a:ln/>
        </p:spPr>
        <p:txBody>
          <a:bodyPr wrap="square" lIns="0" tIns="0" rIns="0" bIns="0" rtlCol="0" anchor="ctr"/>
          <a:lstStyle/>
          <a:p>
            <a:pPr indent="0" marL="0">
              <a:buNone/>
            </a:pPr>
            <a:r>
              <a:rPr lang="en-US" sz="1800" b="1" dirty="0">
                <a:solidFill>
                  <a:srgbClr val="1F2933"/>
                </a:solidFill>
                <a:latin typeface="Cambria" pitchFamily="34" charset="0"/>
                <a:ea typeface="Cambria" pitchFamily="34" charset="-122"/>
                <a:cs typeface="Cambria" pitchFamily="34" charset="-120"/>
              </a:rPr>
              <a:t>What Thompson sampling is</a:t>
            </a:r>
            <a:endParaRPr lang="en-US" sz="1800" dirty="0"/>
          </a:p>
        </p:txBody>
      </p:sp>
      <p:sp>
        <p:nvSpPr>
          <p:cNvPr id="9" name="Text 7"/>
          <p:cNvSpPr txBox="1"/>
          <p:nvPr/>
        </p:nvSpPr>
        <p:spPr>
          <a:xfrm>
            <a:off x="6656832" y="1828800"/>
            <a:ext cx="4965192" cy="914400"/>
          </a:xfrm>
          <a:prstGeom prst="rect">
            <a:avLst/>
          </a:prstGeom>
          <a:noFill/>
          <a:ln/>
        </p:spPr>
        <p:txBody>
          <a:bodyPr wrap="square" lIns="0" tIns="0" rIns="0" bIns="0" rtlCol="0" anchor="ctr"/>
          <a:lstStyle/>
          <a:p>
            <a:pPr indent="0" marL="0">
              <a:lnSpc>
                <a:spcPct val="118000"/>
              </a:lnSpc>
              <a:buNone/>
            </a:pPr>
            <a:r>
              <a:rPr lang="en-US" sz="1300" dirty="0">
                <a:solidFill>
                  <a:srgbClr val="3A4350"/>
                </a:solidFill>
                <a:latin typeface="Calibri" pitchFamily="34" charset="0"/>
                <a:ea typeface="Calibri" pitchFamily="34" charset="-122"/>
                <a:cs typeface="Calibri" pitchFamily="34" charset="-120"/>
              </a:rPr>
              <a:t>UCB adds an explicit bonus for uncertainty. Thompson sampling gets exploration for free from randomness: keep a belief about each option, draw one random guess from that belief, and act as if the guess were true.</a:t>
            </a:r>
            <a:endParaRPr lang="en-US" sz="1300" dirty="0"/>
          </a:p>
        </p:txBody>
      </p:sp>
      <p:sp>
        <p:nvSpPr>
          <p:cNvPr id="10" name="Shape 8"/>
          <p:cNvSpPr/>
          <p:nvPr/>
        </p:nvSpPr>
        <p:spPr>
          <a:xfrm>
            <a:off x="6656832" y="2834640"/>
            <a:ext cx="4965192" cy="3054096"/>
          </a:xfrm>
          <a:prstGeom prst="rect">
            <a:avLst/>
          </a:prstGeom>
          <a:solidFill>
            <a:srgbClr val="F8F9FA"/>
          </a:solidFill>
          <a:ln w="9525">
            <a:solidFill>
              <a:srgbClr val="D5DAE0"/>
            </a:solidFill>
            <a:prstDash val="solid"/>
          </a:ln>
        </p:spPr>
      </p:sp>
      <p:sp>
        <p:nvSpPr>
          <p:cNvPr id="11" name="Text 9"/>
          <p:cNvSpPr txBox="1"/>
          <p:nvPr/>
        </p:nvSpPr>
        <p:spPr>
          <a:xfrm>
            <a:off x="6912864" y="2999232"/>
            <a:ext cx="4453128" cy="274320"/>
          </a:xfrm>
          <a:prstGeom prst="rect">
            <a:avLst/>
          </a:prstGeom>
          <a:noFill/>
          <a:ln/>
        </p:spPr>
        <p:txBody>
          <a:bodyPr wrap="square" lIns="0" tIns="0" rIns="0" bIns="0" rtlCol="0" anchor="ctr"/>
          <a:lstStyle/>
          <a:p>
            <a:pPr indent="0" marL="0">
              <a:buNone/>
            </a:pPr>
            <a:r>
              <a:rPr lang="en-US" sz="1500" b="1" dirty="0">
                <a:solidFill>
                  <a:srgbClr val="1F2933"/>
                </a:solidFill>
                <a:latin typeface="Cambria" pitchFamily="34" charset="0"/>
                <a:ea typeface="Cambria" pitchFamily="34" charset="-122"/>
                <a:cs typeface="Cambria" pitchFamily="34" charset="-120"/>
              </a:rPr>
              <a:t>Step by step, for heads</a:t>
            </a:r>
            <a:endParaRPr lang="en-US" sz="1500" dirty="0"/>
          </a:p>
        </p:txBody>
      </p:sp>
      <p:sp>
        <p:nvSpPr>
          <p:cNvPr id="12" name="Text 10"/>
          <p:cNvSpPr txBox="1"/>
          <p:nvPr/>
        </p:nvSpPr>
        <p:spPr>
          <a:xfrm>
            <a:off x="6912864" y="3310128"/>
            <a:ext cx="4453128" cy="2468880"/>
          </a:xfrm>
          <a:prstGeom prst="rect">
            <a:avLst/>
          </a:prstGeom>
          <a:noFill/>
          <a:ln/>
        </p:spPr>
        <p:txBody>
          <a:bodyPr wrap="square" lIns="0" tIns="0" rIns="0" bIns="0" rtlCol="0" anchor="ctr"/>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1  Belief.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For each head, a Gaussian over parameters that say how useful this head is for inputs like the current one.</a:t>
            </a:r>
            <a:endParaRPr lang="en-US" sz="1200" dirty="0"/>
          </a:p>
          <a:p>
            <a:pPr indent="0" marL="0">
              <a:lnSpc>
                <a:spcPct val="112000"/>
              </a:lnSpc>
              <a:buNone/>
            </a:pPr>
            <a:r>
              <a:rPr lang="en-US" sz="600" dirty="0">
                <a:solidFill>
                  <a:srgbClr val="000000"/>
                </a:solidFill>
                <a:latin typeface="Calibri" pitchFamily="34" charset="0"/>
                <a:ea typeface="Calibri" pitchFamily="34" charset="-122"/>
                <a:cs typeface="Calibri" pitchFamily="34" charset="-120"/>
              </a:rPr>
              <a:t xml:space="preserve"> </a:t>
            </a:r>
            <a:endParaRPr lang="en-US" sz="1200" dirty="0"/>
          </a:p>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2  Draw.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Sample one parameter vector per head from its belief, score each head with a sigmoid, keep the K best.</a:t>
            </a:r>
            <a:endParaRPr lang="en-US" sz="1200" dirty="0"/>
          </a:p>
          <a:p>
            <a:pPr indent="0" marL="0">
              <a:lnSpc>
                <a:spcPct val="112000"/>
              </a:lnSpc>
              <a:buNone/>
            </a:pPr>
            <a:r>
              <a:rPr lang="en-US" sz="600" dirty="0">
                <a:solidFill>
                  <a:srgbClr val="000000"/>
                </a:solidFill>
                <a:latin typeface="Calibri" pitchFamily="34" charset="0"/>
                <a:ea typeface="Calibri" pitchFamily="34" charset="-122"/>
                <a:cs typeface="Calibri" pitchFamily="34" charset="-120"/>
              </a:rPr>
              <a:t xml:space="preserve"> </a:t>
            </a:r>
            <a:endParaRPr lang="en-US" sz="1200" dirty="0"/>
          </a:p>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3  Explore by accident.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A head with a wide, uncertain belief sometimes draws a high score and gets picked — that is how it earns evidence.</a:t>
            </a:r>
            <a:endParaRPr lang="en-US" sz="1200" dirty="0"/>
          </a:p>
          <a:p>
            <a:pPr indent="0" marL="0">
              <a:lnSpc>
                <a:spcPct val="112000"/>
              </a:lnSpc>
              <a:buNone/>
            </a:pPr>
            <a:r>
              <a:rPr lang="en-US" sz="600" dirty="0">
                <a:solidFill>
                  <a:srgbClr val="000000"/>
                </a:solidFill>
                <a:latin typeface="Calibri" pitchFamily="34" charset="0"/>
                <a:ea typeface="Calibri" pitchFamily="34" charset="-122"/>
                <a:cs typeface="Calibri" pitchFamily="34" charset="-120"/>
              </a:rPr>
              <a:t xml:space="preserve"> </a:t>
            </a:r>
            <a:endParaRPr lang="en-US" sz="1200" dirty="0"/>
          </a:p>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4  Update.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The chosen subset gets one shared yes/no label from the reward. Only the selected heads update their beliefs (a small logistic-regression step); the rest are untouched.</a:t>
            </a:r>
            <a:endParaRPr lang="en-US" sz="1200" dirty="0"/>
          </a:p>
        </p:txBody>
      </p:sp>
      <p:sp>
        <p:nvSpPr>
          <p:cNvPr id="13" name="Text 11"/>
          <p:cNvSpPr txBox="1"/>
          <p:nvPr/>
        </p:nvSpPr>
        <p:spPr>
          <a:xfrm>
            <a:off x="566928" y="6419088"/>
            <a:ext cx="11057839" cy="219456"/>
          </a:xfrm>
          <a:prstGeom prst="rect">
            <a:avLst/>
          </a:prstGeom>
          <a:noFill/>
          <a:ln/>
        </p:spPr>
        <p:txBody>
          <a:bodyPr wrap="square" lIns="0" tIns="0" rIns="0" bIns="0" rtlCol="0" anchor="ctr"/>
          <a:lstStyle/>
          <a:p>
            <a:pPr indent="0" marL="0">
              <a:buNone/>
            </a:pPr>
            <a:r>
              <a:rPr lang="en-US" sz="950" i="1" dirty="0">
                <a:solidFill>
                  <a:srgbClr val="6B7480"/>
                </a:solidFill>
                <a:latin typeface="Calibri" pitchFamily="34" charset="0"/>
                <a:ea typeface="Calibri" pitchFamily="34" charset="-122"/>
                <a:cs typeface="Calibri" pitchFamily="34" charset="-120"/>
              </a:rPr>
              <a:t>Paper: §3.2, p. 441–442.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THE SIGNAL</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Reward = did I get that accuracy cheaply?</a:t>
            </a:r>
            <a:endParaRPr lang="en-US" sz="3200" dirty="0"/>
          </a:p>
        </p:txBody>
      </p:sp>
      <p:sp>
        <p:nvSpPr>
          <p:cNvPr id="4" name="Shape 2"/>
          <p:cNvSpPr/>
          <p:nvPr/>
        </p:nvSpPr>
        <p:spPr>
          <a:xfrm>
            <a:off x="566928" y="1444752"/>
            <a:ext cx="5577840" cy="1481328"/>
          </a:xfrm>
          <a:prstGeom prst="rect">
            <a:avLst/>
          </a:prstGeom>
          <a:solidFill>
            <a:srgbClr val="F8F9FA"/>
          </a:solidFill>
          <a:ln w="9525">
            <a:solidFill>
              <a:srgbClr val="D5DAE0"/>
            </a:solidFill>
            <a:prstDash val="solid"/>
          </a:ln>
        </p:spPr>
      </p:sp>
      <p:sp>
        <p:nvSpPr>
          <p:cNvPr id="5" name="Shape 3"/>
          <p:cNvSpPr/>
          <p:nvPr/>
        </p:nvSpPr>
        <p:spPr>
          <a:xfrm>
            <a:off x="768096" y="1627632"/>
            <a:ext cx="329184" cy="329184"/>
          </a:xfrm>
          <a:prstGeom prst="ellipse">
            <a:avLst/>
          </a:prstGeom>
          <a:solidFill>
            <a:srgbClr val="FFFFFF"/>
          </a:solidFill>
          <a:ln w="12700">
            <a:solidFill>
              <a:srgbClr val="9A3B3B"/>
            </a:solidFill>
            <a:prstDash val="solid"/>
          </a:ln>
        </p:spPr>
      </p:sp>
      <p:sp>
        <p:nvSpPr>
          <p:cNvPr id="6" name="Text 4"/>
          <p:cNvSpPr txBox="1"/>
          <p:nvPr/>
        </p:nvSpPr>
        <p:spPr>
          <a:xfrm>
            <a:off x="768096" y="1627632"/>
            <a:ext cx="329184" cy="329184"/>
          </a:xfrm>
          <a:prstGeom prst="rect">
            <a:avLst/>
          </a:prstGeom>
          <a:noFill/>
          <a:ln/>
        </p:spPr>
        <p:txBody>
          <a:bodyPr wrap="square" lIns="0" tIns="0" rIns="0" bIns="0" rtlCol="0" anchor="ctr"/>
          <a:lstStyle/>
          <a:p>
            <a:pPr algn="ctr" indent="0" marL="0">
              <a:buNone/>
            </a:pPr>
            <a:r>
              <a:rPr lang="en-US" sz="1200" b="1" dirty="0">
                <a:solidFill>
                  <a:srgbClr val="9A3B3B"/>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07008" y="1609344"/>
            <a:ext cx="4754880" cy="365760"/>
          </a:xfrm>
          <a:prstGeom prst="rect">
            <a:avLst/>
          </a:prstGeom>
          <a:noFill/>
          <a:ln/>
        </p:spPr>
        <p:txBody>
          <a:bodyPr wrap="square" lIns="0" tIns="0" rIns="0" bIns="0" rtlCol="0" anchor="ctr"/>
          <a:lstStyle/>
          <a:p>
            <a:pPr indent="0" marL="0">
              <a:buNone/>
            </a:pPr>
            <a:r>
              <a:rPr lang="en-US" sz="1500" b="1" dirty="0">
                <a:solidFill>
                  <a:srgbClr val="1F2933"/>
                </a:solidFill>
                <a:latin typeface="Cambria" pitchFamily="34" charset="0"/>
                <a:ea typeface="Cambria" pitchFamily="34" charset="-122"/>
                <a:cs typeface="Cambria" pitchFamily="34" charset="-120"/>
              </a:rPr>
              <a:t>Price the outcome</a:t>
            </a:r>
            <a:endParaRPr lang="en-US" sz="1500" dirty="0"/>
          </a:p>
        </p:txBody>
      </p:sp>
      <p:sp>
        <p:nvSpPr>
          <p:cNvPr id="8" name="Text 6"/>
          <p:cNvSpPr txBox="1"/>
          <p:nvPr/>
        </p:nvSpPr>
        <p:spPr>
          <a:xfrm>
            <a:off x="1207008" y="2011680"/>
            <a:ext cx="4754880" cy="310896"/>
          </a:xfrm>
          <a:prstGeom prst="rect">
            <a:avLst/>
          </a:prstGeom>
          <a:noFill/>
          <a:ln/>
        </p:spPr>
        <p:txBody>
          <a:bodyPr wrap="square" lIns="0" tIns="0" rIns="0" bIns="0" rtlCol="0" anchor="ctr"/>
          <a:lstStyle/>
          <a:p>
            <a:pPr indent="0" marL="0">
              <a:buNone/>
            </a:pPr>
            <a:r>
              <a:rPr lang="en-US" sz="1400" b="1" dirty="0">
                <a:solidFill>
                  <a:srgbClr val="9A3B3B"/>
                </a:solidFill>
                <a:latin typeface="Calibri" pitchFamily="34" charset="0"/>
                <a:ea typeface="Calibri" pitchFamily="34" charset="-122"/>
                <a:cs typeface="Calibri" pitchFamily="34" charset="-120"/>
              </a:rPr>
              <a:t>δ  =  loss  ×  compute spent</a:t>
            </a:r>
            <a:endParaRPr lang="en-US" sz="1400" dirty="0"/>
          </a:p>
        </p:txBody>
      </p:sp>
      <p:sp>
        <p:nvSpPr>
          <p:cNvPr id="9" name="Text 7"/>
          <p:cNvSpPr txBox="1"/>
          <p:nvPr/>
        </p:nvSpPr>
        <p:spPr>
          <a:xfrm>
            <a:off x="1207008" y="2359152"/>
            <a:ext cx="4754880" cy="475488"/>
          </a:xfrm>
          <a:prstGeom prst="rect">
            <a:avLst/>
          </a:prstGeom>
          <a:noFill/>
          <a:ln/>
        </p:spPr>
        <p:txBody>
          <a:bodyPr wrap="square" lIns="0" tIns="0" rIns="0" bIns="0" rtlCol="0" anchor="ctr"/>
          <a:lstStyle/>
          <a:p>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Multiply the sample's loss by the compute the decision used. Small δ = accurate and cheap; large δ = inaccurate, expensive, or both.</a:t>
            </a:r>
            <a:endParaRPr lang="en-US" sz="1200" dirty="0"/>
          </a:p>
        </p:txBody>
      </p:sp>
      <p:sp>
        <p:nvSpPr>
          <p:cNvPr id="10" name="Shape 8"/>
          <p:cNvSpPr/>
          <p:nvPr/>
        </p:nvSpPr>
        <p:spPr>
          <a:xfrm>
            <a:off x="566928" y="3017520"/>
            <a:ext cx="5577840" cy="1645920"/>
          </a:xfrm>
          <a:prstGeom prst="rect">
            <a:avLst/>
          </a:prstGeom>
          <a:solidFill>
            <a:srgbClr val="F8F9FA"/>
          </a:solidFill>
          <a:ln w="9525">
            <a:solidFill>
              <a:srgbClr val="D5DAE0"/>
            </a:solidFill>
            <a:prstDash val="solid"/>
          </a:ln>
        </p:spPr>
      </p:sp>
      <p:sp>
        <p:nvSpPr>
          <p:cNvPr id="11" name="Shape 9"/>
          <p:cNvSpPr/>
          <p:nvPr/>
        </p:nvSpPr>
        <p:spPr>
          <a:xfrm>
            <a:off x="768096" y="3200400"/>
            <a:ext cx="329184" cy="329184"/>
          </a:xfrm>
          <a:prstGeom prst="ellipse">
            <a:avLst/>
          </a:prstGeom>
          <a:solidFill>
            <a:srgbClr val="FFFFFF"/>
          </a:solidFill>
          <a:ln w="12700">
            <a:solidFill>
              <a:srgbClr val="9A3B3B"/>
            </a:solidFill>
            <a:prstDash val="solid"/>
          </a:ln>
        </p:spPr>
      </p:sp>
      <p:sp>
        <p:nvSpPr>
          <p:cNvPr id="12" name="Text 10"/>
          <p:cNvSpPr txBox="1"/>
          <p:nvPr/>
        </p:nvSpPr>
        <p:spPr>
          <a:xfrm>
            <a:off x="768096" y="3200400"/>
            <a:ext cx="329184" cy="329184"/>
          </a:xfrm>
          <a:prstGeom prst="rect">
            <a:avLst/>
          </a:prstGeom>
          <a:noFill/>
          <a:ln/>
        </p:spPr>
        <p:txBody>
          <a:bodyPr wrap="square" lIns="0" tIns="0" rIns="0" bIns="0" rtlCol="0" anchor="ctr"/>
          <a:lstStyle/>
          <a:p>
            <a:pPr algn="ctr" indent="0" marL="0">
              <a:buNone/>
            </a:pPr>
            <a:r>
              <a:rPr lang="en-US" sz="1200" b="1" dirty="0">
                <a:solidFill>
                  <a:srgbClr val="9A3B3B"/>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207008" y="3182112"/>
            <a:ext cx="4754880" cy="365760"/>
          </a:xfrm>
          <a:prstGeom prst="rect">
            <a:avLst/>
          </a:prstGeom>
          <a:noFill/>
          <a:ln/>
        </p:spPr>
        <p:txBody>
          <a:bodyPr wrap="square" lIns="0" tIns="0" rIns="0" bIns="0" rtlCol="0" anchor="ctr"/>
          <a:lstStyle/>
          <a:p>
            <a:pPr indent="0" marL="0">
              <a:buNone/>
            </a:pPr>
            <a:r>
              <a:rPr lang="en-US" sz="1500" b="1" dirty="0">
                <a:solidFill>
                  <a:srgbClr val="1F2933"/>
                </a:solidFill>
                <a:latin typeface="Cambria" pitchFamily="34" charset="0"/>
                <a:ea typeface="Cambria" pitchFamily="34" charset="-122"/>
                <a:cs typeface="Cambria" pitchFamily="34" charset="-120"/>
              </a:rPr>
              <a:t>Compare with the previous batch</a:t>
            </a:r>
            <a:endParaRPr lang="en-US" sz="1500" dirty="0"/>
          </a:p>
        </p:txBody>
      </p:sp>
      <p:sp>
        <p:nvSpPr>
          <p:cNvPr id="14" name="Text 12"/>
          <p:cNvSpPr txBox="1"/>
          <p:nvPr/>
        </p:nvSpPr>
        <p:spPr>
          <a:xfrm>
            <a:off x="1207008" y="3584448"/>
            <a:ext cx="4754880" cy="310896"/>
          </a:xfrm>
          <a:prstGeom prst="rect">
            <a:avLst/>
          </a:prstGeom>
          <a:noFill/>
          <a:ln/>
        </p:spPr>
        <p:txBody>
          <a:bodyPr wrap="square" lIns="0" tIns="0" rIns="0" bIns="0" rtlCol="0" anchor="ctr"/>
          <a:lstStyle/>
          <a:p>
            <a:pPr indent="0" marL="0">
              <a:buNone/>
            </a:pPr>
            <a:r>
              <a:rPr lang="en-US" sz="1400" b="1" dirty="0">
                <a:solidFill>
                  <a:srgbClr val="9A3B3B"/>
                </a:solidFill>
                <a:latin typeface="Calibri" pitchFamily="34" charset="0"/>
                <a:ea typeface="Calibri" pitchFamily="34" charset="-122"/>
                <a:cs typeface="Calibri" pitchFamily="34" charset="-120"/>
              </a:rPr>
              <a:t>reward  =  average δ of the previous batch  ÷  δ of this sample</a:t>
            </a:r>
            <a:endParaRPr lang="en-US" sz="1400" dirty="0"/>
          </a:p>
        </p:txBody>
      </p:sp>
      <p:sp>
        <p:nvSpPr>
          <p:cNvPr id="15" name="Text 13"/>
          <p:cNvSpPr txBox="1"/>
          <p:nvPr/>
        </p:nvSpPr>
        <p:spPr>
          <a:xfrm>
            <a:off x="1207008" y="3931920"/>
            <a:ext cx="4754880" cy="640080"/>
          </a:xfrm>
          <a:prstGeom prst="rect">
            <a:avLst/>
          </a:prstGeom>
          <a:noFill/>
          <a:ln/>
        </p:spPr>
        <p:txBody>
          <a:bodyPr wrap="square" lIns="0" tIns="0" rIns="0" bIns="0" rtlCol="0" anchor="ctr"/>
          <a:lstStyle/>
          <a:p>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Above 1: this decision did better than the batch before it. Below 1: worse. Comparing with the recent past keeps the number meaningful as losses fall over training.</a:t>
            </a:r>
            <a:endParaRPr lang="en-US" sz="1200" dirty="0"/>
          </a:p>
        </p:txBody>
      </p:sp>
      <p:sp>
        <p:nvSpPr>
          <p:cNvPr id="16" name="Shape 14"/>
          <p:cNvSpPr/>
          <p:nvPr/>
        </p:nvSpPr>
        <p:spPr>
          <a:xfrm>
            <a:off x="566928" y="4754880"/>
            <a:ext cx="5577840" cy="1335024"/>
          </a:xfrm>
          <a:prstGeom prst="rect">
            <a:avLst/>
          </a:prstGeom>
          <a:solidFill>
            <a:srgbClr val="F8F9FA"/>
          </a:solidFill>
          <a:ln w="9525">
            <a:solidFill>
              <a:srgbClr val="D5DAE0"/>
            </a:solidFill>
            <a:prstDash val="solid"/>
          </a:ln>
        </p:spPr>
      </p:sp>
      <p:sp>
        <p:nvSpPr>
          <p:cNvPr id="17" name="Shape 15"/>
          <p:cNvSpPr/>
          <p:nvPr/>
        </p:nvSpPr>
        <p:spPr>
          <a:xfrm>
            <a:off x="768096" y="4937760"/>
            <a:ext cx="329184" cy="329184"/>
          </a:xfrm>
          <a:prstGeom prst="ellipse">
            <a:avLst/>
          </a:prstGeom>
          <a:solidFill>
            <a:srgbClr val="FFFFFF"/>
          </a:solidFill>
          <a:ln w="12700">
            <a:solidFill>
              <a:srgbClr val="9A3B3B"/>
            </a:solidFill>
            <a:prstDash val="solid"/>
          </a:ln>
        </p:spPr>
      </p:sp>
      <p:sp>
        <p:nvSpPr>
          <p:cNvPr id="18" name="Text 16"/>
          <p:cNvSpPr txBox="1"/>
          <p:nvPr/>
        </p:nvSpPr>
        <p:spPr>
          <a:xfrm>
            <a:off x="768096" y="4937760"/>
            <a:ext cx="329184" cy="329184"/>
          </a:xfrm>
          <a:prstGeom prst="rect">
            <a:avLst/>
          </a:prstGeom>
          <a:noFill/>
          <a:ln/>
        </p:spPr>
        <p:txBody>
          <a:bodyPr wrap="square" lIns="0" tIns="0" rIns="0" bIns="0" rtlCol="0" anchor="ctr"/>
          <a:lstStyle/>
          <a:p>
            <a:pPr algn="ctr" indent="0" marL="0">
              <a:buNone/>
            </a:pPr>
            <a:r>
              <a:rPr lang="en-US" sz="1200" b="1" dirty="0">
                <a:solidFill>
                  <a:srgbClr val="9A3B3B"/>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207008" y="4919472"/>
            <a:ext cx="4754880" cy="365760"/>
          </a:xfrm>
          <a:prstGeom prst="rect">
            <a:avLst/>
          </a:prstGeom>
          <a:noFill/>
          <a:ln/>
        </p:spPr>
        <p:txBody>
          <a:bodyPr wrap="square" lIns="0" tIns="0" rIns="0" bIns="0" rtlCol="0" anchor="ctr"/>
          <a:lstStyle/>
          <a:p>
            <a:pPr indent="0" marL="0">
              <a:buNone/>
            </a:pPr>
            <a:r>
              <a:rPr lang="en-US" sz="1500" b="1" dirty="0">
                <a:solidFill>
                  <a:srgbClr val="1F2933"/>
                </a:solidFill>
                <a:latin typeface="Cambria" pitchFamily="34" charset="0"/>
                <a:ea typeface="Cambria" pitchFamily="34" charset="-122"/>
                <a:cs typeface="Cambria" pitchFamily="34" charset="-120"/>
              </a:rPr>
              <a:t>Send it to the bandit that made the decision</a:t>
            </a:r>
            <a:endParaRPr lang="en-US" sz="1500" dirty="0"/>
          </a:p>
        </p:txBody>
      </p:sp>
      <p:sp>
        <p:nvSpPr>
          <p:cNvPr id="20" name="Text 18"/>
          <p:cNvSpPr txBox="1"/>
          <p:nvPr/>
        </p:nvSpPr>
        <p:spPr>
          <a:xfrm>
            <a:off x="1207008" y="5321808"/>
            <a:ext cx="4754880" cy="676656"/>
          </a:xfrm>
          <a:prstGeom prst="rect">
            <a:avLst/>
          </a:prstGeom>
          <a:noFill/>
          <a:ln/>
        </p:spPr>
        <p:txBody>
          <a:bodyPr wrap="square" lIns="0" tIns="0" rIns="0" bIns="0" rtlCol="0" anchor="ctr"/>
          <a:lstStyle/>
          <a:p>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UCB_L: compute = layers run. UCB_H: compute = heads kept in its group. UCB_cp (integrated): layers × heads. TSB learns yes / no only, so UCB_H's reward becomes a label: did it cross 1?</a:t>
            </a:r>
            <a:endParaRPr lang="en-US" sz="1200" dirty="0"/>
          </a:p>
        </p:txBody>
      </p:sp>
      <p:sp>
        <p:nvSpPr>
          <p:cNvPr id="21" name="Text 19"/>
          <p:cNvSpPr txBox="1"/>
          <p:nvPr/>
        </p:nvSpPr>
        <p:spPr>
          <a:xfrm>
            <a:off x="6400800" y="1444752"/>
            <a:ext cx="5212080" cy="292608"/>
          </a:xfrm>
          <a:prstGeom prst="rect">
            <a:avLst/>
          </a:prstGeom>
          <a:noFill/>
          <a:ln/>
        </p:spPr>
        <p:txBody>
          <a:bodyPr wrap="square" lIns="0" tIns="0" rIns="0" bIns="0" rtlCol="0" anchor="ctr"/>
          <a:lstStyle/>
          <a:p>
            <a:pPr indent="0" marL="0">
              <a:buNone/>
            </a:pPr>
            <a:r>
              <a:rPr lang="en-US" sz="1500" b="1" dirty="0">
                <a:solidFill>
                  <a:srgbClr val="1F2933"/>
                </a:solidFill>
                <a:latin typeface="Cambria" pitchFamily="34" charset="0"/>
                <a:ea typeface="Cambria" pitchFamily="34" charset="-122"/>
                <a:cs typeface="Cambria" pitchFamily="34" charset="-120"/>
              </a:rPr>
              <a:t>Worked example — the depth decision</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0" y="1810512"/>
          <a:ext cx="5212080" cy="914400"/>
        </p:xfrm>
        <a:graphic>
          <a:graphicData uri="http://schemas.openxmlformats.org/drawingml/2006/table">
            <a:tbl>
              <a:tblPr/>
              <a:tblGrid>
                <a:gridCol w="1783080"/>
                <a:gridCol w="640080"/>
                <a:gridCol w="685800"/>
                <a:gridCol w="1097280"/>
                <a:gridCol w="1005840"/>
              </a:tblGrid>
              <a:tr h="310896">
                <a:tc>
                  <a:txBody>
                    <a:bodyPr/>
                    <a:lstStyle/>
                    <a:p>
                      <a:pPr algn="ctr" indent="0" marL="0">
                        <a:buNone/>
                      </a:pP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100" b="1" dirty="0">
                          <a:solidFill>
                            <a:srgbClr val="1F2933"/>
                          </a:solidFill>
                          <a:latin typeface="Calibri" pitchFamily="34" charset="0"/>
                          <a:ea typeface="Calibri" pitchFamily="34" charset="-122"/>
                          <a:cs typeface="Calibri" pitchFamily="34" charset="-120"/>
                        </a:rPr>
                        <a:t>loss</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100" b="1" dirty="0">
                          <a:solidFill>
                            <a:srgbClr val="1F2933"/>
                          </a:solidFill>
                          <a:latin typeface="Calibri" pitchFamily="34" charset="0"/>
                          <a:ea typeface="Calibri" pitchFamily="34" charset="-122"/>
                          <a:cs typeface="Calibri" pitchFamily="34" charset="-120"/>
                        </a:rPr>
                        <a:t>layers</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100" b="1" dirty="0">
                          <a:solidFill>
                            <a:srgbClr val="1F2933"/>
                          </a:solidFill>
                          <a:latin typeface="Calibri" pitchFamily="34" charset="0"/>
                          <a:ea typeface="Calibri" pitchFamily="34" charset="-122"/>
                          <a:cs typeface="Calibri" pitchFamily="34" charset="-120"/>
                        </a:rPr>
                        <a:t>δ = loss × layers</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100" b="1" dirty="0">
                          <a:solidFill>
                            <a:srgbClr val="1F2933"/>
                          </a:solidFill>
                          <a:latin typeface="Calibri" pitchFamily="34" charset="0"/>
                          <a:ea typeface="Calibri" pitchFamily="34" charset="-122"/>
                          <a:cs typeface="Calibri" pitchFamily="34" charset="-120"/>
                        </a:rPr>
                        <a:t>reward</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365760">
                <a:tc>
                  <a:txBody>
                    <a:bodyPr/>
                    <a:lstStyle/>
                    <a:p>
                      <a:pPr algn="l" indent="0" marL="0">
                        <a:buNone/>
                      </a:pPr>
                      <a:r>
                        <a:rPr lang="en-US" sz="1100" dirty="0">
                          <a:solidFill>
                            <a:srgbClr val="6B7480"/>
                          </a:solidFill>
                          <a:latin typeface="Calibri" pitchFamily="34" charset="0"/>
                          <a:ea typeface="Calibri" pitchFamily="34" charset="-122"/>
                          <a:cs typeface="Calibri" pitchFamily="34" charset="-120"/>
                        </a:rPr>
                        <a:t>previous batch, average</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4350"/>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F2933"/>
                          </a:solidFill>
                          <a:latin typeface="Calibri" pitchFamily="34" charset="0"/>
                          <a:ea typeface="Calibri" pitchFamily="34" charset="-122"/>
                          <a:cs typeface="Calibri" pitchFamily="34" charset="-120"/>
                        </a:rPr>
                        <a:t>sample A, ran 3 layers</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0.60</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D5A73"/>
                          </a:solidFill>
                          <a:latin typeface="Calibri" pitchFamily="34" charset="0"/>
                          <a:ea typeface="Calibri" pitchFamily="34" charset="-122"/>
                          <a:cs typeface="Calibri" pitchFamily="34" charset="-120"/>
                        </a:rPr>
                        <a:t>2.4 ÷ 1.8 = 1.33</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65760">
                <a:tc>
                  <a:txBody>
                    <a:bodyPr/>
                    <a:lstStyle/>
                    <a:p>
                      <a:pPr algn="l" indent="0" marL="0">
                        <a:buNone/>
                      </a:pPr>
                      <a:r>
                        <a:rPr lang="en-US" sz="1100" b="1" dirty="0">
                          <a:solidFill>
                            <a:srgbClr val="1F2933"/>
                          </a:solidFill>
                          <a:latin typeface="Calibri" pitchFamily="34" charset="0"/>
                          <a:ea typeface="Calibri" pitchFamily="34" charset="-122"/>
                          <a:cs typeface="Calibri" pitchFamily="34" charset="-120"/>
                        </a:rPr>
                        <a:t>sample B, ran 12 layers</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4350"/>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9A3B3B"/>
                          </a:solidFill>
                          <a:latin typeface="Calibri" pitchFamily="34" charset="0"/>
                          <a:ea typeface="Calibri" pitchFamily="34" charset="-122"/>
                          <a:cs typeface="Calibri" pitchFamily="34" charset="-120"/>
                        </a:rPr>
                        <a:t>2.4 ÷ 6.0 = 0.40</a:t>
                      </a:r>
                      <a:endParaRPr lang="en-US" sz="1100" dirty="0">
                        <a:latin typeface="Calibri" charset="0"/>
                        <a:ea typeface="Calibri" charset="0"/>
                        <a:cs typeface="Calibri" charset="0"/>
                      </a:endParaRPr>
                    </a:p>
                  </a:txBody>
                  <a:tcPr marL="73152" marR="73152" marT="27432" marB="27432"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23" name="Shape 20"/>
          <p:cNvSpPr/>
          <p:nvPr/>
        </p:nvSpPr>
        <p:spPr>
          <a:xfrm>
            <a:off x="6400800" y="3401568"/>
            <a:ext cx="5212080" cy="2578608"/>
          </a:xfrm>
          <a:prstGeom prst="rect">
            <a:avLst/>
          </a:prstGeom>
          <a:solidFill>
            <a:srgbClr val="F8F9FA"/>
          </a:solidFill>
          <a:ln w="9525">
            <a:solidFill>
              <a:srgbClr val="D5DAE0"/>
            </a:solidFill>
            <a:prstDash val="solid"/>
          </a:ln>
        </p:spPr>
      </p:sp>
      <p:sp>
        <p:nvSpPr>
          <p:cNvPr id="24" name="Text 21"/>
          <p:cNvSpPr txBox="1"/>
          <p:nvPr/>
        </p:nvSpPr>
        <p:spPr>
          <a:xfrm>
            <a:off x="6656832" y="3566160"/>
            <a:ext cx="4700016" cy="2286000"/>
          </a:xfrm>
          <a:prstGeom prst="rect">
            <a:avLst/>
          </a:prstGeom>
          <a:noFill/>
          <a:ln/>
        </p:spPr>
        <p:txBody>
          <a:bodyPr wrap="square" lIns="0" tIns="0" rIns="0" bIns="0" rtlCol="0" anchor="ctr"/>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Reading it.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 xml:space="preserve">A did better than the previous batch (1.33 &gt; 1): its accuracy was worth the compute. </a:t>
            </a:r>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B was more accurate than A, yet scores worse (0.40 &lt; 1)</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 xml:space="preserve"> — it spent four times the layers for a small gain in loss. The bandit learns that, for inputs like B, the extra depth was not worth it.</a:t>
            </a:r>
            <a:endParaRPr lang="en-US" sz="1200" dirty="0"/>
          </a:p>
          <a:p>
            <a:pPr indent="0" marL="0">
              <a:lnSpc>
                <a:spcPct val="112000"/>
              </a:lnSpc>
              <a:buNone/>
            </a:pPr>
            <a:r>
              <a:rPr lang="en-US" sz="700" dirty="0">
                <a:solidFill>
                  <a:srgbClr val="000000"/>
                </a:solidFill>
                <a:latin typeface="Calibri" pitchFamily="34" charset="0"/>
                <a:ea typeface="Calibri" pitchFamily="34" charset="-122"/>
                <a:cs typeface="Calibri" pitchFamily="34" charset="-120"/>
              </a:rPr>
              <a:t xml:space="preserve"> </a:t>
            </a:r>
            <a:endParaRPr lang="en-US" sz="1200" dirty="0"/>
          </a:p>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Same idea for heads.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For UCB_H, replace 'layers' with 'heads kept in this group' and compare with the previous batch's average for that same group.</a:t>
            </a:r>
            <a:endParaRPr lang="en-US" sz="1200" dirty="0"/>
          </a:p>
          <a:p>
            <a:pPr indent="0" marL="0">
              <a:lnSpc>
                <a:spcPct val="112000"/>
              </a:lnSpc>
              <a:buNone/>
            </a:pPr>
            <a:r>
              <a:rPr lang="en-US" sz="700" dirty="0">
                <a:solidFill>
                  <a:srgbClr val="000000"/>
                </a:solidFill>
                <a:latin typeface="Calibri" pitchFamily="34" charset="0"/>
                <a:ea typeface="Calibri" pitchFamily="34" charset="-122"/>
                <a:cs typeface="Calibri" pitchFamily="34" charset="-120"/>
              </a:rPr>
              <a:t xml:space="preserve"> </a:t>
            </a:r>
            <a:endParaRPr lang="en-US" sz="1200" dirty="0"/>
          </a:p>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Then the label for TSB.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TSB only takes yes / no, so its label is simply whether UCB_H's reward crossed 1 for that group.</a:t>
            </a:r>
            <a:endParaRPr lang="en-US" sz="1200" dirty="0"/>
          </a:p>
        </p:txBody>
      </p:sp>
      <p:sp>
        <p:nvSpPr>
          <p:cNvPr id="25" name="Text 22"/>
          <p:cNvSpPr txBox="1"/>
          <p:nvPr/>
        </p:nvSpPr>
        <p:spPr>
          <a:xfrm>
            <a:off x="566928" y="6419088"/>
            <a:ext cx="11057839" cy="219456"/>
          </a:xfrm>
          <a:prstGeom prst="rect">
            <a:avLst/>
          </a:prstGeom>
          <a:noFill/>
          <a:ln/>
        </p:spPr>
        <p:txBody>
          <a:bodyPr wrap="square" lIns="0" tIns="0" rIns="0" bIns="0" rtlCol="0" anchor="ctr"/>
          <a:lstStyle/>
          <a:p>
            <a:pPr indent="0" marL="0">
              <a:buNone/>
            </a:pPr>
            <a:r>
              <a:rPr lang="en-US" sz="950" i="1" dirty="0">
                <a:solidFill>
                  <a:srgbClr val="6B7480"/>
                </a:solidFill>
                <a:latin typeface="Calibri" pitchFamily="34" charset="0"/>
                <a:ea typeface="Calibri" pitchFamily="34" charset="-122"/>
                <a:cs typeface="Calibri" pitchFamily="34" charset="-120"/>
              </a:rPr>
              <a:t>Paper: §4.3, p. 443–444. The paper also multiplies by a constant scale α; it is 1 in these runs.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CODE WALKTHROUGH</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Two functions: route(), then execute()</a:t>
            </a:r>
            <a:endParaRPr lang="en-US" sz="3200" dirty="0"/>
          </a:p>
        </p:txBody>
      </p:sp>
      <p:sp>
        <p:nvSpPr>
          <p:cNvPr id="4" name="Text 2"/>
          <p:cNvSpPr txBox="1"/>
          <p:nvPr/>
        </p:nvSpPr>
        <p:spPr>
          <a:xfrm>
            <a:off x="566928" y="1463040"/>
            <a:ext cx="5532120" cy="237744"/>
          </a:xfrm>
          <a:prstGeom prst="rect">
            <a:avLst/>
          </a:prstGeom>
          <a:noFill/>
          <a:ln/>
        </p:spPr>
        <p:txBody>
          <a:bodyPr wrap="square" lIns="0" tIns="0" rIns="0" bIns="0" rtlCol="0" anchor="ctr"/>
          <a:lstStyle/>
          <a:p>
            <a:pPr indent="0" marL="0">
              <a:buNone/>
            </a:pPr>
            <a:r>
              <a:rPr lang="en-US" sz="1100" b="1" spc="120" kern="0" dirty="0">
                <a:solidFill>
                  <a:srgbClr val="9A3B3B"/>
                </a:solidFill>
                <a:latin typeface="Calibri" pitchFamily="34" charset="0"/>
                <a:ea typeface="Calibri" pitchFamily="34" charset="-122"/>
                <a:cs typeface="Calibri" pitchFamily="34" charset="-120"/>
              </a:rPr>
              <a:t>STAGE 1 — route(): pick the depth. No learning happens here.</a:t>
            </a:r>
            <a:endParaRPr lang="en-US" sz="1100" dirty="0"/>
          </a:p>
        </p:txBody>
      </p:sp>
      <p:sp>
        <p:nvSpPr>
          <p:cNvPr id="5" name="Shape 3"/>
          <p:cNvSpPr/>
          <p:nvPr/>
        </p:nvSpPr>
        <p:spPr>
          <a:xfrm>
            <a:off x="566928" y="1755648"/>
            <a:ext cx="5532120" cy="1691640"/>
          </a:xfrm>
          <a:prstGeom prst="roundRect">
            <a:avLst>
              <a:gd name="adj" fmla="val 1622"/>
            </a:avLst>
          </a:prstGeom>
          <a:solidFill>
            <a:srgbClr val="F5F6F8"/>
          </a:solidFill>
          <a:ln w="9525">
            <a:solidFill>
              <a:srgbClr val="D5DAE0"/>
            </a:solidFill>
            <a:prstDash val="solid"/>
          </a:ln>
        </p:spPr>
      </p:sp>
      <p:sp>
        <p:nvSpPr>
          <p:cNvPr id="6" name="Text 4"/>
          <p:cNvSpPr txBox="1"/>
          <p:nvPr/>
        </p:nvSpPr>
        <p:spPr>
          <a:xfrm>
            <a:off x="768096" y="1883664"/>
            <a:ext cx="5129784" cy="1435608"/>
          </a:xfrm>
          <a:prstGeom prst="rect">
            <a:avLst/>
          </a:prstGeom>
          <a:noFill/>
          <a:ln/>
        </p:spPr>
        <p:txBody>
          <a:bodyPr wrap="square" lIns="0" tIns="0" rIns="0" bIns="0" rtlCol="0" anchor="t"/>
          <a:lstStyle/>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@torch.no_grad()                    # no learning here</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def route(self, model, tokens, sample_id):</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model.eval()                    # dropout off</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hidden, mask = model.prefix(tokens)   # first 3 layers</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w = self.features.aggregate(hidden, mask, 'depth')</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arm = self.route_ucb.select(w)  # UCB_L: pick a depth</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return RouteDecision(sample_id, self.depths[arm],</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arm, w[arm])  # keep the context</a:t>
            </a:r>
            <a:endParaRPr lang="en-US" sz="1050" dirty="0"/>
          </a:p>
        </p:txBody>
      </p:sp>
      <p:sp>
        <p:nvSpPr>
          <p:cNvPr id="7" name="Text 5"/>
          <p:cNvSpPr txBox="1"/>
          <p:nvPr/>
        </p:nvSpPr>
        <p:spPr>
          <a:xfrm>
            <a:off x="566928" y="3621024"/>
            <a:ext cx="5532120" cy="960120"/>
          </a:xfrm>
          <a:prstGeom prst="rect">
            <a:avLst/>
          </a:prstGeom>
          <a:noFill/>
          <a:ln/>
        </p:spPr>
        <p:txBody>
          <a:bodyPr wrap="square" lIns="0" tIns="0" rIns="0" bIns="0" rtlCol="0" anchor="ctr"/>
          <a:lstStyle/>
          <a:p>
            <a:pPr indent="0" marL="0">
              <a:lnSpc>
                <a:spcPct val="114000"/>
              </a:lnSpc>
              <a:buNone/>
            </a:pPr>
            <a:r>
              <a:rPr lang="en-US" sz="1200" b="1" dirty="0">
                <a:solidFill>
                  <a:srgbClr val="1F2933"/>
                </a:solidFill>
                <a:latin typeface="Calibri" pitchFamily="34" charset="0"/>
                <a:ea typeface="Calibri" pitchFamily="34" charset="-122"/>
                <a:cs typeface="Calibri" pitchFamily="34" charset="-120"/>
              </a:rPr>
              <a:t xml:space="preserve">What comes back: </a:t>
            </a:r>
            <a:pPr indent="0" marL="0">
              <a:lnSpc>
                <a:spcPct val="114000"/>
              </a:lnSpc>
              <a:buNone/>
            </a:pPr>
            <a:r>
              <a:rPr lang="en-US" sz="1200" dirty="0">
                <a:solidFill>
                  <a:srgbClr val="3A4350"/>
                </a:solidFill>
                <a:latin typeface="Calibri" pitchFamily="34" charset="0"/>
                <a:ea typeface="Calibri" pitchFamily="34" charset="-122"/>
                <a:cs typeface="Calibri" pitchFamily="34" charset="-120"/>
              </a:rPr>
              <a:t>the chosen depth, plus a copy of the numbers UCB_L looked at when it chose. The sample waits with other samples of the same depth; when its reward arrives later, UCB_L is updated using exactly those saved numbers.</a:t>
            </a:r>
            <a:endParaRPr lang="en-US" sz="1200" dirty="0"/>
          </a:p>
        </p:txBody>
      </p:sp>
      <p:sp>
        <p:nvSpPr>
          <p:cNvPr id="8" name="Shape 6"/>
          <p:cNvSpPr/>
          <p:nvPr/>
        </p:nvSpPr>
        <p:spPr>
          <a:xfrm>
            <a:off x="566928" y="4700016"/>
            <a:ext cx="5532120" cy="1316736"/>
          </a:xfrm>
          <a:prstGeom prst="rect">
            <a:avLst/>
          </a:prstGeom>
          <a:solidFill>
            <a:srgbClr val="F8F9FA"/>
          </a:solidFill>
          <a:ln w="9525">
            <a:solidFill>
              <a:srgbClr val="D5DAE0"/>
            </a:solidFill>
            <a:prstDash val="solid"/>
          </a:ln>
        </p:spPr>
      </p:sp>
      <p:sp>
        <p:nvSpPr>
          <p:cNvPr id="9" name="Text 7"/>
          <p:cNvSpPr txBox="1"/>
          <p:nvPr/>
        </p:nvSpPr>
        <p:spPr>
          <a:xfrm>
            <a:off x="822960" y="4864608"/>
            <a:ext cx="5020056" cy="1060704"/>
          </a:xfrm>
          <a:prstGeom prst="rect">
            <a:avLst/>
          </a:prstGeom>
          <a:noFill/>
          <a:ln/>
        </p:spPr>
        <p:txBody>
          <a:bodyPr wrap="square" lIns="0" tIns="0" rIns="0" bIns="0" rtlCol="0" anchor="ctr"/>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 xml:space="preserve">Why one sample at a time?  </a:t>
            </a:r>
            <a:pPr indent="0" marL="0">
              <a:lnSpc>
                <a:spcPct val="112000"/>
              </a:lnSpc>
              <a:buNone/>
            </a:pPr>
            <a:r>
              <a:rPr lang="en-US" sz="1200" dirty="0">
                <a:solidFill>
                  <a:srgbClr val="3A4350"/>
                </a:solidFill>
                <a:latin typeface="Calibri" pitchFamily="34" charset="0"/>
                <a:ea typeface="Calibri" pitchFamily="34" charset="-122"/>
                <a:cs typeface="Calibri" pitchFamily="34" charset="-120"/>
              </a:rPr>
              <a:t>Two samples in the same batch can keep different heads, so each runs on its own and their average loss makes one update. Simple and correct — but it is also why my timings are slow. Batching identical head choices is future work.</a:t>
            </a:r>
            <a:endParaRPr lang="en-US" sz="1200" dirty="0"/>
          </a:p>
        </p:txBody>
      </p:sp>
      <p:sp>
        <p:nvSpPr>
          <p:cNvPr id="10" name="Text 8"/>
          <p:cNvSpPr txBox="1"/>
          <p:nvPr/>
        </p:nvSpPr>
        <p:spPr>
          <a:xfrm>
            <a:off x="6382512" y="1463040"/>
            <a:ext cx="5239512" cy="237744"/>
          </a:xfrm>
          <a:prstGeom prst="rect">
            <a:avLst/>
          </a:prstGeom>
          <a:noFill/>
          <a:ln/>
        </p:spPr>
        <p:txBody>
          <a:bodyPr wrap="square" lIns="0" tIns="0" rIns="0" bIns="0" rtlCol="0" anchor="ctr"/>
          <a:lstStyle/>
          <a:p>
            <a:pPr indent="0" marL="0">
              <a:buNone/>
            </a:pPr>
            <a:r>
              <a:rPr lang="en-US" sz="1100" b="1" spc="120" kern="0" dirty="0">
                <a:solidFill>
                  <a:srgbClr val="9A3B3B"/>
                </a:solidFill>
                <a:latin typeface="Calibri" pitchFamily="34" charset="0"/>
                <a:ea typeface="Calibri" pitchFamily="34" charset="-122"/>
                <a:cs typeface="Calibri" pitchFamily="34" charset="-120"/>
              </a:rPr>
              <a:t>STAGE 2 — execute(): pick heads, run the layers, then learn.</a:t>
            </a:r>
            <a:endParaRPr lang="en-US" sz="1100" dirty="0"/>
          </a:p>
        </p:txBody>
      </p:sp>
      <p:sp>
        <p:nvSpPr>
          <p:cNvPr id="11" name="Shape 9"/>
          <p:cNvSpPr/>
          <p:nvPr/>
        </p:nvSpPr>
        <p:spPr>
          <a:xfrm>
            <a:off x="6382512" y="1755648"/>
            <a:ext cx="5239512" cy="3639312"/>
          </a:xfrm>
          <a:prstGeom prst="roundRect">
            <a:avLst>
              <a:gd name="adj" fmla="val 754"/>
            </a:avLst>
          </a:prstGeom>
          <a:solidFill>
            <a:srgbClr val="F5F6F8"/>
          </a:solidFill>
          <a:ln w="9525">
            <a:solidFill>
              <a:srgbClr val="D5DAE0"/>
            </a:solidFill>
            <a:prstDash val="solid"/>
          </a:ln>
        </p:spPr>
      </p:sp>
      <p:sp>
        <p:nvSpPr>
          <p:cNvPr id="12" name="Text 10"/>
          <p:cNvSpPr txBox="1"/>
          <p:nvPr/>
        </p:nvSpPr>
        <p:spPr>
          <a:xfrm>
            <a:off x="6583680" y="1883664"/>
            <a:ext cx="4837176" cy="3383280"/>
          </a:xfrm>
          <a:prstGeom prst="rect">
            <a:avLst/>
          </a:prstGeom>
          <a:noFill/>
          <a:ln/>
        </p:spPr>
        <p:txBody>
          <a:bodyPr wrap="square" lIns="0" tIns="0" rIns="0" bIns="0" rtlCol="0" anchor="t"/>
          <a:lstStyle/>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def execute(self, model, tokens, route):</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hidden, mask = model.prefix(tokens)  # same 3 layers,</a:t>
            </a:r>
            <a:endParaRPr lang="en-US" sz="1050" dirty="0"/>
          </a:p>
          <a:p>
            <a:pPr indent="0" marL="0">
              <a:lnSpc>
                <a:spcPct val="108000"/>
              </a:lnSpc>
              <a:buNone/>
            </a:pPr>
            <a:r>
              <a:rPr lang="en-US" sz="1050" dirty="0">
                <a:solidFill>
                  <a:srgbClr val="7A8390"/>
                </a:solidFill>
                <a:latin typeface="Courier New" pitchFamily="34" charset="0"/>
                <a:ea typeface="Courier New" pitchFamily="34" charset="-122"/>
                <a:cs typeface="Courier New" pitchFamily="34" charset="-120"/>
              </a:rPr>
              <a:t xml:space="preserve">                                         # now learning</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for gi, start in enumerate(self.groups):  # 3 at a time</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if start &gt;= route.total_depth:</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break                    # chosen depth reached</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wc = self.feat(hidden, mask, 'head', gi)</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count = self.counts[self.head_ucb.select(wc)]</a:t>
            </a:r>
            <a:endParaRPr lang="en-US" sz="1050" dirty="0"/>
          </a:p>
          <a:p>
            <a:pPr indent="0" marL="0">
              <a:lnSpc>
                <a:spcPct val="108000"/>
              </a:lnSpc>
              <a:buNone/>
            </a:pPr>
            <a:r>
              <a:rPr lang="en-US" sz="1050" dirty="0">
                <a:solidFill>
                  <a:srgbClr val="7A8390"/>
                </a:solidFill>
                <a:latin typeface="Courier New" pitchFamily="34" charset="0"/>
                <a:ea typeface="Courier New" pitchFamily="34" charset="-122"/>
                <a:cs typeface="Courier New" pitchFamily="34" charset="-120"/>
              </a:rPr>
              <a:t xml:space="preserve">        # ^ UCB_H: how many heads for this group</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wt = self.feat(hidden, mask, 'ts', gi)</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heads = self.ts.select(wt, count)   # TSB: which</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for l in range(start, start + 3):    # run group</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hidden = model.layers[l](hidden, mask, heads)</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return Execution(model.classify(hidden), ...)</a:t>
            </a:r>
            <a:endParaRPr lang="en-US" sz="1050" dirty="0"/>
          </a:p>
        </p:txBody>
      </p:sp>
      <p:sp>
        <p:nvSpPr>
          <p:cNvPr id="13" name="Text 11"/>
          <p:cNvSpPr txBox="1"/>
          <p:nvPr/>
        </p:nvSpPr>
        <p:spPr>
          <a:xfrm>
            <a:off x="6382512" y="5468112"/>
            <a:ext cx="5239512" cy="896112"/>
          </a:xfrm>
          <a:prstGeom prst="rect">
            <a:avLst/>
          </a:prstGeom>
          <a:noFill/>
          <a:ln/>
        </p:spPr>
        <p:txBody>
          <a:bodyPr wrap="square" lIns="0" tIns="0" rIns="0" bIns="0" rtlCol="0" anchor="ctr"/>
          <a:lstStyle/>
          <a:p>
            <a:pPr indent="0" marL="0">
              <a:lnSpc>
                <a:spcPct val="112000"/>
              </a:lnSpc>
              <a:buNone/>
            </a:pPr>
            <a:r>
              <a:rPr lang="en-US" sz="1100" b="1" dirty="0">
                <a:solidFill>
                  <a:srgbClr val="1F2933"/>
                </a:solidFill>
                <a:latin typeface="Calibri" pitchFamily="34" charset="0"/>
                <a:ea typeface="Calibri" pitchFamily="34" charset="-122"/>
                <a:cs typeface="Calibri" pitchFamily="34" charset="-120"/>
              </a:rPr>
              <a:t xml:space="preserve">Read it top to bottom: </a:t>
            </a:r>
            <a:pPr indent="0" marL="0">
              <a:lnSpc>
                <a:spcPct val="112000"/>
              </a:lnSpc>
              <a:buNone/>
            </a:pPr>
            <a:r>
              <a:rPr lang="en-US" sz="1100" dirty="0">
                <a:solidFill>
                  <a:srgbClr val="3A4350"/>
                </a:solidFill>
                <a:latin typeface="Calibri" pitchFamily="34" charset="0"/>
                <a:ea typeface="Calibri" pitchFamily="34" charset="-122"/>
                <a:cs typeface="Calibri" pitchFamily="34" charset="-120"/>
              </a:rPr>
              <a:t>run the prefix → for each group of 3 layers: ask UCB_H how many heads, ask TSB which ones, run those layers with those heads → stop at the chosen depth → classify. The loss from classify() is what trains the model and scores the bandits.</a:t>
            </a:r>
            <a:endParaRPr lang="en-US" sz="1100" dirty="0"/>
          </a:p>
        </p:txBody>
      </p:sp>
      <p:sp>
        <p:nvSpPr>
          <p:cNvPr id="14" name="Text 12"/>
          <p:cNvSpPr txBox="1"/>
          <p:nvPr/>
        </p:nvSpPr>
        <p:spPr>
          <a:xfrm>
            <a:off x="566928" y="6419088"/>
            <a:ext cx="11057839" cy="219456"/>
          </a:xfrm>
          <a:prstGeom prst="rect">
            <a:avLst/>
          </a:prstGeom>
          <a:noFill/>
          <a:ln/>
        </p:spPr>
        <p:txBody>
          <a:bodyPr wrap="square" lIns="0" tIns="0" rIns="0" bIns="0" rtlCol="0" anchor="ctr"/>
          <a:lstStyle/>
          <a:p>
            <a:pPr indent="0" marL="0">
              <a:buNone/>
            </a:pPr>
            <a:r>
              <a:rPr lang="en-US" sz="950" i="1" dirty="0">
                <a:solidFill>
                  <a:srgbClr val="6B7480"/>
                </a:solidFill>
                <a:latin typeface="Calibri" pitchFamily="34" charset="0"/>
                <a:ea typeface="Calibri" pitchFamily="34" charset="-122"/>
                <a:cs typeface="Calibri" pitchFamily="34" charset="-120"/>
              </a:rPr>
              <a:t>src/dht/policies/controller.py — the paper's Algorithm 2 (p. 444) in about forty lines. The training loop calls route(), then execute(), then updates.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BEYOND THE PAPER</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Masking a head is not the same as skipping it</a:t>
            </a:r>
            <a:endParaRPr lang="en-US" sz="3200" dirty="0"/>
          </a:p>
        </p:txBody>
      </p:sp>
      <p:sp>
        <p:nvSpPr>
          <p:cNvPr id="4" name="Text 2"/>
          <p:cNvSpPr txBox="1"/>
          <p:nvPr/>
        </p:nvSpPr>
        <p:spPr>
          <a:xfrm>
            <a:off x="566928" y="1444752"/>
            <a:ext cx="11057839" cy="777240"/>
          </a:xfrm>
          <a:prstGeom prst="rect">
            <a:avLst/>
          </a:prstGeom>
          <a:noFill/>
          <a:ln/>
        </p:spPr>
        <p:txBody>
          <a:bodyPr wrap="square" lIns="0" tIns="0" rIns="0" bIns="0" rtlCol="0" anchor="ctr"/>
          <a:lstStyle/>
          <a:p>
            <a:pPr indent="0" marL="0">
              <a:lnSpc>
                <a:spcPct val="118000"/>
              </a:lnSpc>
              <a:buNone/>
            </a:pPr>
            <a:r>
              <a:rPr lang="en-US" sz="1350" dirty="0">
                <a:solidFill>
                  <a:srgbClr val="3A4350"/>
                </a:solidFill>
                <a:latin typeface="Calibri" pitchFamily="34" charset="0"/>
                <a:ea typeface="Calibri" pitchFamily="34" charset="-122"/>
                <a:cs typeface="Calibri" pitchFamily="34" charset="-120"/>
              </a:rPr>
              <a:t xml:space="preserve">The paper describes head selection as a mask:  </a:t>
            </a:r>
            <a:pPr indent="0" marL="0">
              <a:lnSpc>
                <a:spcPct val="118000"/>
              </a:lnSpc>
              <a:buNone/>
            </a:pPr>
            <a:r>
              <a:rPr lang="en-US" sz="1350" b="1" dirty="0">
                <a:solidFill>
                  <a:srgbClr val="1F2933"/>
                </a:solidFill>
                <a:latin typeface="Calibri" pitchFamily="34" charset="0"/>
                <a:ea typeface="Calibri" pitchFamily="34" charset="-122"/>
                <a:cs typeface="Calibri" pitchFamily="34" charset="-120"/>
              </a:rPr>
              <a:t>out = Σ ξ</a:t>
            </a:r>
            <a:pPr indent="0" marL="0">
              <a:lnSpc>
                <a:spcPct val="118000"/>
              </a:lnSpc>
              <a:buNone/>
            </a:pPr>
            <a:r>
              <a:rPr lang="en-US" sz="1350" b="1" baseline="-40000" dirty="0">
                <a:solidFill>
                  <a:srgbClr val="1F2933"/>
                </a:solidFill>
                <a:latin typeface="Calibri" pitchFamily="34" charset="0"/>
                <a:ea typeface="Calibri" pitchFamily="34" charset="-122"/>
                <a:cs typeface="Calibri" pitchFamily="34" charset="-120"/>
              </a:rPr>
              <a:t>h</a:t>
            </a:r>
            <a:pPr indent="0" marL="0">
              <a:lnSpc>
                <a:spcPct val="118000"/>
              </a:lnSpc>
              <a:buNone/>
            </a:pPr>
            <a:r>
              <a:rPr lang="en-US" sz="1350" b="1" dirty="0">
                <a:solidFill>
                  <a:srgbClr val="1F2933"/>
                </a:solidFill>
                <a:latin typeface="Calibri" pitchFamily="34" charset="0"/>
                <a:ea typeface="Calibri" pitchFamily="34" charset="-122"/>
                <a:cs typeface="Calibri" pitchFamily="34" charset="-120"/>
              </a:rPr>
              <a:t xml:space="preserve"> · Att</a:t>
            </a:r>
            <a:pPr indent="0" marL="0">
              <a:lnSpc>
                <a:spcPct val="118000"/>
              </a:lnSpc>
              <a:buNone/>
            </a:pPr>
            <a:r>
              <a:rPr lang="en-US" sz="1350" b="1" baseline="-40000" dirty="0">
                <a:solidFill>
                  <a:srgbClr val="1F2933"/>
                </a:solidFill>
                <a:latin typeface="Calibri" pitchFamily="34" charset="0"/>
                <a:ea typeface="Calibri" pitchFamily="34" charset="-122"/>
                <a:cs typeface="Calibri" pitchFamily="34" charset="-120"/>
              </a:rPr>
              <a:t>h</a:t>
            </a:r>
            <a:pPr indent="0" marL="0">
              <a:lnSpc>
                <a:spcPct val="118000"/>
              </a:lnSpc>
              <a:buNone/>
            </a:pPr>
            <a:r>
              <a:rPr lang="en-US" sz="1350" b="1" dirty="0">
                <a:solidFill>
                  <a:srgbClr val="1F2933"/>
                </a:solidFill>
                <a:latin typeface="Calibri" pitchFamily="34" charset="0"/>
                <a:ea typeface="Calibri" pitchFamily="34" charset="-122"/>
                <a:cs typeface="Calibri" pitchFamily="34" charset="-120"/>
              </a:rPr>
              <a:t>(x),   ξ = 0 or 1</a:t>
            </a:r>
            <a:pPr indent="0" marL="0">
              <a:lnSpc>
                <a:spcPct val="118000"/>
              </a:lnSpc>
              <a:buNone/>
            </a:pPr>
            <a:r>
              <a:rPr lang="en-US" sz="1350" dirty="0">
                <a:solidFill>
                  <a:srgbClr val="3A4350"/>
                </a:solidFill>
                <a:latin typeface="Calibri" pitchFamily="34" charset="0"/>
                <a:ea typeface="Calibri" pitchFamily="34" charset="-122"/>
                <a:cs typeface="Calibri" pitchFamily="34" charset="-120"/>
              </a:rPr>
              <a:t>.  A mask on its own saves nothing — every head is still computed, then some are multiplied by zero. So the implementation slices the weight matrices instead, and an operator profiler measures the actual saving.</a:t>
            </a:r>
            <a:endParaRPr lang="en-US" sz="1350" dirty="0"/>
          </a:p>
        </p:txBody>
      </p:sp>
      <p:sp>
        <p:nvSpPr>
          <p:cNvPr id="5" name="Shape 3"/>
          <p:cNvSpPr/>
          <p:nvPr/>
        </p:nvSpPr>
        <p:spPr>
          <a:xfrm>
            <a:off x="566928" y="2340864"/>
            <a:ext cx="5989320" cy="2212848"/>
          </a:xfrm>
          <a:prstGeom prst="roundRect">
            <a:avLst>
              <a:gd name="adj" fmla="val 1240"/>
            </a:avLst>
          </a:prstGeom>
          <a:solidFill>
            <a:srgbClr val="F5F6F8"/>
          </a:solidFill>
          <a:ln w="9525">
            <a:solidFill>
              <a:srgbClr val="D5DAE0"/>
            </a:solidFill>
            <a:prstDash val="solid"/>
          </a:ln>
        </p:spPr>
      </p:sp>
      <p:sp>
        <p:nvSpPr>
          <p:cNvPr id="6" name="Text 4"/>
          <p:cNvSpPr txBox="1"/>
          <p:nvPr/>
        </p:nvSpPr>
        <p:spPr>
          <a:xfrm>
            <a:off x="768096" y="2468880"/>
            <a:ext cx="5586984" cy="1956816"/>
          </a:xfrm>
          <a:prstGeom prst="rect">
            <a:avLst/>
          </a:prstGeom>
          <a:noFill/>
          <a:ln/>
        </p:spPr>
        <p:txBody>
          <a:bodyPr wrap="square" lIns="0" tIns="0" rIns="0" bIns="0" rtlCol="0" anchor="t"/>
          <a:lstStyle/>
          <a:p>
            <a:pPr indent="0" marL="0">
              <a:lnSpc>
                <a:spcPct val="108000"/>
              </a:lnSpc>
              <a:buNone/>
            </a:pPr>
            <a:r>
              <a:rPr lang="en-US" sz="1050" dirty="0">
                <a:solidFill>
                  <a:srgbClr val="7A8390"/>
                </a:solidFill>
                <a:latin typeface="Courier New" pitchFamily="34" charset="0"/>
                <a:ea typeface="Courier New" pitchFamily="34" charset="-122"/>
                <a:cs typeface="Courier New" pitchFamily="34" charset="-120"/>
              </a:rPr>
              <a:t># src/dht/models/attention.py</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def project(projection):</a:t>
            </a:r>
            <a:endParaRPr lang="en-US" sz="1050" dirty="0"/>
          </a:p>
          <a:p>
            <a:pPr indent="0" marL="0">
              <a:lnSpc>
                <a:spcPct val="108000"/>
              </a:lnSpc>
              <a:buNone/>
            </a:pPr>
            <a:r>
              <a:rPr lang="en-US" sz="1050" dirty="0">
                <a:solidFill>
                  <a:srgbClr val="7A8390"/>
                </a:solidFill>
                <a:latin typeface="Courier New" pitchFamily="34" charset="0"/>
                <a:ea typeface="Courier New" pitchFamily="34" charset="-122"/>
                <a:cs typeface="Courier New" pitchFamily="34" charset="-120"/>
              </a:rPr>
              <a:t xml:space="preserve">    # slice the ROWS for selected heads BEFORE the matmul</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return F.linear(</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hidden,</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index_select(projection.weight, 0, columns),</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index_select(projection.bias,   0, columns),</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).view(batch, length, len(executed), self.head_dim)</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 xml:space="preserve"> </a:t>
            </a:r>
            <a:endParaRPr lang="en-US" sz="1050" dirty="0"/>
          </a:p>
          <a:p>
            <a:pPr indent="0" marL="0">
              <a:lnSpc>
                <a:spcPct val="108000"/>
              </a:lnSpc>
              <a:buNone/>
            </a:pPr>
            <a:r>
              <a:rPr lang="en-US" sz="1050" dirty="0">
                <a:solidFill>
                  <a:srgbClr val="7A8390"/>
                </a:solidFill>
                <a:latin typeface="Courier New" pitchFamily="34" charset="0"/>
                <a:ea typeface="Courier New" pitchFamily="34" charset="-122"/>
                <a:cs typeface="Courier New" pitchFamily="34" charset="-120"/>
              </a:rPr>
              <a:t># output projection keeps the ORIGINAL head columns</a:t>
            </a:r>
            <a:endParaRPr lang="en-US" sz="1050" dirty="0"/>
          </a:p>
          <a:p>
            <a:pPr indent="0" marL="0">
              <a:lnSpc>
                <a:spcPct val="108000"/>
              </a:lnSpc>
              <a:buNone/>
            </a:pPr>
            <a:r>
              <a:rPr lang="en-US" sz="1050" dirty="0">
                <a:solidFill>
                  <a:srgbClr val="1F2933"/>
                </a:solidFill>
                <a:latin typeface="Courier New" pitchFamily="34" charset="0"/>
                <a:ea typeface="Courier New" pitchFamily="34" charset="-122"/>
                <a:cs typeface="Courier New" pitchFamily="34" charset="-120"/>
              </a:rPr>
              <a:t>out_w = index_select(self.output.weight, 1, columns)</a:t>
            </a:r>
            <a:endParaRPr lang="en-US" sz="1050" dirty="0"/>
          </a:p>
        </p:txBody>
      </p:sp>
      <p:sp>
        <p:nvSpPr>
          <p:cNvPr id="7" name="Text 5"/>
          <p:cNvSpPr txBox="1"/>
          <p:nvPr/>
        </p:nvSpPr>
        <p:spPr>
          <a:xfrm>
            <a:off x="566928" y="4681728"/>
            <a:ext cx="5989320" cy="1371600"/>
          </a:xfrm>
          <a:prstGeom prst="rect">
            <a:avLst/>
          </a:prstGeom>
          <a:noFill/>
          <a:ln/>
        </p:spPr>
        <p:txBody>
          <a:bodyPr wrap="square" lIns="0" tIns="0" rIns="0" bIns="0" rtlCol="0" anchor="ctr"/>
          <a:lstStyle/>
          <a:p>
            <a:pPr indent="0" marL="0">
              <a:lnSpc>
                <a:spcPct val="115000"/>
              </a:lnSpc>
              <a:buNone/>
            </a:pPr>
            <a:r>
              <a:rPr lang="en-US" sz="1250" b="1" dirty="0">
                <a:solidFill>
                  <a:srgbClr val="9A3B3B"/>
                </a:solidFill>
                <a:latin typeface="Calibri" pitchFamily="34" charset="0"/>
                <a:ea typeface="Calibri" pitchFamily="34" charset="-122"/>
                <a:cs typeface="Calibri" pitchFamily="34" charset="-120"/>
              </a:rPr>
              <a:t xml:space="preserve">Measured, not inferred.  </a:t>
            </a:r>
            <a:pPr indent="0" marL="0">
              <a:lnSpc>
                <a:spcPct val="115000"/>
              </a:lnSpc>
              <a:buNone/>
            </a:pPr>
            <a:r>
              <a:rPr lang="en-US" sz="1250" dirty="0">
                <a:solidFill>
                  <a:srgbClr val="3A4350"/>
                </a:solidFill>
                <a:latin typeface="Calibri" pitchFamily="34" charset="0"/>
                <a:ea typeface="Calibri" pitchFamily="34" charset="-122"/>
                <a:cs typeface="Calibri" pitchFamily="34" charset="-120"/>
              </a:rPr>
              <a:t>A CPU profiler counts real mm / addmm / bmm shapes on real tokens. Sliced and dense-masked outputs match exactly, so the saving costs nothing in accuracy.</a:t>
            </a:r>
            <a:endParaRPr lang="en-US" sz="1250" dirty="0"/>
          </a:p>
          <a:p>
            <a:pPr indent="0" marL="0">
              <a:lnSpc>
                <a:spcPct val="115000"/>
              </a:lnSpc>
              <a:buNone/>
            </a:pPr>
            <a:r>
              <a:rPr lang="en-US" sz="700" dirty="0">
                <a:solidFill>
                  <a:srgbClr val="000000"/>
                </a:solidFill>
                <a:latin typeface="Calibri" pitchFamily="34" charset="0"/>
                <a:ea typeface="Calibri" pitchFamily="34" charset="-122"/>
                <a:cs typeface="Calibri" pitchFamily="34" charset="-120"/>
              </a:rPr>
              <a:t xml:space="preserve"> </a:t>
            </a:r>
            <a:endParaRPr lang="en-US" sz="1250" dirty="0"/>
          </a:p>
          <a:p>
            <a:pPr indent="0" marL="0">
              <a:lnSpc>
                <a:spcPct val="115000"/>
              </a:lnSpc>
              <a:buNone/>
            </a:pPr>
            <a:r>
              <a:rPr lang="en-US" sz="1250" b="1" dirty="0">
                <a:solidFill>
                  <a:srgbClr val="1F2933"/>
                </a:solidFill>
                <a:latin typeface="Calibri" pitchFamily="34" charset="0"/>
                <a:ea typeface="Calibri" pitchFamily="34" charset="-122"/>
                <a:cs typeface="Calibri" pitchFamily="34" charset="-120"/>
              </a:rPr>
              <a:t xml:space="preserve">What it is not:  </a:t>
            </a:r>
            <a:pPr indent="0" marL="0">
              <a:lnSpc>
                <a:spcPct val="115000"/>
              </a:lnSpc>
              <a:buNone/>
            </a:pPr>
            <a:r>
              <a:rPr lang="en-US" sz="1250" dirty="0">
                <a:solidFill>
                  <a:srgbClr val="3A4350"/>
                </a:solidFill>
                <a:latin typeface="Calibri" pitchFamily="34" charset="0"/>
                <a:ea typeface="Calibri" pitchFamily="34" charset="-122"/>
                <a:cs typeface="Calibri" pitchFamily="34" charset="-120"/>
              </a:rPr>
              <a:t>the FFNs, the dense AdamW state and the routing prefix are all still full cost. This is a forward-attention saving, not a total training speedup.</a:t>
            </a:r>
            <a:endParaRPr lang="en-US" sz="1250" dirty="0"/>
          </a:p>
        </p:txBody>
      </p:sp>
      <p:sp>
        <p:nvSpPr>
          <p:cNvPr id="8" name="Text 6"/>
          <p:cNvSpPr txBox="1"/>
          <p:nvPr/>
        </p:nvSpPr>
        <p:spPr>
          <a:xfrm>
            <a:off x="6720840" y="2340864"/>
            <a:ext cx="1536192" cy="548640"/>
          </a:xfrm>
          <a:prstGeom prst="rect">
            <a:avLst/>
          </a:prstGeom>
          <a:noFill/>
          <a:ln/>
        </p:spPr>
        <p:txBody>
          <a:bodyPr wrap="square" lIns="0" tIns="0" rIns="0" bIns="0" rtlCol="0" anchor="ctr"/>
          <a:lstStyle/>
          <a:p>
            <a:pPr algn="r" indent="0" marL="0">
              <a:buNone/>
            </a:pPr>
            <a:r>
              <a:rPr lang="en-US" sz="3400" b="1" dirty="0">
                <a:solidFill>
                  <a:srgbClr val="6B7480"/>
                </a:solidFill>
                <a:latin typeface="Cambria" pitchFamily="34" charset="0"/>
                <a:ea typeface="Cambria" pitchFamily="34" charset="-122"/>
                <a:cs typeface="Cambria" pitchFamily="34" charset="-120"/>
              </a:rPr>
              <a:t>22.35</a:t>
            </a:r>
            <a:endParaRPr lang="en-US" sz="3400" dirty="0"/>
          </a:p>
        </p:txBody>
      </p:sp>
      <p:sp>
        <p:nvSpPr>
          <p:cNvPr id="9" name="Text 7"/>
          <p:cNvSpPr txBox="1"/>
          <p:nvPr/>
        </p:nvSpPr>
        <p:spPr>
          <a:xfrm>
            <a:off x="8366760" y="2505456"/>
            <a:ext cx="3255264" cy="365760"/>
          </a:xfrm>
          <a:prstGeom prst="rect">
            <a:avLst/>
          </a:prstGeom>
          <a:noFill/>
          <a:ln/>
        </p:spPr>
        <p:txBody>
          <a:bodyPr wrap="square" lIns="0" tIns="0" rIns="0" bIns="0" rtlCol="0" anchor="ctr"/>
          <a:lstStyle/>
          <a:p>
            <a:pPr indent="0" marL="0">
              <a:buNone/>
            </a:pPr>
            <a:r>
              <a:rPr lang="en-US" sz="1200" dirty="0">
                <a:solidFill>
                  <a:srgbClr val="6B7480"/>
                </a:solidFill>
                <a:latin typeface="Calibri" pitchFamily="34" charset="0"/>
                <a:ea typeface="Calibri" pitchFamily="34" charset="-122"/>
                <a:cs typeface="Calibri" pitchFamily="34" charset="-120"/>
              </a:rPr>
              <a:t>GFLOP · full 12 layers, 12 heads</a:t>
            </a:r>
            <a:endParaRPr lang="en-US" sz="1200" dirty="0"/>
          </a:p>
        </p:txBody>
      </p:sp>
      <p:sp>
        <p:nvSpPr>
          <p:cNvPr id="10" name="Text 8"/>
          <p:cNvSpPr txBox="1"/>
          <p:nvPr/>
        </p:nvSpPr>
        <p:spPr>
          <a:xfrm>
            <a:off x="6720840" y="3182112"/>
            <a:ext cx="1536192" cy="548640"/>
          </a:xfrm>
          <a:prstGeom prst="rect">
            <a:avLst/>
          </a:prstGeom>
          <a:noFill/>
          <a:ln/>
        </p:spPr>
        <p:txBody>
          <a:bodyPr wrap="square" lIns="0" tIns="0" rIns="0" bIns="0" rtlCol="0" anchor="ctr"/>
          <a:lstStyle/>
          <a:p>
            <a:pPr algn="r" indent="0" marL="0">
              <a:buNone/>
            </a:pPr>
            <a:r>
              <a:rPr lang="en-US" sz="3400" b="1" dirty="0">
                <a:solidFill>
                  <a:srgbClr val="6B7480"/>
                </a:solidFill>
                <a:latin typeface="Cambria" pitchFamily="34" charset="0"/>
                <a:ea typeface="Cambria" pitchFamily="34" charset="-122"/>
                <a:cs typeface="Cambria" pitchFamily="34" charset="-120"/>
              </a:rPr>
              <a:t>16.76</a:t>
            </a:r>
            <a:endParaRPr lang="en-US" sz="3400" dirty="0"/>
          </a:p>
        </p:txBody>
      </p:sp>
      <p:sp>
        <p:nvSpPr>
          <p:cNvPr id="11" name="Text 9"/>
          <p:cNvSpPr txBox="1"/>
          <p:nvPr/>
        </p:nvSpPr>
        <p:spPr>
          <a:xfrm>
            <a:off x="8366760" y="3346704"/>
            <a:ext cx="3255264" cy="365760"/>
          </a:xfrm>
          <a:prstGeom prst="rect">
            <a:avLst/>
          </a:prstGeom>
          <a:noFill/>
          <a:ln/>
        </p:spPr>
        <p:txBody>
          <a:bodyPr wrap="square" lIns="0" tIns="0" rIns="0" bIns="0" rtlCol="0" anchor="ctr"/>
          <a:lstStyle/>
          <a:p>
            <a:pPr indent="0" marL="0">
              <a:buNone/>
            </a:pPr>
            <a:r>
              <a:rPr lang="en-US" sz="1200" dirty="0">
                <a:solidFill>
                  <a:srgbClr val="6B7480"/>
                </a:solidFill>
                <a:latin typeface="Calibri" pitchFamily="34" charset="0"/>
                <a:ea typeface="Calibri" pitchFamily="34" charset="-122"/>
                <a:cs typeface="Calibri" pitchFamily="34" charset="-120"/>
              </a:rPr>
              <a:t>GFLOP · 9 layers, heads masked to zero</a:t>
            </a:r>
            <a:endParaRPr lang="en-US" sz="1200" dirty="0"/>
          </a:p>
        </p:txBody>
      </p:sp>
      <p:sp>
        <p:nvSpPr>
          <p:cNvPr id="12" name="Text 10"/>
          <p:cNvSpPr txBox="1"/>
          <p:nvPr/>
        </p:nvSpPr>
        <p:spPr>
          <a:xfrm>
            <a:off x="6720840" y="4023360"/>
            <a:ext cx="1536192" cy="548640"/>
          </a:xfrm>
          <a:prstGeom prst="rect">
            <a:avLst/>
          </a:prstGeom>
          <a:noFill/>
          <a:ln/>
        </p:spPr>
        <p:txBody>
          <a:bodyPr wrap="square" lIns="0" tIns="0" rIns="0" bIns="0" rtlCol="0" anchor="ctr"/>
          <a:lstStyle/>
          <a:p>
            <a:pPr algn="r" indent="0" marL="0">
              <a:buNone/>
            </a:pPr>
            <a:r>
              <a:rPr lang="en-US" sz="3400" b="1" dirty="0">
                <a:solidFill>
                  <a:srgbClr val="9A3B3B"/>
                </a:solidFill>
                <a:latin typeface="Cambria" pitchFamily="34" charset="0"/>
                <a:ea typeface="Cambria" pitchFamily="34" charset="-122"/>
                <a:cs typeface="Cambria" pitchFamily="34" charset="-120"/>
              </a:rPr>
              <a:t>15.45</a:t>
            </a:r>
            <a:endParaRPr lang="en-US" sz="3400" dirty="0"/>
          </a:p>
        </p:txBody>
      </p:sp>
      <p:sp>
        <p:nvSpPr>
          <p:cNvPr id="13" name="Text 11"/>
          <p:cNvSpPr txBox="1"/>
          <p:nvPr/>
        </p:nvSpPr>
        <p:spPr>
          <a:xfrm>
            <a:off x="8366760" y="4187952"/>
            <a:ext cx="3255264" cy="36576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GFLOP · 9 layers, heads physically sliced</a:t>
            </a:r>
            <a:endParaRPr lang="en-US" sz="1200" dirty="0"/>
          </a:p>
        </p:txBody>
      </p:sp>
      <p:sp>
        <p:nvSpPr>
          <p:cNvPr id="14" name="Shape 12"/>
          <p:cNvSpPr/>
          <p:nvPr/>
        </p:nvSpPr>
        <p:spPr>
          <a:xfrm>
            <a:off x="6720840" y="4864608"/>
            <a:ext cx="4901184" cy="1298448"/>
          </a:xfrm>
          <a:prstGeom prst="rect">
            <a:avLst/>
          </a:prstGeom>
          <a:solidFill>
            <a:srgbClr val="EEF1F4"/>
          </a:solidFill>
          <a:ln w="9525">
            <a:solidFill>
              <a:srgbClr val="D5DAE0"/>
            </a:solidFill>
            <a:prstDash val="solid"/>
          </a:ln>
        </p:spPr>
      </p:sp>
      <p:sp>
        <p:nvSpPr>
          <p:cNvPr id="15" name="Text 13"/>
          <p:cNvSpPr txBox="1"/>
          <p:nvPr/>
        </p:nvSpPr>
        <p:spPr>
          <a:xfrm>
            <a:off x="6976872" y="5010912"/>
            <a:ext cx="4389120" cy="237744"/>
          </a:xfrm>
          <a:prstGeom prst="rect">
            <a:avLst/>
          </a:prstGeom>
          <a:noFill/>
          <a:ln/>
        </p:spPr>
        <p:txBody>
          <a:bodyPr wrap="square" lIns="0" tIns="0" rIns="0" bIns="0" rtlCol="0" anchor="ctr"/>
          <a:lstStyle/>
          <a:p>
            <a:pPr indent="0" marL="0">
              <a:buNone/>
            </a:pPr>
            <a:r>
              <a:rPr lang="en-US" sz="1100" b="1" spc="120" kern="0" dirty="0">
                <a:solidFill>
                  <a:srgbClr val="9A3B3B"/>
                </a:solidFill>
                <a:latin typeface="Calibri" pitchFamily="34" charset="0"/>
                <a:ea typeface="Calibri" pitchFamily="34" charset="-122"/>
                <a:cs typeface="Calibri" pitchFamily="34" charset="-120"/>
              </a:rPr>
              <a:t>One real trace, validation record 4</a:t>
            </a:r>
            <a:endParaRPr lang="en-US" sz="1100" dirty="0"/>
          </a:p>
        </p:txBody>
      </p:sp>
      <p:sp>
        <p:nvSpPr>
          <p:cNvPr id="16" name="Text 14"/>
          <p:cNvSpPr txBox="1"/>
          <p:nvPr/>
        </p:nvSpPr>
        <p:spPr>
          <a:xfrm>
            <a:off x="6976872" y="5303520"/>
            <a:ext cx="4389120" cy="731520"/>
          </a:xfrm>
          <a:prstGeom prst="rect">
            <a:avLst/>
          </a:prstGeom>
          <a:noFill/>
          <a:ln/>
        </p:spPr>
        <p:txBody>
          <a:bodyPr wrap="square" lIns="0" tIns="0" rIns="0" bIns="0" rtlCol="0" anchor="ctr"/>
          <a:lstStyle/>
          <a:p>
            <a:pPr indent="0" marL="0">
              <a:lnSpc>
                <a:spcPct val="120000"/>
              </a:lnSpc>
              <a:buNone/>
            </a:pPr>
            <a:r>
              <a:rPr lang="en-US" sz="1100" dirty="0">
                <a:solidFill>
                  <a:srgbClr val="1F2933"/>
                </a:solidFill>
                <a:latin typeface="Courier New" pitchFamily="34" charset="0"/>
                <a:ea typeface="Courier New" pitchFamily="34" charset="-122"/>
                <a:cs typeface="Courier New" pitchFamily="34" charset="-120"/>
              </a:rPr>
              <a:t>layers visited: [0,1,2, 0,1,2, 3,4,5]</a:t>
            </a:r>
            <a:endParaRPr lang="en-US" sz="1100" dirty="0"/>
          </a:p>
          <a:p>
            <a:pPr indent="0" marL="0">
              <a:lnSpc>
                <a:spcPct val="120000"/>
              </a:lnSpc>
              <a:buNone/>
            </a:pPr>
            <a:r>
              <a:rPr lang="en-US" sz="1100" dirty="0">
                <a:solidFill>
                  <a:srgbClr val="3A4350"/>
                </a:solidFill>
                <a:latin typeface="Courier New" pitchFamily="34" charset="0"/>
                <a:ea typeface="Courier New" pitchFamily="34" charset="-122"/>
                <a:cs typeface="Courier New" pitchFamily="34" charset="-120"/>
              </a:rPr>
              <a:t>Q/K/V width: 640, not 768   ·   layers 6–11 never called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29184"/>
            <a:ext cx="11057839" cy="219456"/>
          </a:xfrm>
          <a:prstGeom prst="rect">
            <a:avLst/>
          </a:prstGeom>
          <a:noFill/>
          <a:ln/>
        </p:spPr>
        <p:txBody>
          <a:bodyPr wrap="square" lIns="0" tIns="0" rIns="0" bIns="0" rtlCol="0" anchor="ctr"/>
          <a:lstStyle/>
          <a:p>
            <a:pPr indent="0" marL="0">
              <a:buNone/>
            </a:pPr>
            <a:r>
              <a:rPr lang="en-US" sz="1100" b="1" spc="200" kern="0" dirty="0">
                <a:solidFill>
                  <a:srgbClr val="6B7480"/>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66928" y="566928"/>
            <a:ext cx="11057839" cy="566928"/>
          </a:xfrm>
          <a:prstGeom prst="rect">
            <a:avLst/>
          </a:prstGeom>
          <a:noFill/>
          <a:ln/>
        </p:spPr>
        <p:txBody>
          <a:bodyPr wrap="square" lIns="0" tIns="0" rIns="0" bIns="0" rtlCol="0" anchor="t"/>
          <a:lstStyle/>
          <a:p>
            <a:pPr indent="0" marL="0">
              <a:buNone/>
            </a:pPr>
            <a:r>
              <a:rPr lang="en-US" sz="3200" b="1" dirty="0">
                <a:solidFill>
                  <a:srgbClr val="1F2933"/>
                </a:solidFill>
                <a:latin typeface="Cambria" pitchFamily="34" charset="0"/>
                <a:ea typeface="Cambria" pitchFamily="34" charset="-122"/>
                <a:cs typeface="Cambria" pitchFamily="34" charset="-120"/>
              </a:rPr>
              <a:t>Within 1 percentage point, at 39% of the compute</a:t>
            </a:r>
            <a:endParaRPr lang="en-US" sz="3200" dirty="0"/>
          </a:p>
        </p:txBody>
      </p:sp>
      <p:sp>
        <p:nvSpPr>
          <p:cNvPr id="4" name="Text 2"/>
          <p:cNvSpPr txBox="1"/>
          <p:nvPr/>
        </p:nvSpPr>
        <p:spPr>
          <a:xfrm>
            <a:off x="566928" y="1463040"/>
            <a:ext cx="11057839" cy="603504"/>
          </a:xfrm>
          <a:prstGeom prst="rect">
            <a:avLst/>
          </a:prstGeom>
          <a:noFill/>
          <a:ln/>
        </p:spPr>
        <p:txBody>
          <a:bodyPr wrap="square" lIns="0" tIns="0" rIns="0" bIns="0" rtlCol="0" anchor="ctr"/>
          <a:lstStyle/>
          <a:p>
            <a:pPr indent="0" marL="0">
              <a:lnSpc>
                <a:spcPct val="116000"/>
              </a:lnSpc>
              <a:buNone/>
            </a:pPr>
            <a:r>
              <a:rPr lang="en-US" sz="1250" dirty="0">
                <a:solidFill>
                  <a:srgbClr val="3A4350"/>
                </a:solidFill>
                <a:latin typeface="Calibri" pitchFamily="34" charset="0"/>
                <a:ea typeface="Calibri" pitchFamily="34" charset="-122"/>
                <a:cs typeface="Calibri" pitchFamily="34" charset="-120"/>
              </a:rPr>
              <a:t>Matched protocol: same pinned BERT-base-uncased encoder, same seed, same 114,000 / 6,000 AG News split, 3 epochs, batch 8, lr 2e-5 with linear warmup-decay, Apple M2 Max / MPS. Checkpoints were chosen on validation; the 7,600-record public test set was then evaluated once. Macro F1 throughout.</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194560"/>
          <a:ext cx="11057839" cy="914400"/>
        </p:xfrm>
        <a:graphic>
          <a:graphicData uri="http://schemas.openxmlformats.org/drawingml/2006/table">
            <a:tbl>
              <a:tblPr/>
              <a:tblGrid>
                <a:gridCol w="2743200"/>
                <a:gridCol w="1828800"/>
                <a:gridCol w="1828800"/>
                <a:gridCol w="2194560"/>
                <a:gridCol w="2459736"/>
              </a:tblGrid>
              <a:tr h="347472">
                <a:tc>
                  <a:txBody>
                    <a:bodyPr/>
                    <a:lstStyle/>
                    <a:p>
                      <a:pPr indent="0" marL="0">
                        <a:buNone/>
                      </a:pP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300" b="1" dirty="0">
                          <a:solidFill>
                            <a:srgbClr val="1F2933"/>
                          </a:solidFill>
                          <a:latin typeface="Calibri" pitchFamily="34" charset="0"/>
                          <a:ea typeface="Calibri" pitchFamily="34" charset="-122"/>
                          <a:cs typeface="Calibri" pitchFamily="34" charset="-120"/>
                        </a:rPr>
                        <a:t>Paper, test F1</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300" b="1" dirty="0">
                          <a:solidFill>
                            <a:srgbClr val="1F2933"/>
                          </a:solidFill>
                          <a:latin typeface="Calibri" pitchFamily="34" charset="0"/>
                          <a:ea typeface="Calibri" pitchFamily="34" charset="-122"/>
                          <a:cs typeface="Calibri" pitchFamily="34" charset="-120"/>
                        </a:rPr>
                        <a:t>Ours, test F1</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300" b="1" dirty="0">
                          <a:solidFill>
                            <a:srgbClr val="1F2933"/>
                          </a:solidFill>
                          <a:latin typeface="Calibri" pitchFamily="34" charset="0"/>
                          <a:ea typeface="Calibri" pitchFamily="34" charset="-122"/>
                          <a:cs typeface="Calibri" pitchFamily="34" charset="-120"/>
                        </a:rPr>
                        <a:t>Ours, validation F1</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algn="ctr" indent="0" marL="0">
                        <a:buNone/>
                      </a:pPr>
                      <a:r>
                        <a:rPr lang="en-US" sz="1300" b="1" dirty="0">
                          <a:solidFill>
                            <a:srgbClr val="1F2933"/>
                          </a:solidFill>
                          <a:latin typeface="Calibri" pitchFamily="34" charset="0"/>
                          <a:ea typeface="Calibri" pitchFamily="34" charset="-122"/>
                          <a:cs typeface="Calibri" pitchFamily="34" charset="-120"/>
                        </a:rPr>
                        <a:t>Task FLOPs on test</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402336">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Full 12-layer BERT</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350"/>
                          </a:solidFill>
                          <a:latin typeface="Calibri" pitchFamily="34" charset="0"/>
                          <a:ea typeface="Calibri" pitchFamily="34" charset="-122"/>
                          <a:cs typeface="Calibri" pitchFamily="34" charset="-120"/>
                        </a:rPr>
                        <a:t>.944</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D5A73"/>
                          </a:solidFill>
                          <a:latin typeface="Calibri" pitchFamily="34" charset="0"/>
                          <a:ea typeface="Calibri" pitchFamily="34" charset="-122"/>
                          <a:cs typeface="Calibri" pitchFamily="34" charset="-120"/>
                        </a:rPr>
                        <a:t>.9490</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350"/>
                          </a:solidFill>
                          <a:latin typeface="Calibri" pitchFamily="34" charset="0"/>
                          <a:ea typeface="Calibri" pitchFamily="34" charset="-122"/>
                          <a:cs typeface="Calibri" pitchFamily="34" charset="-120"/>
                        </a:rPr>
                        <a:t>.9480</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35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T-DHT (tree mode)</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350"/>
                          </a:solidFill>
                          <a:latin typeface="Calibri" pitchFamily="34" charset="0"/>
                          <a:ea typeface="Calibri" pitchFamily="34" charset="-122"/>
                          <a:cs typeface="Calibri" pitchFamily="34" charset="-120"/>
                        </a:rPr>
                        <a:t>.945</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D5A73"/>
                          </a:solidFill>
                          <a:latin typeface="Calibri" pitchFamily="34" charset="0"/>
                          <a:ea typeface="Calibri" pitchFamily="34" charset="-122"/>
                          <a:cs typeface="Calibri" pitchFamily="34" charset="-120"/>
                        </a:rPr>
                        <a:t>.9400</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A4350"/>
                          </a:solidFill>
                          <a:latin typeface="Calibri" pitchFamily="34" charset="0"/>
                          <a:ea typeface="Calibri" pitchFamily="34" charset="-122"/>
                          <a:cs typeface="Calibri" pitchFamily="34" charset="-120"/>
                        </a:rPr>
                        <a:t>.9438</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D5A73"/>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3675888"/>
            <a:ext cx="11057839" cy="256032"/>
          </a:xfrm>
          <a:prstGeom prst="rect">
            <a:avLst/>
          </a:prstGeom>
          <a:noFill/>
          <a:ln/>
        </p:spPr>
        <p:txBody>
          <a:bodyPr wrap="square" lIns="0" tIns="0" rIns="0" bIns="0" rtlCol="0" anchor="ctr"/>
          <a:lstStyle/>
          <a:p>
            <a:pPr indent="0" marL="0">
              <a:buNone/>
            </a:pPr>
            <a:r>
              <a:rPr lang="en-US" sz="1100" i="1" dirty="0">
                <a:solidFill>
                  <a:srgbClr val="6B7480"/>
                </a:solidFill>
                <a:latin typeface="Calibri" pitchFamily="34" charset="0"/>
                <a:ea typeface="Calibri" pitchFamily="34" charset="-122"/>
                <a:cs typeface="Calibri" pitchFamily="34" charset="-120"/>
              </a:rPr>
              <a:t>Task FLOPs = forward attention + FFN matmuls on the path each sample actually took, as a fraction of the full model. The paper reports .42× for T-DHT in training and .81× at inference.</a:t>
            </a:r>
            <a:endParaRPr lang="en-US" sz="1100" dirty="0"/>
          </a:p>
        </p:txBody>
      </p:sp>
      <p:sp>
        <p:nvSpPr>
          <p:cNvPr id="7" name="Shape 4"/>
          <p:cNvSpPr/>
          <p:nvPr/>
        </p:nvSpPr>
        <p:spPr>
          <a:xfrm>
            <a:off x="566928" y="4041648"/>
            <a:ext cx="5532120" cy="2139696"/>
          </a:xfrm>
          <a:prstGeom prst="rect">
            <a:avLst/>
          </a:prstGeom>
          <a:solidFill>
            <a:srgbClr val="F8F9FA"/>
          </a:solidFill>
          <a:ln w="9525">
            <a:solidFill>
              <a:srgbClr val="D5DAE0"/>
            </a:solidFill>
            <a:prstDash val="solid"/>
          </a:ln>
        </p:spPr>
      </p:sp>
      <p:sp>
        <p:nvSpPr>
          <p:cNvPr id="8" name="Text 5"/>
          <p:cNvSpPr txBox="1"/>
          <p:nvPr/>
        </p:nvSpPr>
        <p:spPr>
          <a:xfrm>
            <a:off x="822960" y="4187952"/>
            <a:ext cx="5020056" cy="274320"/>
          </a:xfrm>
          <a:prstGeom prst="rect">
            <a:avLst/>
          </a:prstGeom>
          <a:noFill/>
          <a:ln/>
        </p:spPr>
        <p:txBody>
          <a:bodyPr wrap="square" lIns="0" tIns="0" rIns="0" bIns="0" rtlCol="0" anchor="ctr"/>
          <a:lstStyle/>
          <a:p>
            <a:pPr indent="0" marL="0">
              <a:buNone/>
            </a:pPr>
            <a:r>
              <a:rPr lang="en-US" sz="1600" b="1" dirty="0">
                <a:solidFill>
                  <a:srgbClr val="1F2933"/>
                </a:solidFill>
                <a:latin typeface="Cambria" pitchFamily="34" charset="0"/>
                <a:ea typeface="Cambria" pitchFamily="34" charset="-122"/>
                <a:cs typeface="Cambria" pitchFamily="34" charset="-120"/>
              </a:rPr>
              <a:t>What we can say</a:t>
            </a:r>
            <a:endParaRPr lang="en-US" sz="1600" dirty="0"/>
          </a:p>
        </p:txBody>
      </p:sp>
      <p:sp>
        <p:nvSpPr>
          <p:cNvPr id="9" name="Text 6"/>
          <p:cNvSpPr txBox="1"/>
          <p:nvPr/>
        </p:nvSpPr>
        <p:spPr>
          <a:xfrm>
            <a:off x="822960" y="4480560"/>
            <a:ext cx="5020056" cy="1645920"/>
          </a:xfrm>
          <a:prstGeom prst="rect">
            <a:avLst/>
          </a:prstGeom>
          <a:noFill/>
          <a:ln/>
        </p:spPr>
        <p:txBody>
          <a:bodyPr wrap="square" lIns="0" tIns="0" rIns="0" bIns="0" rtlCol="0" anchor="ctr"/>
          <a:lstStyle/>
          <a:p>
            <a:pPr indent="0" marL="0">
              <a:lnSpc>
                <a:spcPct val="110000"/>
              </a:lnSpc>
              <a:buNone/>
            </a:pPr>
            <a:r>
              <a:rPr lang="en-US" sz="1100" b="1" dirty="0">
                <a:solidFill>
                  <a:srgbClr val="3D5A73"/>
                </a:solidFill>
                <a:latin typeface="Calibri" pitchFamily="34" charset="0"/>
                <a:ea typeface="Calibri" pitchFamily="34" charset="-122"/>
                <a:cs typeface="Calibri" pitchFamily="34" charset="-120"/>
              </a:rPr>
              <a:t xml:space="preserve">The baseline reproduces. </a:t>
            </a:r>
            <a:pPr indent="0" marL="0">
              <a:lnSpc>
                <a:spcPct val="110000"/>
              </a:lnSpc>
              <a:buNone/>
            </a:pPr>
            <a:r>
              <a:rPr lang="en-US" sz="1100" dirty="0">
                <a:solidFill>
                  <a:srgbClr val="3A4350"/>
                </a:solidFill>
                <a:latin typeface="Calibri" pitchFamily="34" charset="0"/>
                <a:ea typeface="Calibri" pitchFamily="34" charset="-122"/>
                <a:cs typeface="Calibri" pitchFamily="34" charset="-120"/>
              </a:rPr>
              <a:t>Test F1 .9490 against the paper's .944.</a:t>
            </a:r>
            <a:endParaRPr lang="en-US" sz="1100" dirty="0"/>
          </a:p>
          <a:p>
            <a:pPr indent="0" marL="0">
              <a:lnSpc>
                <a:spcPct val="110000"/>
              </a:lnSpc>
              <a:buNone/>
            </a:pPr>
            <a:r>
              <a:rPr lang="en-US" sz="500" dirty="0">
                <a:solidFill>
                  <a:srgbClr val="000000"/>
                </a:solidFill>
                <a:latin typeface="Calibri" pitchFamily="34" charset="0"/>
                <a:ea typeface="Calibri" pitchFamily="34" charset="-122"/>
                <a:cs typeface="Calibri" pitchFamily="34" charset="-120"/>
              </a:rPr>
              <a:t xml:space="preserve"> </a:t>
            </a:r>
            <a:endParaRPr lang="en-US" sz="1100" dirty="0"/>
          </a:p>
          <a:p>
            <a:pPr indent="0" marL="0">
              <a:lnSpc>
                <a:spcPct val="110000"/>
              </a:lnSpc>
              <a:buNone/>
            </a:pPr>
            <a:r>
              <a:rPr lang="en-US" sz="1100" b="1" dirty="0">
                <a:solidFill>
                  <a:srgbClr val="1F2933"/>
                </a:solidFill>
                <a:latin typeface="Calibri" pitchFamily="34" charset="0"/>
                <a:ea typeface="Calibri" pitchFamily="34" charset="-122"/>
                <a:cs typeface="Calibri" pitchFamily="34" charset="-120"/>
              </a:rPr>
              <a:t xml:space="preserve">T-DHT lands 0.0090 below our baseline (0.90 percentage points) and 0.0050 below the paper's T-DHT. </a:t>
            </a:r>
            <a:pPr indent="0" marL="0">
              <a:lnSpc>
                <a:spcPct val="110000"/>
              </a:lnSpc>
              <a:buNone/>
            </a:pPr>
            <a:r>
              <a:rPr lang="en-US" sz="1100" dirty="0">
                <a:solidFill>
                  <a:srgbClr val="3A4350"/>
                </a:solidFill>
                <a:latin typeface="Calibri" pitchFamily="34" charset="0"/>
                <a:ea typeface="Calibri" pitchFamily="34" charset="-122"/>
                <a:cs typeface="Calibri" pitchFamily="34" charset="-120"/>
              </a:rPr>
              <a:t>Close, but it does not reproduce their slight gain over the full model.</a:t>
            </a:r>
            <a:endParaRPr lang="en-US" sz="1100" dirty="0"/>
          </a:p>
          <a:p>
            <a:pPr indent="0" marL="0">
              <a:lnSpc>
                <a:spcPct val="110000"/>
              </a:lnSpc>
              <a:buNone/>
            </a:pPr>
            <a:r>
              <a:rPr lang="en-US" sz="500" dirty="0">
                <a:solidFill>
                  <a:srgbClr val="000000"/>
                </a:solidFill>
                <a:latin typeface="Calibri" pitchFamily="34" charset="0"/>
                <a:ea typeface="Calibri" pitchFamily="34" charset="-122"/>
                <a:cs typeface="Calibri" pitchFamily="34" charset="-120"/>
              </a:rPr>
              <a:t xml:space="preserve"> </a:t>
            </a:r>
            <a:endParaRPr lang="en-US" sz="1100" dirty="0"/>
          </a:p>
          <a:p>
            <a:pPr indent="0" marL="0">
              <a:lnSpc>
                <a:spcPct val="110000"/>
              </a:lnSpc>
              <a:buNone/>
            </a:pPr>
            <a:r>
              <a:rPr lang="en-US" sz="1100" b="1" dirty="0">
                <a:solidFill>
                  <a:srgbClr val="1F2933"/>
                </a:solidFill>
                <a:latin typeface="Calibri" pitchFamily="34" charset="0"/>
                <a:ea typeface="Calibri" pitchFamily="34" charset="-122"/>
                <a:cs typeface="Calibri" pitchFamily="34" charset="-120"/>
              </a:rPr>
              <a:t xml:space="preserve">Compute matches the paper's training figure: </a:t>
            </a:r>
            <a:pPr indent="0" marL="0">
              <a:lnSpc>
                <a:spcPct val="110000"/>
              </a:lnSpc>
              <a:buNone/>
            </a:pPr>
            <a:r>
              <a:rPr lang="en-US" sz="1100" dirty="0">
                <a:solidFill>
                  <a:srgbClr val="3A4350"/>
                </a:solidFill>
                <a:latin typeface="Calibri" pitchFamily="34" charset="0"/>
                <a:ea typeface="Calibri" pitchFamily="34" charset="-122"/>
                <a:cs typeface="Calibri" pitchFamily="34" charset="-120"/>
              </a:rPr>
              <a:t>our training-path ratio is .40× against their .42×.</a:t>
            </a:r>
            <a:endParaRPr lang="en-US" sz="1100" dirty="0"/>
          </a:p>
          <a:p>
            <a:pPr indent="0" marL="0">
              <a:lnSpc>
                <a:spcPct val="110000"/>
              </a:lnSpc>
              <a:buNone/>
            </a:pPr>
            <a:r>
              <a:rPr lang="en-US" sz="500" dirty="0">
                <a:solidFill>
                  <a:srgbClr val="000000"/>
                </a:solidFill>
                <a:latin typeface="Calibri" pitchFamily="34" charset="0"/>
                <a:ea typeface="Calibri" pitchFamily="34" charset="-122"/>
                <a:cs typeface="Calibri" pitchFamily="34" charset="-120"/>
              </a:rPr>
              <a:t xml:space="preserve"> </a:t>
            </a:r>
            <a:endParaRPr lang="en-US" sz="1100" dirty="0"/>
          </a:p>
          <a:p>
            <a:pPr indent="0" marL="0">
              <a:lnSpc>
                <a:spcPct val="110000"/>
              </a:lnSpc>
              <a:buNone/>
            </a:pPr>
            <a:r>
              <a:rPr lang="en-US" sz="1100" i="1" dirty="0">
                <a:solidFill>
                  <a:srgbClr val="6B7480"/>
                </a:solidFill>
                <a:latin typeface="Calibri" pitchFamily="34" charset="0"/>
                <a:ea typeface="Calibri" pitchFamily="34" charset="-122"/>
                <a:cs typeface="Calibri" pitchFamily="34" charset="-120"/>
              </a:rPr>
              <a:t>Caveats: one seed; FLOP counts cover forward matmuls only.</a:t>
            </a:r>
            <a:endParaRPr lang="en-US" sz="1100" dirty="0"/>
          </a:p>
        </p:txBody>
      </p:sp>
      <p:sp>
        <p:nvSpPr>
          <p:cNvPr id="10" name="Shape 7"/>
          <p:cNvSpPr/>
          <p:nvPr/>
        </p:nvSpPr>
        <p:spPr>
          <a:xfrm>
            <a:off x="6382512" y="4041648"/>
            <a:ext cx="5239512" cy="2139696"/>
          </a:xfrm>
          <a:prstGeom prst="rect">
            <a:avLst/>
          </a:prstGeom>
          <a:solidFill>
            <a:srgbClr val="F8F9FA"/>
          </a:solidFill>
          <a:ln w="9525">
            <a:solidFill>
              <a:srgbClr val="D5DAE0"/>
            </a:solidFill>
            <a:prstDash val="solid"/>
          </a:ln>
        </p:spPr>
      </p:sp>
      <p:sp>
        <p:nvSpPr>
          <p:cNvPr id="11" name="Text 8"/>
          <p:cNvSpPr txBox="1"/>
          <p:nvPr/>
        </p:nvSpPr>
        <p:spPr>
          <a:xfrm>
            <a:off x="6638544" y="4187952"/>
            <a:ext cx="4727448" cy="274320"/>
          </a:xfrm>
          <a:prstGeom prst="rect">
            <a:avLst/>
          </a:prstGeom>
          <a:noFill/>
          <a:ln/>
        </p:spPr>
        <p:txBody>
          <a:bodyPr wrap="square" lIns="0" tIns="0" rIns="0" bIns="0" rtlCol="0" anchor="ctr"/>
          <a:lstStyle/>
          <a:p>
            <a:pPr indent="0" marL="0">
              <a:buNone/>
            </a:pPr>
            <a:r>
              <a:rPr lang="en-US" sz="1600" b="1" dirty="0">
                <a:solidFill>
                  <a:srgbClr val="1F2933"/>
                </a:solidFill>
                <a:latin typeface="Cambria" pitchFamily="34" charset="0"/>
                <a:ea typeface="Cambria" pitchFamily="34" charset="-122"/>
                <a:cs typeface="Cambria" pitchFamily="34" charset="-120"/>
              </a:rPr>
              <a:t>What the policy actually learned</a:t>
            </a:r>
            <a:endParaRPr lang="en-US" sz="1600" dirty="0"/>
          </a:p>
        </p:txBody>
      </p:sp>
      <p:sp>
        <p:nvSpPr>
          <p:cNvPr id="12" name="Text 9"/>
          <p:cNvSpPr txBox="1"/>
          <p:nvPr/>
        </p:nvSpPr>
        <p:spPr>
          <a:xfrm>
            <a:off x="6638544" y="4480560"/>
            <a:ext cx="4727448" cy="1645920"/>
          </a:xfrm>
          <a:prstGeom prst="rect">
            <a:avLst/>
          </a:prstGeom>
          <a:noFill/>
          <a:ln/>
        </p:spPr>
        <p:txBody>
          <a:bodyPr wrap="square" lIns="0" tIns="0" rIns="0" bIns="0" rtlCol="0" anchor="ctr"/>
          <a:lstStyle/>
          <a:p>
            <a:pPr indent="0" marL="0">
              <a:lnSpc>
                <a:spcPct val="110000"/>
              </a:lnSpc>
              <a:buNone/>
            </a:pPr>
            <a:r>
              <a:rPr lang="en-US" sz="1100" b="1" dirty="0">
                <a:solidFill>
                  <a:srgbClr val="1F2933"/>
                </a:solidFill>
                <a:latin typeface="Calibri" pitchFamily="34" charset="0"/>
                <a:ea typeface="Calibri" pitchFamily="34" charset="-122"/>
                <a:cs typeface="Calibri" pitchFamily="34" charset="-120"/>
              </a:rPr>
              <a:t xml:space="preserve">It exits early, aggressively. </a:t>
            </a:r>
            <a:pPr indent="0" marL="0">
              <a:lnSpc>
                <a:spcPct val="110000"/>
              </a:lnSpc>
              <a:buNone/>
            </a:pPr>
            <a:r>
              <a:rPr lang="en-US" sz="1100" dirty="0">
                <a:solidFill>
                  <a:srgbClr val="3A4350"/>
                </a:solidFill>
                <a:latin typeface="Calibri" pitchFamily="34" charset="0"/>
                <a:ea typeface="Calibri" pitchFamily="34" charset="-122"/>
                <a:cs typeface="Calibri" pitchFamily="34" charset="-120"/>
              </a:rPr>
              <a:t>62.6% of test samples stop after 3 layers; mean depth 4.75 of 12. Plausible on an easy dataset like AG News, but far more aggressive than the paper's .81× inference ratio.</a:t>
            </a:r>
            <a:endParaRPr lang="en-US" sz="1100" dirty="0"/>
          </a:p>
          <a:p>
            <a:pPr indent="0" marL="0">
              <a:lnSpc>
                <a:spcPct val="110000"/>
              </a:lnSpc>
              <a:buNone/>
            </a:pPr>
            <a:r>
              <a:rPr lang="en-US" sz="500" dirty="0">
                <a:solidFill>
                  <a:srgbClr val="000000"/>
                </a:solidFill>
                <a:latin typeface="Calibri" pitchFamily="34" charset="0"/>
                <a:ea typeface="Calibri" pitchFamily="34" charset="-122"/>
                <a:cs typeface="Calibri" pitchFamily="34" charset="-120"/>
              </a:rPr>
              <a:t xml:space="preserve"> </a:t>
            </a:r>
            <a:endParaRPr lang="en-US" sz="1100" dirty="0"/>
          </a:p>
          <a:p>
            <a:pPr indent="0" marL="0">
              <a:lnSpc>
                <a:spcPct val="110000"/>
              </a:lnSpc>
              <a:buNone/>
            </a:pPr>
            <a:r>
              <a:rPr lang="en-US" sz="1100" b="1" dirty="0">
                <a:solidFill>
                  <a:srgbClr val="1F2933"/>
                </a:solidFill>
                <a:latin typeface="Calibri" pitchFamily="34" charset="0"/>
                <a:ea typeface="Calibri" pitchFamily="34" charset="-122"/>
                <a:cs typeface="Calibri" pitchFamily="34" charset="-120"/>
              </a:rPr>
              <a:t xml:space="preserve">No collapse. </a:t>
            </a:r>
            <a:pPr indent="0" marL="0">
              <a:lnSpc>
                <a:spcPct val="110000"/>
              </a:lnSpc>
              <a:buNone/>
            </a:pPr>
            <a:r>
              <a:rPr lang="en-US" sz="1100" dirty="0">
                <a:solidFill>
                  <a:srgbClr val="3A4350"/>
                </a:solidFill>
                <a:latin typeface="Calibri" pitchFamily="34" charset="0"/>
                <a:ea typeface="Calibri" pitchFamily="34" charset="-122"/>
                <a:cs typeface="Calibri" pitchFamily="34" charset="-120"/>
              </a:rPr>
              <a:t>All four depths and all three head counts are used; UCB_H picks 10 heads most often.</a:t>
            </a:r>
            <a:endParaRPr lang="en-US" sz="1100" dirty="0"/>
          </a:p>
          <a:p>
            <a:pPr indent="0" marL="0">
              <a:lnSpc>
                <a:spcPct val="110000"/>
              </a:lnSpc>
              <a:buNone/>
            </a:pPr>
            <a:r>
              <a:rPr lang="en-US" sz="500" dirty="0">
                <a:solidFill>
                  <a:srgbClr val="000000"/>
                </a:solidFill>
                <a:latin typeface="Calibri" pitchFamily="34" charset="0"/>
                <a:ea typeface="Calibri" pitchFamily="34" charset="-122"/>
                <a:cs typeface="Calibri" pitchFamily="34" charset="-120"/>
              </a:rPr>
              <a:t xml:space="preserve"> </a:t>
            </a:r>
            <a:endParaRPr lang="en-US" sz="1100" dirty="0"/>
          </a:p>
          <a:p>
            <a:pPr indent="0" marL="0">
              <a:lnSpc>
                <a:spcPct val="110000"/>
              </a:lnSpc>
              <a:buNone/>
            </a:pPr>
            <a:r>
              <a:rPr lang="en-US" sz="1100" b="1" dirty="0">
                <a:solidFill>
                  <a:srgbClr val="1F2933"/>
                </a:solidFill>
                <a:latin typeface="Calibri" pitchFamily="34" charset="0"/>
                <a:ea typeface="Calibri" pitchFamily="34" charset="-122"/>
                <a:cs typeface="Calibri" pitchFamily="34" charset="-120"/>
              </a:rPr>
              <a:t xml:space="preserve">Fewer FLOPs, slower clock. </a:t>
            </a:r>
            <a:pPr indent="0" marL="0">
              <a:lnSpc>
                <a:spcPct val="110000"/>
              </a:lnSpc>
              <a:buNone/>
            </a:pPr>
            <a:r>
              <a:rPr lang="en-US" sz="1100" dirty="0">
                <a:solidFill>
                  <a:srgbClr val="3A4350"/>
                </a:solidFill>
                <a:latin typeface="Calibri" pitchFamily="34" charset="0"/>
                <a:ea typeface="Calibri" pitchFamily="34" charset="-122"/>
                <a:cs typeface="Calibri" pitchFamily="34" charset="-120"/>
              </a:rPr>
              <a:t>Matched benchmark: 174 samples/s fixed vs 68 for T-DHT, 2.55× slower, because samples run one at a time plus an extra routing pass. Training took 1.6× longer.</a:t>
            </a:r>
            <a:endParaRPr lang="en-US" sz="1100" dirty="0"/>
          </a:p>
        </p:txBody>
      </p:sp>
      <p:sp>
        <p:nvSpPr>
          <p:cNvPr id="13" name="Text 10"/>
          <p:cNvSpPr txBox="1"/>
          <p:nvPr/>
        </p:nvSpPr>
        <p:spPr>
          <a:xfrm>
            <a:off x="566928" y="6419088"/>
            <a:ext cx="11057839" cy="219456"/>
          </a:xfrm>
          <a:prstGeom prst="rect">
            <a:avLst/>
          </a:prstGeom>
          <a:noFill/>
          <a:ln/>
        </p:spPr>
        <p:txBody>
          <a:bodyPr wrap="square" lIns="0" tIns="0" rIns="0" bIns="0" rtlCol="0" anchor="ctr"/>
          <a:lstStyle/>
          <a:p>
            <a:pPr indent="0" marL="0">
              <a:buNone/>
            </a:pPr>
            <a:r>
              <a:rPr lang="en-US" sz="950" i="1" dirty="0">
                <a:solidFill>
                  <a:srgbClr val="6B7480"/>
                </a:solidFill>
                <a:latin typeface="Calibri" pitchFamily="34" charset="0"/>
                <a:ea typeface="Calibri" pitchFamily="34" charset="-122"/>
                <a:cs typeface="Calibri" pitchFamily="34" charset="-120"/>
              </a:rPr>
              <a:t>Paper values: Tables 1–2, printed p. 447. Ours: artifacts/runs/ag-news-*-full-seed7/{final_test,benchmark,summary}.json.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Transformers with Reinforcement Learning</dc:title>
  <dc:subject>PptxGenJS Presentation</dc:subject>
  <dc:creator>Jeremy Wizenfeld</dc:creator>
  <cp:lastModifiedBy>Jeremy Wizenfeld</cp:lastModifiedBy>
  <cp:revision>1</cp:revision>
  <dcterms:created xsi:type="dcterms:W3CDTF">2026-09-09T17:26:54Z</dcterms:created>
  <dcterms:modified xsi:type="dcterms:W3CDTF">2026-09-09T17:26:54Z</dcterms:modified>
</cp:coreProperties>
</file>