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97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the project: a transformer that decides per input how many layers and which attention heads to run. The grid is a real routing decision from my trained model: rows are layers, columns heads, red computed, grey skipped. Today: what I finished since last time, where I want to take it next (tool calling), and where I'd like your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since last time. EDA: I profiled all four datasets from the paper. The notable one: AG News headlines are short, so most of each input is padding, and I built per-sentence walkthroughs comparing full BERT and DHT. Integrated search: the paper's second mode. Both modes land about 0.9 points under full BERT at roughly 40% of the compute. They almost always agree on the answer but often disagree on depth. Thompson sampling: it's contextual top-K Thompson sampling with a Bayesian logistic model per head. The interesting part is that the heads end up barely distinguishable, so head choice is mostly exploration. Speed: before, DHT was slower than full BERT despite fewer FLOPs because every sample ran alone. Batching fixed that: now 1.6x faster in training and 1.12x at inference, same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step: move from classification to generation, specifically tool calling, because it's objectively graded. Each request comes with its own tool list. Easy ones need one obvious call; harder ones need picking the right tools and making several calls; trap cases need no call at all. That spread in difficulty is what gives a router something to learn. BFCL grades by parsing the call and checking function, arguments and values, so the reward is a clean 1 or 0, which is exactly the shape of DHT's bandit feedback. Two signals: cross-entropy on the target call trains the network; the router gets correct minus a compute price. Sweeping lambda gives a curve instead of a single point. Three router trainers to compare, from the paper's bandits up to a GRPO-style policy gradient. The control that matters is a static smaller model at the same compute: if routing can't beat that, it adds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4444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30768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37092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43416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49740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56064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962388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268712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75036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81360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87684" y="141732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18120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24444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0768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37092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43416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49740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56064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62388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268712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575036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881360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187684" y="1723644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18120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24444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30768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37092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043416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349740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656064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962388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268712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575036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881360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187684" y="2029968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818120" y="2336292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24444" y="2336292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430768" y="2336292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737092" y="2336292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043416" y="2336292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349740" y="2336292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656064" y="2336292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962388" y="2336292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268712" y="2336292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575036" y="2336292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881360" y="2336292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1187684" y="2336292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818120" y="2642616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124444" y="2642616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430768" y="2642616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737092" y="2642616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043416" y="2642616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349740" y="2642616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656064" y="2642616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962388" y="2642616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268712" y="2642616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575036" y="2642616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881360" y="2642616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187684" y="2642616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818120" y="294894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124444" y="2948940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430768" y="294894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737092" y="2948940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043416" y="294894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349740" y="294894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656064" y="294894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962388" y="294894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268712" y="2948940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575036" y="2948940"/>
            <a:ext cx="237744" cy="237744"/>
          </a:xfrm>
          <a:prstGeom prst="rect">
            <a:avLst/>
          </a:prstGeom>
          <a:solidFill>
            <a:srgbClr val="A6ADB6"/>
          </a:solidFill>
          <a:ln w="6350">
            <a:solidFill>
              <a:srgbClr val="A6A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881360" y="294894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1187684" y="2948940"/>
            <a:ext cx="237744" cy="237744"/>
          </a:xfrm>
          <a:prstGeom prst="rect">
            <a:avLst/>
          </a:prstGeom>
          <a:solidFill>
            <a:srgbClr val="9A3B3B"/>
          </a:solidFill>
          <a:ln w="635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818120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124444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430768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737092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9043416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9349740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9656064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9962388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268712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575036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0881360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187684" y="325526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818120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124444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430768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737092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9043416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9349740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9656064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962388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268712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0575036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0881360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1187684" y="3561588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818120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124444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430768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737092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9043416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349740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656064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9962388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0268712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0575036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0881360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1187684" y="3867912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7818120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124444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430768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737092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9043416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9349740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9656064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9962388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0268712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0575036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0881360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1187684" y="4174236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7818120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8124444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8430768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8737092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9043416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9349740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9656064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9962388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268712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0575036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10881360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11187684" y="4480560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818120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8124444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8430768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8737092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9043416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9349740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9656064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9962388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10268712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10575036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10881360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1187684" y="4786884"/>
            <a:ext cx="237744" cy="237744"/>
          </a:xfrm>
          <a:prstGeom prst="rect">
            <a:avLst/>
          </a:prstGeom>
          <a:solidFill>
            <a:srgbClr val="E4E7EB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 txBox="1"/>
          <p:nvPr/>
        </p:nvSpPr>
        <p:spPr>
          <a:xfrm>
            <a:off x="6537960" y="1371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</a:t>
            </a:r>
            <a:endParaRPr lang="en-US" sz="900" dirty="0"/>
          </a:p>
        </p:txBody>
      </p:sp>
      <p:sp>
        <p:nvSpPr>
          <p:cNvPr id="147" name="Text 145"/>
          <p:cNvSpPr txBox="1"/>
          <p:nvPr/>
        </p:nvSpPr>
        <p:spPr>
          <a:xfrm>
            <a:off x="6537960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11</a:t>
            </a:r>
            <a:endParaRPr lang="en-US" sz="900" dirty="0"/>
          </a:p>
        </p:txBody>
      </p:sp>
      <p:sp>
        <p:nvSpPr>
          <p:cNvPr id="148" name="Text 146"/>
          <p:cNvSpPr txBox="1"/>
          <p:nvPr/>
        </p:nvSpPr>
        <p:spPr>
          <a:xfrm>
            <a:off x="7818120" y="528523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attention heads · one real routing decision</a:t>
            </a:r>
            <a:endParaRPr lang="en-US" sz="900" dirty="0"/>
          </a:p>
        </p:txBody>
      </p:sp>
      <p:sp>
        <p:nvSpPr>
          <p:cNvPr id="149" name="Text 147"/>
          <p:cNvSpPr txBox="1"/>
          <p:nvPr/>
        </p:nvSpPr>
        <p:spPr>
          <a:xfrm>
            <a:off x="566928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23 PROGRESS UPDATE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566928" y="18745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Transformers with</a:t>
            </a:r>
            <a:endParaRPr lang="en-US" sz="3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3200" dirty="0"/>
          </a:p>
        </p:txBody>
      </p:sp>
      <p:sp>
        <p:nvSpPr>
          <p:cNvPr id="151" name="Text 149"/>
          <p:cNvSpPr txBox="1"/>
          <p:nvPr/>
        </p:nvSpPr>
        <p:spPr>
          <a:xfrm>
            <a:off x="566928" y="3346704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each input choose how much of the network to run: which layers and which attention heads, picked per sample by a bandit / RL policy. Next: carrying the idea from text classification to tool-calling generation.</a:t>
            </a:r>
            <a:endParaRPr lang="en-US" sz="1500" dirty="0"/>
          </a:p>
        </p:txBody>
      </p:sp>
      <p:sp>
        <p:nvSpPr>
          <p:cNvPr id="152" name="Text 150"/>
          <p:cNvSpPr txBox="1"/>
          <p:nvPr/>
        </p:nvSpPr>
        <p:spPr>
          <a:xfrm>
            <a:off x="566928" y="45262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</a:t>
            </a:r>
            <a:r>
              <a:rPr lang="en-US" sz="1100" i="1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 et al. (2024), Sample-Based Dynamic Hierarchical Transformer with Layer and Head Flexibility via Contextual Bandit (DHT).</a:t>
            </a:r>
            <a:endParaRPr lang="en-US" sz="1100" dirty="0"/>
          </a:p>
        </p:txBody>
      </p:sp>
      <p:sp>
        <p:nvSpPr>
          <p:cNvPr id="153" name="Text 151"/>
          <p:cNvSpPr txBox="1"/>
          <p:nvPr/>
        </p:nvSpPr>
        <p:spPr>
          <a:xfrm>
            <a:off x="566928" y="52303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Wizenfeld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LAST 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EDA, integrated search, TS, and a real speedup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440680" cy="2395728"/>
          </a:xfrm>
          <a:prstGeom prst="rect">
            <a:avLst/>
          </a:prstGeom>
          <a:solidFill>
            <a:srgbClr val="F8F9FA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536192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EDA: all four paper datasets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920240"/>
            <a:ext cx="50017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News, DBpedia, Yelp Polarity, Yelp Full: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balance, text length vs the 128 / 300-token limits, vocabulary, and a Naive Bayes difficulty baseline.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News is short: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51 tokens, so ~60% of every 128-token input is padding.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at a time: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example shows the text, the depth and heads DHT picked, and full BERT's vs DHT's prediction.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08776" y="1389888"/>
            <a:ext cx="5440680" cy="2395728"/>
          </a:xfrm>
          <a:prstGeom prst="rect">
            <a:avLst/>
          </a:prstGeom>
          <a:solidFill>
            <a:srgbClr val="F8F9FA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28232" y="1536192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search (F-DHT) implemented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1883664"/>
            <a:ext cx="5001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has two modes: tree (depth → head count → heads, step by step) and integrated (depth + head count chosen as one pair). Both trained on full AG News: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2487168"/>
          <a:ext cx="5001768" cy="9875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macro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vs 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(T-DHT)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.39×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(F-DHT)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.43×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428232" y="349300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agree on 97.7% of predictions but pick the same depth only 51% of the time.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3968496"/>
            <a:ext cx="5440680" cy="2395728"/>
          </a:xfrm>
          <a:prstGeom prst="rect">
            <a:avLst/>
          </a:prstGeom>
          <a:solidFill>
            <a:srgbClr val="F8F9FA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86384" y="411480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Thompson sampling, explained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" y="4498848"/>
            <a:ext cx="50017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contextual, top-K Thompson sampling. Each head has its own Bayesian logistic regression (diagonal Gaussian posterior, Laplace updates; Chapelle &amp; Li 2011).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step: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random weight vector per head, score all 12, keep the top K; after the batch, kept heads share one 0/1 reward.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head scores sit between 0.34 and 0.37, so the random draw, not the model, mostly decides which heads are dropped.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08776" y="3968496"/>
            <a:ext cx="5440680" cy="2395728"/>
          </a:xfrm>
          <a:prstGeom prst="rect">
            <a:avLst/>
          </a:prstGeom>
          <a:solidFill>
            <a:srgbClr val="EEF1F4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428232" y="411480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execution fix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28232" y="4462272"/>
            <a:ext cx="5001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used to run one at a time. Now the whole batch runs together (each sample's heads gathered and batched), with bandit features pooled on the GPU. Decisions verified identical.</a:t>
            </a:r>
            <a:endParaRPr lang="en-US" sz="110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5065776"/>
          <a:ext cx="5001768" cy="74066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T-DHT speed vs full 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(batch 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6428232" y="582472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FLOPs now means less wall-clock time, in both training and inference.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66928" y="641908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runs: AG News, BERT-base, seed 7, one public-test evaluation per selected checkpoint. Speed: Apple M2 Max (MPS). Paper reports F-DHT .943 / T-DHT .945 F1.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FROM CLASSIFICATION </a:t>
            </a:r>
            <a:r>
              <a:rPr lang="en-US" sz="1100" b="1" kern="0" spc="20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TOOL CALLING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each tool-calling request to a smaller network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Qwen2.5-0.5B-Instruct (24 layers)      </a:t>
            </a:r>
            <a:r>
              <a:rPr lang="en-US" sz="11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xlam-function-calling-60k (60k verified calls, ~3,600 APIs)      </a:t>
            </a:r>
            <a:r>
              <a:rPr lang="en-US" sz="11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 </a:t>
            </a:r>
            <a:r>
              <a:rPr lang="en-US" sz="11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BFCL single-turn (simple → parallel-multiple, plus irrelevance)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47088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sees: tools as JSON schemas in the prompt, then the user request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3969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· BFCL simple_0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2359152"/>
            <a:ext cx="5806440" cy="987552"/>
          </a:xfrm>
          <a:prstGeom prst="roundRect">
            <a:avLst>
              <a:gd name="adj" fmla="val 2778"/>
            </a:avLst>
          </a:prstGeom>
          <a:solidFill>
            <a:srgbClr val="F5F6F8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468880"/>
            <a:ext cx="5440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 calculate_triangle_area(base: int, height: int, unit?: str)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 "Find the area of a triangle with a base of 10 units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and height of 5 units."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calculate_triangle_area(base=10, height=5)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456432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· BFCL parallel_multiple_1 (one distractor tool, two calls)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3675888"/>
            <a:ext cx="5806440" cy="1481328"/>
          </a:xfrm>
          <a:prstGeom prst="roundRect">
            <a:avLst>
              <a:gd name="adj" fmla="val 1852"/>
            </a:avLst>
          </a:prstGeom>
          <a:solidFill>
            <a:srgbClr val="F5F6F8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3785616"/>
            <a:ext cx="5440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 volume_cylinder.calculate(radius, height)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area_rectangle.calculate(length, breadth)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5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area_circle.calculate(radius)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 "Find the area of a rectangle with length 7 and breadth 3.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Also, calculate the area of a circle with radius 5."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area_rectangle.calculate(length=7.0, breadth=3.0)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area_circle.calculate(radius=5.0)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285232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case: </a:t>
            </a:r>
            <a:r>
              <a:rPr lang="en-US" sz="10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"Solve the quadratic a=1, b=2, c=3" with only math.sum available → correct answer is no call.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objectively: </a:t>
            </a:r>
            <a:r>
              <a:rPr lang="en-US" sz="10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is parsed and checked for the right function, required arguments, and types/values (argument order ignored) → 1 or 0.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47688" y="1847088"/>
            <a:ext cx="4977079" cy="1810512"/>
          </a:xfrm>
          <a:prstGeom prst="rect">
            <a:avLst/>
          </a:prstGeom>
          <a:solidFill>
            <a:srgbClr val="F8F9FA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67144" y="1956816"/>
            <a:ext cx="4538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and reward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67144" y="2286000"/>
            <a:ext cx="45381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loss: trains the model and its exit heads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67144" y="2496312"/>
            <a:ext cx="4538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− Σₜ log p( yₜ | prompt, y&lt;ₜ ; architecture a 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2852928"/>
            <a:ext cx="45381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reward: correct call minus a compute price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3063240"/>
            <a:ext cx="4538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 = 𝟙[call correct] − λ · FLOPs(a) / FLOPs(full)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3364992"/>
            <a:ext cx="4538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λ traces a correctness-vs-compute curve.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47688" y="3785616"/>
            <a:ext cx="4977079" cy="2505456"/>
          </a:xfrm>
          <a:prstGeom prst="rect">
            <a:avLst/>
          </a:prstGeom>
          <a:solidFill>
            <a:srgbClr val="EEF1F4"/>
          </a:solidFill>
          <a:ln w="9525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67144" y="3895344"/>
            <a:ext cx="4538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ideas to compare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67144" y="42793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51192" y="4261104"/>
            <a:ext cx="41541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 bandits, ported: </a:t>
            </a:r>
            <a:r>
              <a:rPr lang="en-US" sz="10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LinUCB picks depth, Thompson sampling picks heads, from the first layers' read of the prompt. Baseline.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67144" y="48828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67144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51192" y="4864608"/>
            <a:ext cx="41541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Budgeted bandit: </a:t>
            </a:r>
            <a:r>
              <a:rPr lang="en-US" sz="10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λ online so average compute stays at a target (primal-dual / bandits with knapsacks).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67144" y="54864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867144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251192" y="5468112"/>
            <a:ext cx="41541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GRPO-style router: </a:t>
            </a:r>
            <a:r>
              <a:rPr lang="en-US" sz="10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several architectures per prompt, grade each call, reinforce the ones above the group average.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67144" y="6035040"/>
            <a:ext cx="4538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control: </a:t>
            </a:r>
            <a:r>
              <a:rPr lang="en-US" sz="1050" dirty="0">
                <a:solidFill>
                  <a:srgbClr val="3A4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smaller model at the same average compute.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41908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are real BFCL items (gorilla-llm/Berkeley-Function-Calling-Leaderboard). Training data: Salesforce APIGen / xlam-function-calling-60k.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1357</Words>
  <Application>Microsoft Macintosh PowerPoint</Application>
  <PresentationFormat>Widescreen</PresentationFormat>
  <Paragraphs>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September 23 Progress Update</dc:title>
  <dc:subject>PptxGenJS Presentation</dc:subject>
  <dc:creator>Jeremy Wizenfeld</dc:creator>
  <cp:lastModifiedBy>Jeremy Wizenfeld [student]</cp:lastModifiedBy>
  <cp:revision>3</cp:revision>
  <dcterms:created xsi:type="dcterms:W3CDTF">2026-09-23T17:40:32Z</dcterms:created>
  <dcterms:modified xsi:type="dcterms:W3CDTF">2026-09-23T19:17:13Z</dcterms:modified>
</cp:coreProperties>
</file>